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906cc0ffd4a71" /><Relationship Type="http://schemas.openxmlformats.org/officeDocument/2006/relationships/extended-properties" Target="/docProps/app.xml" Id="R909d84db514c450b" /><Relationship Type="http://schemas.openxmlformats.org/officeDocument/2006/relationships/officeDocument" Target="/ppt/presentation.xml" Id="R17e1e2156a054c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4d058fe57b4962"/>
  </p:sldMasterIdLst>
  <p:notesMasterIdLst>
    <p:notesMasterId xmlns:r="http://schemas.openxmlformats.org/officeDocument/2006/relationships" r:id="R7c6b08d352aa47ba"/>
  </p:notesMasterIdLst>
  <p:sldIdLst>
    <p:sldId xmlns:r="http://schemas.openxmlformats.org/officeDocument/2006/relationships" id="256" r:id="R2fa88f0b6ee14d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e507cc42534b08" /><Relationship Type="http://schemas.openxmlformats.org/officeDocument/2006/relationships/slideMaster" Target="/ppt/slideMasters/slideMaster1.xml" Id="R2d4d058fe57b4962" /><Relationship Type="http://schemas.openxmlformats.org/officeDocument/2006/relationships/notesMaster" Target="/ppt/notesMasters/notesMaster1.xml" Id="R7c6b08d352aa47ba" /><Relationship Type="http://schemas.openxmlformats.org/officeDocument/2006/relationships/presProps" Target="/ppt/presProps.xml" Id="Rc8903a236fd84e42" /><Relationship Type="http://schemas.openxmlformats.org/officeDocument/2006/relationships/tableStyles" Target="/ppt/tableStyles.xml" Id="Rdfca1e080ff74b36" /><Relationship Type="http://schemas.openxmlformats.org/officeDocument/2006/relationships/slide" Target="/ppt/slides/slide1.xml" Id="R2fa88f0b6ee14d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d75560fbc548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c94509e6a490d" /><Relationship Type="http://schemas.openxmlformats.org/officeDocument/2006/relationships/notesMaster" Target="/ppt/notesMasters/notesMaster1.xml" Id="R24c90f01fe6440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本页按用户提供的参考图片重建。页面证据截图来源：docs/showcase/backend_api_docs.png、docs/showcase/07_v2_advanced_explainability_dag.png、docs/showcase/09_v2_evaluation_dashboard_scorecard.png。技术边界依据 README.md、docs/local-deployment.md 与 docs/showcase/README.md：当前已实现 FastAPI/OpenAPI、owner-scoped SQLite、本地可替换 PostgreSQL adapter 与问财 OpenAPI provider；公网认证、生产级 PostgreSQL 部署与长期 SLA 仍需单独验收。除证据截图与背景图外，结构、标题、节点、路由标签与说明均为可编辑的 PowerPoint 原生组件。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771ab0fe844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c8ecd3a2c249fe" /><Relationship Type="http://schemas.openxmlformats.org/officeDocument/2006/relationships/slideLayout" Target="/ppt/slideLayouts/slideLayout1.xml" Id="R606565a3cec34a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6565a3cec34a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daeead7044dcc" /><Relationship Type="http://schemas.openxmlformats.org/officeDocument/2006/relationships/image" Target="/ppt/media/image.png" Id="R6d70000031b64ee0" /><Relationship Type="http://schemas.openxmlformats.org/officeDocument/2006/relationships/image" Target="/ppt/media/image2.png" Id="Rc956872be92f4990" /><Relationship Type="http://schemas.openxmlformats.org/officeDocument/2006/relationships/image" Target="/ppt/media/image3.png" Id="R38cc112fb1ec4739" /><Relationship Type="http://schemas.openxmlformats.org/officeDocument/2006/relationships/image" Target="/ppt/media/image4.png" Id="Rf32e18836e404260" /><Relationship Type="http://schemas.openxmlformats.org/officeDocument/2006/relationships/notesSlide" Target="/ppt/notesSlides/notesSlide1.xml" Id="R1af337f1144949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85A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0000031b64e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rt-label-background">
            <a:extLst xmlns:a="http://schemas.openxmlformats.org/drawingml/2006/main">
              <a:ext uri="{FF2B5EF4-FFF2-40B4-BE49-F238E27FC236}">
                <a16:creationId xmlns:a16="http://schemas.microsoft.com/office/drawing/2014/main" id="{4EFDDE29-DF34-4750-B5A8-32B0B4D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2428875" cy="600075"/>
          </a:xfrm>
          <a:prstGeom xmlns:a="http://schemas.openxmlformats.org/drawingml/2006/main" prst="roundRect">
            <a:avLst>
              <a:gd name="adj" fmla="val 25397"/>
            </a:avLst>
          </a:prstGeom>
          <a:gradFill xmlns:a="http://schemas.openxmlformats.org/drawingml/2006/main">
            <a:gsLst>
              <a:gs pos="0">
                <a:srgbClr val="FFF000"/>
              </a:gs>
              <a:gs pos="100000">
                <a:srgbClr val="FFA800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part-label">
            <a:extLst xmlns:a="http://schemas.openxmlformats.org/drawingml/2006/main">
              <a:ext uri="{FF2B5EF4-FFF2-40B4-BE49-F238E27FC236}">
                <a16:creationId xmlns:a16="http://schemas.microsoft.com/office/drawing/2014/main" id="{73DB4EE5-1FBA-45B9-BE5B-7D30418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2276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8684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DE6458-7358-4FE0-BB5B-4C278321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4800"/>
            <a:ext cx="638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5960"/>
          </a:bodyPr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技术方案｜接口与证据闭环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7B001F-F0DB-41B5-9AFE-A84E01A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048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从用户输入到可追溯回执，后端 API、数据存储与页面结果共用一套契约</a:t>
            </a:r>
          </a:p>
        </p:txBody>
      </p:sp>
      <p:sp>
        <p:nvSpPr>
          <p:cNvPr id="6" name="main-content-surface">
            <a:extLst xmlns:a="http://schemas.openxmlformats.org/drawingml/2006/main">
              <a:ext uri="{FF2B5EF4-FFF2-40B4-BE49-F238E27FC236}">
                <a16:creationId xmlns:a16="http://schemas.microsoft.com/office/drawing/2014/main" id="{2D06EA69-21A3-4B72-9A10-F44EA3E6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143000"/>
            <a:ext cx="11068050" cy="5248275"/>
          </a:xfrm>
          <a:prstGeom xmlns:a="http://schemas.openxmlformats.org/drawingml/2006/main" prst="roundRect">
            <a:avLst>
              <a:gd name="adj" fmla="val 2541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19050">
            <a:solidFill>
              <a:srgbClr val="FFD6B8"/>
            </a:solidFill>
          </a:ln>
        </p:spPr>
      </p:sp>
      <p:sp>
        <p:nvSpPr>
          <p:cNvPr id="7" name="core-message">
            <a:extLst xmlns:a="http://schemas.openxmlformats.org/drawingml/2006/main">
              <a:ext uri="{FF2B5EF4-FFF2-40B4-BE49-F238E27FC236}">
                <a16:creationId xmlns:a16="http://schemas.microsoft.com/office/drawing/2014/main" id="{05150D62-190C-4E08-9B56-8CCEF2ED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239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页面截图证明已实现的本地可验证纵切</a:t>
            </a:r>
          </a:p>
        </p:txBody>
      </p:sp>
      <p:sp>
        <p:nvSpPr>
          <p:cNvPr id="8" name="core-submessage">
            <a:extLst xmlns:a="http://schemas.openxmlformats.org/drawingml/2006/main">
              <a:ext uri="{FF2B5EF4-FFF2-40B4-BE49-F238E27FC236}">
                <a16:creationId xmlns:a16="http://schemas.microsoft.com/office/drawing/2014/main" id="{C79B3F49-4C2E-4380-B911-2A2169F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19250"/>
            <a:ext cx="592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OpenAPI 路由、owner 隔离存储、确定性计算与解释页面相互对齐</a:t>
            </a:r>
          </a:p>
        </p:txBody>
      </p:sp>
      <p:sp>
        <p:nvSpPr>
          <p:cNvPr id="9" name="PRISM 上层控制-panel">
            <a:extLst xmlns:a="http://schemas.openxmlformats.org/drawingml/2006/main">
              <a:ext uri="{FF2B5EF4-FFF2-40B4-BE49-F238E27FC236}">
                <a16:creationId xmlns:a16="http://schemas.microsoft.com/office/drawing/2014/main" id="{38F68796-6C79-45A9-BD37-5E062FD5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52625"/>
            <a:ext cx="7667625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AA1E23"/>
            </a:solidFill>
          </a:ln>
        </p:spPr>
      </p:sp>
      <p:sp>
        <p:nvSpPr>
          <p:cNvPr id="10" name="PRISM 上层控制-title">
            <a:extLst xmlns:a="http://schemas.openxmlformats.org/drawingml/2006/main">
              <a:ext uri="{FF2B5EF4-FFF2-40B4-BE49-F238E27FC236}">
                <a16:creationId xmlns:a16="http://schemas.microsoft.com/office/drawing/2014/main" id="{D4F52BDD-0575-4A3D-B511-EB003FD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66925"/>
            <a:ext cx="7400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PRISM 上层控制</a:t>
            </a:r>
          </a:p>
        </p:txBody>
      </p:sp>
      <p:sp>
        <p:nvSpPr>
          <p:cNvPr id="11" name="architecture-status">
            <a:extLst xmlns:a="http://schemas.openxmlformats.org/drawingml/2006/main">
              <a:ext uri="{FF2B5EF4-FFF2-40B4-BE49-F238E27FC236}">
                <a16:creationId xmlns:a16="http://schemas.microsoft.com/office/drawing/2014/main" id="{978C64CC-54EB-45EE-8545-F3E8096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957"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D681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i="0">
                <a:solidFill>
                  <a:srgbClr val="D68117"/>
                </a:solidFill>
                <a:latin typeface="Microsoft YaHei"/>
                <a:ea typeface="Microsoft YaHei"/>
                <a:cs typeface="Microsoft YaHei"/>
              </a:rPr>
              <a:t>当前实现 · 统一契约贯穿接口、计算与回执</a:t>
            </a:r>
          </a:p>
        </p:txBody>
      </p:sp>
      <p:sp>
        <p:nvSpPr>
          <p:cNvPr id="12" name="flow-0-surface">
            <a:extLst xmlns:a="http://schemas.openxmlformats.org/drawingml/2006/main">
              <a:ext uri="{FF2B5EF4-FFF2-40B4-BE49-F238E27FC236}">
                <a16:creationId xmlns:a16="http://schemas.microsoft.com/office/drawing/2014/main" id="{4CD59883-AA16-456A-B25C-3CB5861E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0668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1E23"/>
            </a:solidFill>
          </a:ln>
        </p:spPr>
      </p:sp>
      <p:sp>
        <p:nvSpPr>
          <p:cNvPr id="13" name="flow-0-title">
            <a:extLst xmlns:a="http://schemas.openxmlformats.org/drawingml/2006/main">
              <a:ext uri="{FF2B5EF4-FFF2-40B4-BE49-F238E27FC236}">
                <a16:creationId xmlns:a16="http://schemas.microsoft.com/office/drawing/2014/main" id="{3811C3C9-A366-4240-BDEF-CA893BE2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52725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意图解析</a:t>
            </a:r>
          </a:p>
        </p:txBody>
      </p:sp>
      <p:sp>
        <p:nvSpPr>
          <p:cNvPr id="14" name="flow-0-subtitle">
            <a:extLst xmlns:a="http://schemas.openxmlformats.org/drawingml/2006/main">
              <a:ext uri="{FF2B5EF4-FFF2-40B4-BE49-F238E27FC236}">
                <a16:creationId xmlns:a16="http://schemas.microsoft.com/office/drawing/2014/main" id="{684DFC18-BB26-4045-B322-078C55F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19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识别用户任务</a:t>
            </a:r>
          </a:p>
        </p:txBody>
      </p:sp>
      <p:sp>
        <p:nvSpPr>
          <p:cNvPr id="15" name="flow-0-arrow">
            <a:extLst xmlns:a="http://schemas.openxmlformats.org/drawingml/2006/main">
              <a:ext uri="{FF2B5EF4-FFF2-40B4-BE49-F238E27FC236}">
                <a16:creationId xmlns:a16="http://schemas.microsoft.com/office/drawing/2014/main" id="{C288D362-B4D7-4F3E-9908-5BCBCF44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19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33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flow-1-surface">
            <a:extLst xmlns:a="http://schemas.openxmlformats.org/drawingml/2006/main">
              <a:ext uri="{FF2B5EF4-FFF2-40B4-BE49-F238E27FC236}">
                <a16:creationId xmlns:a16="http://schemas.microsoft.com/office/drawing/2014/main" id="{021BC17B-99A9-4B12-B3C4-F97FA9C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647950"/>
            <a:ext cx="10668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1E23"/>
            </a:solidFill>
          </a:ln>
        </p:spPr>
      </p:sp>
      <p:sp>
        <p:nvSpPr>
          <p:cNvPr id="17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C0EE8395-9F4A-47D4-AE76-7496DCBE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52725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证据检索</a:t>
            </a:r>
          </a:p>
        </p:txBody>
      </p:sp>
      <p:sp>
        <p:nvSpPr>
          <p:cNvPr id="18" name="flow-1-subtitle">
            <a:extLst xmlns:a="http://schemas.openxmlformats.org/drawingml/2006/main">
              <a:ext uri="{FF2B5EF4-FFF2-40B4-BE49-F238E27FC236}">
                <a16:creationId xmlns:a16="http://schemas.microsoft.com/office/drawing/2014/main" id="{A049BD80-97F0-46BF-AFB5-7B10E9F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19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绑定来源与时效</a:t>
            </a:r>
          </a:p>
        </p:txBody>
      </p:sp>
      <p:sp>
        <p:nvSpPr>
          <p:cNvPr id="19" name="flow-1-arrow">
            <a:extLst xmlns:a="http://schemas.openxmlformats.org/drawingml/2006/main">
              <a:ext uri="{FF2B5EF4-FFF2-40B4-BE49-F238E27FC236}">
                <a16:creationId xmlns:a16="http://schemas.microsoft.com/office/drawing/2014/main" id="{86E025BA-6BF8-454F-A9E0-1E5D7E69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19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33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flow-2-surface">
            <a:extLst xmlns:a="http://schemas.openxmlformats.org/drawingml/2006/main">
              <a:ext uri="{FF2B5EF4-FFF2-40B4-BE49-F238E27FC236}">
                <a16:creationId xmlns:a16="http://schemas.microsoft.com/office/drawing/2014/main" id="{FC898558-3369-4118-B42B-A60103F5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0668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1E23"/>
            </a:solidFill>
          </a:ln>
        </p:spPr>
      </p:sp>
      <p:sp>
        <p:nvSpPr>
          <p:cNvPr id="21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9846F932-63F1-4AAE-B41F-98E6F902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52725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确定性计算</a:t>
            </a:r>
          </a:p>
        </p:txBody>
      </p:sp>
      <p:sp>
        <p:nvSpPr>
          <p:cNvPr id="22" name="flow-2-subtitle">
            <a:extLst xmlns:a="http://schemas.openxmlformats.org/drawingml/2006/main">
              <a:ext uri="{FF2B5EF4-FFF2-40B4-BE49-F238E27FC236}">
                <a16:creationId xmlns:a16="http://schemas.microsoft.com/office/drawing/2014/main" id="{FB9FED56-63BE-4531-A577-06BCCB54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19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金额、比例、HHI</a:t>
            </a:r>
          </a:p>
        </p:txBody>
      </p:sp>
      <p:sp>
        <p:nvSpPr>
          <p:cNvPr id="23" name="flow-2-arrow">
            <a:extLst xmlns:a="http://schemas.openxmlformats.org/drawingml/2006/main">
              <a:ext uri="{FF2B5EF4-FFF2-40B4-BE49-F238E27FC236}">
                <a16:creationId xmlns:a16="http://schemas.microsoft.com/office/drawing/2014/main" id="{F4DD1131-E4D4-41A1-A6C0-9915D9C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19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33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flow-3-surface">
            <a:extLst xmlns:a="http://schemas.openxmlformats.org/drawingml/2006/main">
              <a:ext uri="{FF2B5EF4-FFF2-40B4-BE49-F238E27FC236}">
                <a16:creationId xmlns:a16="http://schemas.microsoft.com/office/drawing/2014/main" id="{4CE4AD84-A553-452D-BC42-DDBFFD95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47950"/>
            <a:ext cx="10668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0A4"/>
          </a:solidFill>
          <a:ln xmlns:a="http://schemas.openxmlformats.org/drawingml/2006/main" w="16193">
            <a:solidFill>
              <a:srgbClr val="D68117"/>
            </a:solidFill>
          </a:ln>
        </p:spPr>
      </p:sp>
      <p:sp>
        <p:nvSpPr>
          <p:cNvPr id="25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F1F19F88-53D6-44B5-9539-8A782BE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52725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双闸门校验</a:t>
            </a:r>
          </a:p>
        </p:txBody>
      </p:sp>
      <p:sp>
        <p:nvSpPr>
          <p:cNvPr id="26" name="flow-3-subtitle">
            <a:extLst xmlns:a="http://schemas.openxmlformats.org/drawingml/2006/main">
              <a:ext uri="{FF2B5EF4-FFF2-40B4-BE49-F238E27FC236}">
                <a16:creationId xmlns:a16="http://schemas.microsoft.com/office/drawing/2014/main" id="{D5691979-ACC1-4EDC-B1C0-D6DF785F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19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风险 ∧ 合规</a:t>
            </a:r>
          </a:p>
        </p:txBody>
      </p:sp>
      <p:sp>
        <p:nvSpPr>
          <p:cNvPr id="27" name="flow-3-arrow">
            <a:extLst xmlns:a="http://schemas.openxmlformats.org/drawingml/2006/main">
              <a:ext uri="{FF2B5EF4-FFF2-40B4-BE49-F238E27FC236}">
                <a16:creationId xmlns:a16="http://schemas.microsoft.com/office/drawing/2014/main" id="{37976B38-90F1-4417-A808-3D71D586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19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33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flow-4-surface">
            <a:extLst xmlns:a="http://schemas.openxmlformats.org/drawingml/2006/main">
              <a:ext uri="{FF2B5EF4-FFF2-40B4-BE49-F238E27FC236}">
                <a16:creationId xmlns:a16="http://schemas.microsoft.com/office/drawing/2014/main" id="{B3C7F30B-4E64-4CA8-8EA9-027B655C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10668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AA1E23"/>
            </a:solidFill>
          </a:ln>
        </p:spPr>
      </p:sp>
      <p:sp>
        <p:nvSpPr>
          <p:cNvPr id="29" name="flow-4-title">
            <a:extLst xmlns:a="http://schemas.openxmlformats.org/drawingml/2006/main">
              <a:ext uri="{FF2B5EF4-FFF2-40B4-BE49-F238E27FC236}">
                <a16:creationId xmlns:a16="http://schemas.microsoft.com/office/drawing/2014/main" id="{BFCBB91E-2E48-4E43-B424-203746D7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52725"/>
            <a:ext cx="971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33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Decision</a:t>
            </a:r>
          </a:p>
          <a:p xmlns:a="http://schemas.openxmlformats.org/drawingml/2006/main">
            <a:pPr algn="ctr">
              <a:defRPr sz="938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Receipt</a:t>
            </a:r>
          </a:p>
        </p:txBody>
      </p:sp>
      <p:sp>
        <p:nvSpPr>
          <p:cNvPr id="30" name="flow-4-subtitle">
            <a:extLst xmlns:a="http://schemas.openxmlformats.org/drawingml/2006/main">
              <a:ext uri="{FF2B5EF4-FFF2-40B4-BE49-F238E27FC236}">
                <a16:creationId xmlns:a16="http://schemas.microsoft.com/office/drawing/2014/main" id="{A873C5EF-F8FD-4371-9E27-F40858B8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194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9315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可追溯回执</a:t>
            </a:r>
          </a:p>
        </p:txBody>
      </p:sp>
      <p:sp>
        <p:nvSpPr>
          <p:cNvPr id="31" name="route-query">
            <a:extLst xmlns:a="http://schemas.openxmlformats.org/drawingml/2006/main">
              <a:ext uri="{FF2B5EF4-FFF2-40B4-BE49-F238E27FC236}">
                <a16:creationId xmlns:a16="http://schemas.microsoft.com/office/drawing/2014/main" id="{510E574D-D03B-45C9-9E00-871F7289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6764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A1E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8905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/api/v1/advisor/queries</a:t>
            </a:r>
          </a:p>
        </p:txBody>
      </p:sp>
      <p:sp>
        <p:nvSpPr>
          <p:cNvPr id="32" name="route-context">
            <a:extLst xmlns:a="http://schemas.openxmlformats.org/drawingml/2006/main">
              <a:ext uri="{FF2B5EF4-FFF2-40B4-BE49-F238E27FC236}">
                <a16:creationId xmlns:a16="http://schemas.microsoft.com/office/drawing/2014/main" id="{ECD08506-820C-41BE-8315-D5C90D3E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17526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A1E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8905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/api/v1/advisor/context/*</a:t>
            </a:r>
          </a:p>
        </p:txBody>
      </p:sp>
      <p:sp>
        <p:nvSpPr>
          <p:cNvPr id="33" name="route-events">
            <a:extLst xmlns:a="http://schemas.openxmlformats.org/drawingml/2006/main">
              <a:ext uri="{FF2B5EF4-FFF2-40B4-BE49-F238E27FC236}">
                <a16:creationId xmlns:a16="http://schemas.microsoft.com/office/drawing/2014/main" id="{F4B0E434-FEC4-4546-B6B8-F023708E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17145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AA1E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8905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/api/v1/decision-events</a:t>
            </a:r>
          </a:p>
        </p:txBody>
      </p:sp>
      <p:sp>
        <p:nvSpPr>
          <p:cNvPr id="34" name="route-openapi">
            <a:extLst xmlns:a="http://schemas.openxmlformats.org/drawingml/2006/main">
              <a:ext uri="{FF2B5EF4-FFF2-40B4-BE49-F238E27FC236}">
                <a16:creationId xmlns:a16="http://schemas.microsoft.com/office/drawing/2014/main" id="{83D61901-5D17-4EFD-8E96-9BB12397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1571625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BE"/>
          </a:solidFill>
          <a:ln xmlns:a="http://schemas.openxmlformats.org/drawingml/2006/main" w="9525">
            <a:solidFill>
              <a:srgbClr val="D68117"/>
            </a:solidFill>
          </a:ln>
        </p:spPr>
        <p:txBody>
          <a:bodyPr xmlns:a="http://schemas.openxmlformats.org/drawingml/2006/main" wrap="square" lIns="47625" tIns="38100" rIns="47625" bIns="38100" anchor="ctr">
            <a:normAutofit fontScale="98905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OpenAPI 统一入口</a:t>
            </a:r>
          </a:p>
        </p:txBody>
      </p:sp>
      <p:sp>
        <p:nvSpPr>
          <p:cNvPr id="35" name="数据与 Provider 适配层-panel">
            <a:extLst xmlns:a="http://schemas.openxmlformats.org/drawingml/2006/main">
              <a:ext uri="{FF2B5EF4-FFF2-40B4-BE49-F238E27FC236}">
                <a16:creationId xmlns:a16="http://schemas.microsoft.com/office/drawing/2014/main" id="{200A798F-5962-41C8-A1BA-759CA026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4800"/>
            <a:ext cx="76676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9050">
            <a:solidFill>
              <a:srgbClr val="D68117"/>
            </a:solidFill>
          </a:ln>
        </p:spPr>
      </p:sp>
      <p:sp>
        <p:nvSpPr>
          <p:cNvPr id="36" name="数据与 Provider 适配层-title">
            <a:extLst xmlns:a="http://schemas.openxmlformats.org/drawingml/2006/main">
              <a:ext uri="{FF2B5EF4-FFF2-40B4-BE49-F238E27FC236}">
                <a16:creationId xmlns:a16="http://schemas.microsoft.com/office/drawing/2014/main" id="{2214FC79-61F8-4FDC-8F5F-928116DA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229100"/>
            <a:ext cx="7400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数据与 Provider 适配层</a:t>
            </a:r>
          </a:p>
        </p:txBody>
      </p:sp>
      <p:sp>
        <p:nvSpPr>
          <p:cNvPr id="37" name="adapter-0-surface">
            <a:extLst xmlns:a="http://schemas.openxmlformats.org/drawingml/2006/main">
              <a:ext uri="{FF2B5EF4-FFF2-40B4-BE49-F238E27FC236}">
                <a16:creationId xmlns:a16="http://schemas.microsoft.com/office/drawing/2014/main" id="{4532E4B8-66A2-4B42-B651-F10A8F61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676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8117"/>
            </a:solidFill>
          </a:ln>
        </p:spPr>
      </p:sp>
      <p:sp>
        <p:nvSpPr>
          <p:cNvPr id="38" name="adapter-0-title">
            <a:extLst xmlns:a="http://schemas.openxmlformats.org/drawingml/2006/main">
              <a:ext uri="{FF2B5EF4-FFF2-40B4-BE49-F238E27FC236}">
                <a16:creationId xmlns:a16="http://schemas.microsoft.com/office/drawing/2014/main" id="{0ADFE98A-FCAF-4FE1-86E5-707ED070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434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547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FastAPI + Pydantic</a:t>
            </a:r>
          </a:p>
        </p:txBody>
      </p:sp>
      <p:sp>
        <p:nvSpPr>
          <p:cNvPr id="39" name="adapter-0-subtitle">
            <a:extLst xmlns:a="http://schemas.openxmlformats.org/drawingml/2006/main">
              <a:ext uri="{FF2B5EF4-FFF2-40B4-BE49-F238E27FC236}">
                <a16:creationId xmlns:a16="http://schemas.microsoft.com/office/drawing/2014/main" id="{31F9663E-2792-4926-9A93-83737F5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339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3452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请求响应契约</a:t>
            </a:r>
          </a:p>
        </p:txBody>
      </p:sp>
      <p:sp>
        <p:nvSpPr>
          <p:cNvPr id="40" name="adapter-1-surface">
            <a:extLst xmlns:a="http://schemas.openxmlformats.org/drawingml/2006/main">
              <a:ext uri="{FF2B5EF4-FFF2-40B4-BE49-F238E27FC236}">
                <a16:creationId xmlns:a16="http://schemas.microsoft.com/office/drawing/2014/main" id="{6849E86E-E3D4-4580-819C-AEF4508E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495800"/>
            <a:ext cx="1676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8117"/>
            </a:solidFill>
          </a:ln>
        </p:spPr>
      </p:sp>
      <p:sp>
        <p:nvSpPr>
          <p:cNvPr id="41" name="adapter-1-title">
            <a:extLst xmlns:a="http://schemas.openxmlformats.org/drawingml/2006/main">
              <a:ext uri="{FF2B5EF4-FFF2-40B4-BE49-F238E27FC236}">
                <a16:creationId xmlns:a16="http://schemas.microsoft.com/office/drawing/2014/main" id="{AD92FB94-4051-4736-9EB2-2534A9D2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5434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547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SQLite store</a:t>
            </a:r>
          </a:p>
        </p:txBody>
      </p:sp>
      <p:sp>
        <p:nvSpPr>
          <p:cNvPr id="42" name="adapter-1-subtitle">
            <a:extLst xmlns:a="http://schemas.openxmlformats.org/drawingml/2006/main">
              <a:ext uri="{FF2B5EF4-FFF2-40B4-BE49-F238E27FC236}">
                <a16:creationId xmlns:a16="http://schemas.microsoft.com/office/drawing/2014/main" id="{B08AB1D0-ED3E-4D1C-973C-F74D3F8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7339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3452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owner 隔离与 WAL</a:t>
            </a:r>
          </a:p>
        </p:txBody>
      </p:sp>
      <p:sp>
        <p:nvSpPr>
          <p:cNvPr id="43" name="adapter-2-surface">
            <a:extLst xmlns:a="http://schemas.openxmlformats.org/drawingml/2006/main">
              <a:ext uri="{FF2B5EF4-FFF2-40B4-BE49-F238E27FC236}">
                <a16:creationId xmlns:a16="http://schemas.microsoft.com/office/drawing/2014/main" id="{61FFA79B-5767-4EA3-AC1F-B172857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95800"/>
            <a:ext cx="1676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68117"/>
            </a:solidFill>
          </a:ln>
        </p:spPr>
      </p:sp>
      <p:sp>
        <p:nvSpPr>
          <p:cNvPr id="44" name="adapter-2-title">
            <a:extLst xmlns:a="http://schemas.openxmlformats.org/drawingml/2006/main">
              <a:ext uri="{FF2B5EF4-FFF2-40B4-BE49-F238E27FC236}">
                <a16:creationId xmlns:a16="http://schemas.microsoft.com/office/drawing/2014/main" id="{36546C20-AFCA-4A0C-BDFA-99209C20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434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547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可选 PostgreSQL</a:t>
            </a:r>
          </a:p>
        </p:txBody>
      </p:sp>
      <p:sp>
        <p:nvSpPr>
          <p:cNvPr id="45" name="adapter-2-subtitle">
            <a:extLst xmlns:a="http://schemas.openxmlformats.org/drawingml/2006/main">
              <a:ext uri="{FF2B5EF4-FFF2-40B4-BE49-F238E27FC236}">
                <a16:creationId xmlns:a16="http://schemas.microsoft.com/office/drawing/2014/main" id="{F23B1493-AAE4-4EFF-8454-65D1C0FC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339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3452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部署时替换存储</a:t>
            </a:r>
          </a:p>
        </p:txBody>
      </p:sp>
      <p:sp>
        <p:nvSpPr>
          <p:cNvPr id="46" name="adapter-3-surface">
            <a:extLst xmlns:a="http://schemas.openxmlformats.org/drawingml/2006/main">
              <a:ext uri="{FF2B5EF4-FFF2-40B4-BE49-F238E27FC236}">
                <a16:creationId xmlns:a16="http://schemas.microsoft.com/office/drawing/2014/main" id="{79DB62D2-D33A-484C-8087-BD8974B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495800"/>
            <a:ext cx="20097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6F3"/>
          </a:solidFill>
          <a:ln xmlns:a="http://schemas.openxmlformats.org/drawingml/2006/main" w="10478">
            <a:solidFill>
              <a:srgbClr val="197C83"/>
            </a:solidFill>
          </a:ln>
        </p:spPr>
      </p:sp>
      <p:sp>
        <p:nvSpPr>
          <p:cNvPr id="47" name="adapter-3-title">
            <a:extLst xmlns:a="http://schemas.openxmlformats.org/drawingml/2006/main">
              <a:ext uri="{FF2B5EF4-FFF2-40B4-BE49-F238E27FC236}">
                <a16:creationId xmlns:a16="http://schemas.microsoft.com/office/drawing/2014/main" id="{B3268A70-8CF3-4092-85E2-6479575F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543425"/>
            <a:ext cx="1895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7868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rPr>
              <a:t>问财 OpenAPI Provider</a:t>
            </a:r>
          </a:p>
        </p:txBody>
      </p:sp>
      <p:sp>
        <p:nvSpPr>
          <p:cNvPr id="48" name="adapter-3-subtitle">
            <a:extLst xmlns:a="http://schemas.openxmlformats.org/drawingml/2006/main">
              <a:ext uri="{FF2B5EF4-FFF2-40B4-BE49-F238E27FC236}">
                <a16:creationId xmlns:a16="http://schemas.microsoft.com/office/drawing/2014/main" id="{88395D6E-3038-4D1C-8FF7-1382F095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733925"/>
            <a:ext cx="18954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3452"/>
          </a:bodyPr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服务端凭据与降级</a:t>
            </a:r>
          </a:p>
        </p:txBody>
      </p:sp>
      <p:sp>
        <p:nvSpPr>
          <p:cNvPr id="49" name="technology-explanation">
            <a:extLst xmlns:a="http://schemas.openxmlformats.org/drawingml/2006/main">
              <a:ext uri="{FF2B5EF4-FFF2-40B4-BE49-F238E27FC236}">
                <a16:creationId xmlns:a16="http://schemas.microsoft.com/office/drawing/2014/main" id="{06A450E6-5C78-4C5B-8869-A52E0AB7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34000"/>
            <a:ext cx="7667625" cy="7239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E8B58D"/>
            </a:solidFill>
          </a:ln>
        </p:spPr>
      </p:sp>
      <p:sp>
        <p:nvSpPr>
          <p:cNvPr id="50" name="technology-explanation-label">
            <a:extLst xmlns:a="http://schemas.openxmlformats.org/drawingml/2006/main">
              <a:ext uri="{FF2B5EF4-FFF2-40B4-BE49-F238E27FC236}">
                <a16:creationId xmlns:a16="http://schemas.microsoft.com/office/drawing/2014/main" id="{3ACE15CD-52A9-4B63-9509-B2D2FE3D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1912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rPr>
              <a:t>技术作用</a:t>
            </a:r>
          </a:p>
        </p:txBody>
      </p:sp>
      <p:sp>
        <p:nvSpPr>
          <p:cNvPr id="51" name="technology-explanation-body">
            <a:extLst xmlns:a="http://schemas.openxmlformats.org/drawingml/2006/main">
              <a:ext uri="{FF2B5EF4-FFF2-40B4-BE49-F238E27FC236}">
                <a16:creationId xmlns:a16="http://schemas.microsoft.com/office/drawing/2014/main" id="{16749F03-4EC6-4155-9384-D4683ABC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9725"/>
            <a:ext cx="645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接口只传输结构化契约；金融计算由确定性服务执行；页面展示来源、状态与回执。</a:t>
            </a:r>
          </a:p>
        </p:txBody>
      </p:sp>
      <p:sp>
        <p:nvSpPr>
          <p:cNvPr id="52" name="technology-explanation-proof">
            <a:extLst xmlns:a="http://schemas.openxmlformats.org/drawingml/2006/main">
              <a:ext uri="{FF2B5EF4-FFF2-40B4-BE49-F238E27FC236}">
                <a16:creationId xmlns:a16="http://schemas.microsoft.com/office/drawing/2014/main" id="{A3686927-EB6E-4CFA-8A85-2071EEA3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2A211C"/>
                </a:solidFill>
                <a:latin typeface="Microsoft YaHei"/>
                <a:ea typeface="Microsoft YaHei"/>
                <a:cs typeface="Microsoft YaHei"/>
              </a:rPr>
              <a:t>已实现：FastAPI 路由、SQLite owner 隔离、证据解释页与自动化评测页</a:t>
            </a:r>
          </a:p>
        </p:txBody>
      </p:sp>
      <p:sp>
        <p:nvSpPr>
          <p:cNvPr id="53" name="technology-explanation-caveat">
            <a:extLst xmlns:a="http://schemas.openxmlformats.org/drawingml/2006/main">
              <a:ext uri="{FF2B5EF4-FFF2-40B4-BE49-F238E27FC236}">
                <a16:creationId xmlns:a16="http://schemas.microsoft.com/office/drawing/2014/main" id="{4A4AA705-4054-4723-940F-FE241BC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245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86906"/>
          </a:bodyPr>
          <a:lstStyle xmlns:a="http://schemas.openxmlformats.org/drawingml/2006/main"/>
          <a:p xmlns:a="http://schemas.openxmlformats.org/drawingml/2006/main">
            <a:pPr algn="l">
              <a:defRPr sz="863" b="0" i="1">
                <a:solidFill>
                  <a:srgbClr val="D681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 i="1">
                <a:solidFill>
                  <a:srgbClr val="D68117"/>
                </a:solidFill>
                <a:latin typeface="Microsoft YaHei"/>
                <a:ea typeface="Microsoft YaHei"/>
                <a:cs typeface="Microsoft YaHei"/>
              </a:rPr>
              <a:t>当前边界：PostgreSQL、公网认证与生产 SLA 仍需部署方单独验收</a:t>
            </a:r>
          </a:p>
        </p:txBody>
      </p:sp>
      <p:sp>
        <p:nvSpPr>
          <p:cNvPr id="54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E6CBC8D2-83A5-4CA1-9757-0738C6F3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52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AA1E23"/>
                </a:solidFill>
                <a:latin typeface="Microsoft YaHei"/>
                <a:ea typeface="Microsoft YaHei"/>
                <a:cs typeface="Microsoft YaHei"/>
              </a:rPr>
              <a:t>页面证据</a:t>
            </a:r>
          </a:p>
        </p:txBody>
      </p:sp>
      <p:sp>
        <p:nvSpPr>
          <p:cNvPr id="55" name="evidence-subtitle">
            <a:extLst xmlns:a="http://schemas.openxmlformats.org/drawingml/2006/main">
              <a:ext uri="{FF2B5EF4-FFF2-40B4-BE49-F238E27FC236}">
                <a16:creationId xmlns:a16="http://schemas.microsoft.com/office/drawing/2014/main" id="{DF8D3126-F59E-4EA6-8AC7-C123CE55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422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D681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D68117"/>
                </a:solidFill>
                <a:latin typeface="Microsoft YaHei"/>
                <a:ea typeface="Microsoft YaHei"/>
                <a:cs typeface="Microsoft YaHei"/>
              </a:rPr>
              <a:t>真实截图 · 可复核</a:t>
            </a:r>
          </a:p>
        </p:txBody>
      </p:sp>
      <p:sp>
        <p:nvSpPr>
          <p:cNvPr id="56" name="OpenAPI /api/docs-frame">
            <a:extLst xmlns:a="http://schemas.openxmlformats.org/drawingml/2006/main">
              <a:ext uri="{FF2B5EF4-FFF2-40B4-BE49-F238E27FC236}">
                <a16:creationId xmlns:a16="http://schemas.microsoft.com/office/drawing/2014/main" id="{D09D5F3E-3B16-4942-BE58-391D836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9825"/>
            <a:ext cx="2495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B58D"/>
            </a:solidFill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6872be92f4990"/>
          <a:srcRect xmlns:a="http://schemas.openxmlformats.org/drawingml/2006/main" l="0" t="23545" r="0" b="23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6825" y="2457450"/>
            <a:ext cx="2400300" cy="9525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58" name="OpenAPI /api/docs-caption">
            <a:extLst xmlns:a="http://schemas.openxmlformats.org/drawingml/2006/main">
              <a:ext uri="{FF2B5EF4-FFF2-40B4-BE49-F238E27FC236}">
                <a16:creationId xmlns:a16="http://schemas.microsoft.com/office/drawing/2014/main" id="{B81CDA1A-315C-4A49-9641-7CE6DC6B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48025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422"/>
          </a:bodyPr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rPr>
              <a:t>OpenAPI /api/docs</a:t>
            </a:r>
          </a:p>
        </p:txBody>
      </p:sp>
      <p:sp>
        <p:nvSpPr>
          <p:cNvPr id="59" name="解释页面-frame">
            <a:extLst xmlns:a="http://schemas.openxmlformats.org/drawingml/2006/main">
              <a:ext uri="{FF2B5EF4-FFF2-40B4-BE49-F238E27FC236}">
                <a16:creationId xmlns:a16="http://schemas.microsoft.com/office/drawing/2014/main" id="{15B41677-DCB3-481A-A286-F16206ED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62350"/>
            <a:ext cx="2495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B58D"/>
            </a:solidFill>
          </a:ln>
        </p:spPr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c112fb1ec4739"/>
          <a:srcRect xmlns:a="http://schemas.openxmlformats.org/drawingml/2006/main" l="0" t="19766" r="0" b="19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6825" y="3609975"/>
            <a:ext cx="2400300" cy="9525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61" name="解释页面-caption">
            <a:extLst xmlns:a="http://schemas.openxmlformats.org/drawingml/2006/main">
              <a:ext uri="{FF2B5EF4-FFF2-40B4-BE49-F238E27FC236}">
                <a16:creationId xmlns:a16="http://schemas.microsoft.com/office/drawing/2014/main" id="{E84F7ECF-07A5-4D41-A1D5-14B60D27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00550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422"/>
          </a:bodyPr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rPr>
              <a:t>解释页面</a:t>
            </a:r>
          </a:p>
        </p:txBody>
      </p:sp>
      <p:sp>
        <p:nvSpPr>
          <p:cNvPr id="62" name="评测面板-frame">
            <a:extLst xmlns:a="http://schemas.openxmlformats.org/drawingml/2006/main">
              <a:ext uri="{FF2B5EF4-FFF2-40B4-BE49-F238E27FC236}">
                <a16:creationId xmlns:a16="http://schemas.microsoft.com/office/drawing/2014/main" id="{C8B89556-401A-44F1-B48D-EBACF536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495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8B58D"/>
            </a:solidFill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e18836e404260"/>
          <a:srcRect xmlns:a="http://schemas.openxmlformats.org/drawingml/2006/main" l="0" t="19766" r="0" b="19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86825" y="4762500"/>
            <a:ext cx="2400300" cy="952500"/>
          </a:xfrm>
          <a:prstGeom xmlns:a="http://schemas.openxmlformats.org/drawingml/2006/main" prst="roundRect">
            <a:avLst>
              <a:gd name="adj" fmla="val 7000"/>
            </a:avLst>
          </a:prstGeom>
        </p:spPr>
      </p:pic>
      <p:sp>
        <p:nvSpPr>
          <p:cNvPr id="64" name="评测面板-caption">
            <a:extLst xmlns:a="http://schemas.openxmlformats.org/drawingml/2006/main">
              <a:ext uri="{FF2B5EF4-FFF2-40B4-BE49-F238E27FC236}">
                <a16:creationId xmlns:a16="http://schemas.microsoft.com/office/drawing/2014/main" id="{8F0A8E77-FF8F-4139-88DD-EF4E1B63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53075"/>
            <a:ext cx="2343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72422"/>
          </a:bodyPr>
          <a:lstStyle xmlns:a="http://schemas.openxmlformats.org/drawingml/2006/main"/>
          <a:p xmlns:a="http://schemas.openxmlformats.org/drawingml/2006/main">
            <a:pPr algn="r">
              <a:defRPr sz="86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197C83"/>
                </a:solidFill>
                <a:latin typeface="Microsoft YaHei"/>
                <a:ea typeface="Microsoft YaHei"/>
                <a:cs typeface="Microsoft YaHei"/>
              </a:rPr>
              <a:t>评测面板</a:t>
            </a:r>
          </a:p>
        </p:txBody>
      </p:sp>
      <p:sp>
        <p:nvSpPr>
          <p:cNvPr id="65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99A09B82-2708-4409-AE86-73F92905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7813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6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03058B8B-B353-4635-A0C1-F80D2F37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94335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7" name="evidence-arrow-3">
            <a:extLst xmlns:a="http://schemas.openxmlformats.org/drawingml/2006/main">
              <a:ext uri="{FF2B5EF4-FFF2-40B4-BE49-F238E27FC236}">
                <a16:creationId xmlns:a16="http://schemas.microsoft.com/office/drawing/2014/main" id="{A539630D-F960-4956-9C74-D774D4E6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105400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E6D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8" name="evidence-footnote">
            <a:extLst xmlns:a="http://schemas.openxmlformats.org/drawingml/2006/main">
              <a:ext uri="{FF2B5EF4-FFF2-40B4-BE49-F238E27FC236}">
                <a16:creationId xmlns:a16="http://schemas.microsoft.com/office/drawing/2014/main" id="{E51737CC-659A-4F9D-9F53-B5CE4DC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8864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8F17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8F171B"/>
                </a:solidFill>
                <a:latin typeface="Microsoft YaHei"/>
                <a:ea typeface="Microsoft YaHei"/>
                <a:cs typeface="Microsoft YaHei"/>
              </a:rPr>
              <a:t>截图与接口同源：页面只展示后端已返回的结构化结果</a:t>
            </a:r>
          </a:p>
        </p:txBody>
      </p:sp>
    </p:spTree>
    <p:extLst>
      <p:ext uri="{BB962C8B-B14F-4D97-AF65-F5344CB8AC3E}">
        <p14:creationId xmlns:p14="http://schemas.microsoft.com/office/powerpoint/2010/main" val="1455345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2026-09-19T09:04:11.2730000Z</dcterms:created>
  <dcterms:modified xsi:type="dcterms:W3CDTF">2026-09-19T09:04:11.2730000Z</dcterms:modified>
</coreProperties>
</file>