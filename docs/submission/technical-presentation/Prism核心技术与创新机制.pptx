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27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01 系统与核心技术" id="{119FEDEC-3817-4A1F-A10D-5C78E3FF2424}">
          <p14:sldIdLst>
            <p14:sldId id="256"/>
            <p14:sldId id="257"/>
            <p14:sldId id="258"/>
            <p14:sldId id="259"/>
            <p14:sldId id="260"/>
            <p14:sldId id="261"/>
            <p14:sldId id="262"/>
            <p14:sldId id="263"/>
            <p14:sldId id="264"/>
            <p14:sldId id="265"/>
            <p14:sldId id="266"/>
          </p14:sldIdLst>
        </p14:section>
        <p14:section name="02 算法与创新机制" id="{F5EAC211-32FD-4F4D-9B0E-A02D55A808BC}">
          <p14:sldIdLst>
            <p14:sldId id="267"/>
            <p14:sldId id="268"/>
            <p14:sldId id="269"/>
            <p14:sldId id="270"/>
            <p14:sldId id="271"/>
            <p14:sldId id="272"/>
          </p14:sldIdLst>
        </p14:section>
        <p14:section name="03 实际数据与验证" id="{765D55D3-3D27-4DA6-A734-7AB7EDB9DC24}">
          <p14:sldIdLst>
            <p14:sldId id="273"/>
            <p14:sldId id="274"/>
            <p14:sldId id="275"/>
            <p14:sldId id="276"/>
            <p14:sldId id="277"/>
            <p14:sldId id="278"/>
            <p14:sldId id="279"/>
            <p14:sldId id="280"/>
          </p14:sldIdLst>
        </p14:section>
      </p14:section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notesMaster" Target="notesMasters/notesMaster1.xml"/><Relationship Id="rId30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"/>
          <p:cNvSpPr>
            <a:spLocks noGrp="1"/>
          </p:cNvSpPr>
          <p:nvPr>
            <p:ph type="hdr" sz="quarter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3" name="Date Placeholder"/>
          <p:cNvSpPr>
            <a:spLocks noGrp="1"/>
          </p:cNvSpPr>
          <p:nvPr>
            <p:ph type="dt" sz="quarter" idx="1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4" name="Slide Image Placeholder"/>
          <p:cNvSpPr>
            <a:spLocks noGrp="1" noRot="1" noChangeAspect="1"/>
          </p:cNvSpPr>
          <p:nvPr>
            <p:ph type="sldImg" idx="2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5" name="Notes Placeholder"/>
          <p:cNvSpPr>
            <a:spLocks noGrp="1"/>
          </p:cNvSpPr>
          <p:nvPr>
            <p:ph type="body" sz="quarter" idx="3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6" name="Footer Placeholder"/>
          <p:cNvSpPr>
            <a:spLocks noGrp="1"/>
          </p:cNvSpPr>
          <p:nvPr>
            <p:ph type="ftr" sz="quarter" idx="4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7" name="Slide Number Placeholder"/>
          <p:cNvSpPr>
            <a:spLocks noGrp="1"/>
          </p:cNvSpPr>
          <p:nvPr>
            <p:ph type="sldNum" sz="quarter" idx="5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/>
    </a:lvl1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演示文稿依据《技术文档－创新详解版》组织系统技术、四项创新机制和实际数据记录。图形说明模块职责、算法输入输出以及来源和版本关系，具体实现位置列入各页备注与技术对应表。</a:t>
            </a:r>
          </a:p>
          <a:p>
            <a:endParaRPr/>
          </a:p>
          <a:p>
            <a:r>
              <a:t>实现依据：docs/submission/Prism-技术文档-创新详解版.docx。</a:t>
            </a:r>
          </a:p>
          <a:p>
            <a:r>
              <a:t>对应技术文档：第五至第七章。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开发环境与系统职责 → 六项核心技术</a:t>
            </a:r>
          </a:p>
          <a:p>
            <a:endParaRPr/>
          </a:p>
          <a:p>
            <a:r>
              <a:t>实现依据：。</a:t>
            </a:r>
          </a:p>
          <a:p>
            <a:r>
              <a:t>对应技术文档：分类 01。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架构图展示同源工作台、FastAPI 应用及专业研究、证据验证、确定性计算和双闸门之间的关系。画像和持仓提供用户约束，金融 Provider 提供记录与质量状态，建议结果关联可验证回执及历史记录。</a:t>
            </a:r>
          </a:p>
          <a:p>
            <a:endParaRPr/>
          </a:p>
          <a:p>
            <a:r>
              <a:t>实现依据：app/api/main.py；app/service/；docs/submission/Prism系统技术架构.svg。</a:t>
            </a:r>
          </a:p>
          <a:p>
            <a:r>
              <a:t>对应技术文档：5.2 前后端 AI 系统。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浏览器组织输入与展示；FastAPI 校验并调用应用服务；领域模块完成研究、计算与审查。具体依赖按项目配置安装，HTTP 和 SSE 传递请求及运行事件。</a:t>
            </a:r>
          </a:p>
          <a:p>
            <a:endParaRPr/>
          </a:p>
          <a:p>
            <a:r>
              <a:t>实现依据：pyproject.toml；package.json；app/api/main.py；app/api/static/app.js。</a:t>
            </a:r>
          </a:p>
          <a:p>
            <a:r>
              <a:t>对应技术文档：5.1 开发环境 / 5.2 前后端 AI 系统。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外部查询由 Provider 统一字段和来源状态；图片与表格经识别或导入形成待确认资料。语言模型产生意图与字段候选，用户确认后才形成计算上下文。</a:t>
            </a:r>
          </a:p>
          <a:p>
            <a:endParaRPr/>
          </a:p>
          <a:p>
            <a:r>
              <a:t>实现依据：app/providers/skillhub.py；app/providers/contracts.py；app/llm/ocr_portfolio_parser.py；app/trading_history/importer.py；app/service/natural_profile.py。</a:t>
            </a:r>
          </a:p>
          <a:p>
            <a:r>
              <a:t>对应技术文档：5.2.1 前端系统 / 5.2.3 AI 服务开发系统。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正式问卷经确定性规则形成分数与风险等级，预算绑定用户和画像版本。持仓观察值按同一分母与预算比较，超限记录保留观察值、上限和幅度。</a:t>
            </a:r>
          </a:p>
          <a:p>
            <a:endParaRPr/>
          </a:p>
          <a:p>
            <a:r>
              <a:t>实现依据：app/profile/scoring.py；app/profile/questionnaire.py；app/risk/budget.py。</a:t>
            </a:r>
          </a:p>
          <a:p>
            <a:r>
              <a:t>对应技术文档：5.3.1 投资者画像与风险约束映射。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验证按主体、指标、单位、期间与质量筛选记录，随后按 lineage_id 分组。有效独立来源参与支持与反对计数，冲突和依据不足保留为明确状态，引用继续传入研究结果。</a:t>
            </a:r>
          </a:p>
          <a:p>
            <a:endParaRPr/>
          </a:p>
          <a:p>
            <a:r>
              <a:t>实现依据：app/research/cross_validation.py；app/research/contracts.py；app/contracts/evidence.py。</a:t>
            </a:r>
          </a:p>
          <a:p>
            <a:r>
              <a:t>对应技术文档：5.3.2 来源关联约束的证据验证。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持仓市值与成分比例产生资产及行业暴露。基金未覆盖成分继续保留，报告注明分母、分组及精度。证券 HHI 与含现金行业 HHI 使用各自的计算口径。</a:t>
            </a:r>
          </a:p>
          <a:p>
            <a:endParaRPr/>
          </a:p>
          <a:p>
            <a:r>
              <a:t>实现依据：app/portfolio/exposure.py；app/portfolio/report.py；app/risk/concentration.py。</a:t>
            </a:r>
          </a:p>
          <a:p>
            <a:r>
              <a:t>对应技术文档：5.3.3 持仓暴露与集中度计算。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目标权重转换为金额与数量，卖出受持仓约束并扣除费用，买入受现金预留和交易单位约束。程序更新现金后重新计算换手率、组合暴露与风险，输出实际测算数量。</a:t>
            </a:r>
          </a:p>
          <a:p>
            <a:endParaRPr/>
          </a:p>
          <a:p>
            <a:r>
              <a:t>实现依据：app/service/portfolio_rebalancing.py；app/rebalancing/contracts.py。</a:t>
            </a:r>
          </a:p>
          <a:p>
            <a:r>
              <a:t>对应技术文档：5.3.4 交易单位与现金约束下的再平衡。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研究计划声明依赖、必需字段和时间预算。满足依赖的节点并行运行，结果保留状态与引用；未完成条件影响整体结果和下游建议资格。专业处理入口覆盖市场、行业、证券、基金及可转债。</a:t>
            </a:r>
          </a:p>
          <a:p>
            <a:endParaRPr/>
          </a:p>
          <a:p>
            <a:r>
              <a:t>实现依据：app/orchestration/contracts.py；app/orchestration/executor.py；app/service/specialist_matrix.py。</a:t>
            </a:r>
          </a:p>
          <a:p>
            <a:r>
              <a:t>对应技术文档：5.3.5 专业研究协作。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风险与合规分别检查其职责内的输入。整体状态按 BLOCKED、REVIEW_REQUIRED、PASS 的顺序聚合，只有双方 PASS 才取得建议资格；建议组合器继续核对输入绑定和引用。</a:t>
            </a:r>
          </a:p>
          <a:p>
            <a:endParaRPr/>
          </a:p>
          <a:p>
            <a:r>
              <a:t>实现依据：app/gates/pipeline.py；app/gates/risk.py；app/gates/compliance.py；app/recommendation/composer.py。</a:t>
            </a:r>
          </a:p>
          <a:p>
            <a:r>
              <a:t>对应技术文档：5.3.6 风险与合规双重审查。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按技术文档 6.1—6.5 说明机制、算法与评价条件</a:t>
            </a:r>
          </a:p>
          <a:p>
            <a:endParaRPr/>
          </a:p>
          <a:p>
            <a:r>
              <a:t>实现依据：。</a:t>
            </a:r>
          </a:p>
          <a:p>
            <a:r>
              <a:t>对应技术文档：分类 02。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创新机制把问卷字段、确定性分数、预算选择和持仓超限连接起来。维度变化影响分数，风险等级跨越分界时改变预算；上限比较、用户归属和画像版本参与同一次评估。</a:t>
            </a:r>
          </a:p>
          <a:p>
            <a:endParaRPr/>
          </a:p>
          <a:p>
            <a:r>
              <a:t>实现依据：app/profile/scoring.py；app/risk/budget.py；app/risk/contracts.py。</a:t>
            </a:r>
          </a:p>
          <a:p>
            <a:r>
              <a:t>对应技术文档：6.1 画像驱动的风险约束映射算法。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来源分组控制独立支持数量，同组重复记录只增加引用记录。组内冲突、口径差异或未验证输入要求复核；两个独立来源支持且无反对和待处理问题时才返回 SUPPORTED。</a:t>
            </a:r>
          </a:p>
          <a:p>
            <a:endParaRPr/>
          </a:p>
          <a:p>
            <a:r>
              <a:t>实现依据：app/research/cross_validation.py。</a:t>
            </a:r>
          </a:p>
          <a:p>
            <a:r>
              <a:t>对应技术文档：6.2 来源关联约束的证据交叉验证算法。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二分查找在候选交易手数范围内寻找能够覆盖成交金额和费用、同时保留最低现金的最大整数手数。每项交易更新现金，最后使用实际数量复核风险；这一计算保证单项可负担数量，整体配置仍受后续检查约束。</a:t>
            </a:r>
          </a:p>
          <a:p>
            <a:endParaRPr/>
          </a:p>
          <a:p>
            <a:r>
              <a:t>实现依据：app/service/portfolio_rebalancing.py。</a:t>
            </a:r>
          </a:p>
          <a:p>
            <a:r>
              <a:t>对应技术文档：6.3 交易单位与现金约束的再平衡算法。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任务依赖与研究状态约束后续证据使用，用户归属和输入版本约束审查对象。两个独立判定共同决定建议资格，回执保存输入、证据、规则版本与裁决关系，便于历史复核。</a:t>
            </a:r>
          </a:p>
          <a:p>
            <a:endParaRPr/>
          </a:p>
          <a:p>
            <a:r>
              <a:t>实现依据：app/orchestration/executor.py；app/gates/pipeline.py；app/recommendation/contracts.py；app/recommendation/composer.py。</a:t>
            </a:r>
          </a:p>
          <a:p>
            <a:r>
              <a:t>对应技术文档：6.4 依赖执行与独立双闸门的专业协作机制。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评价分别检查个人条件参与计算、证据满足规则、金额及比例可复算，以及建议资格符合审查结果。正式报告能够证明对应输入下的计算与状态；外部金融研究基准及完整咨询性能需要对应评价记录。</a:t>
            </a:r>
          </a:p>
          <a:p>
            <a:endParaRPr/>
          </a:p>
          <a:p>
            <a:r>
              <a:t>实现依据：docs/submission/Prism-技术文档-创新详解版.docx；docs/submission/test-evidence/。</a:t>
            </a:r>
          </a:p>
          <a:p>
            <a:r>
              <a:t>对应技术文档：6.5 创新评价与后续研究。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历史正式报告 · 实际文档检索 · 技术与工程证据</a:t>
            </a:r>
          </a:p>
          <a:p>
            <a:endParaRPr/>
          </a:p>
          <a:p>
            <a:r>
              <a:t>实现依据：。</a:t>
            </a:r>
          </a:p>
          <a:p>
            <a:r>
              <a:t>对应技术文档：分类 03。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该图选取仓库保存的正式组合报告字段，展示报告时间、金额与集中度状态。报告生成于 2026 年 9 月 15 日，证券市值与现金共同构成总资产，集中度返回 REVIEW_REQUIRED。图片展示该时点的历史报告。</a:t>
            </a:r>
          </a:p>
          <a:p>
            <a:endParaRPr/>
          </a:p>
          <a:p>
            <a:r>
              <a:t>实现依据：pages-snapshot.json · portfolio/report。</a:t>
            </a:r>
          </a:p>
          <a:p>
            <a:r>
              <a:t>对应技术文档：7.1 正式组合报告案例。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该图来自实际研究文档检索记录 real-001，展示关键词和语义向量合并后的宏观资料响应。图片保留 RRF、FTS5、原文、来源与 RETRIEVED_UNVERIFIED，配套 JSON 保存查询时间条件及来源地址。</a:t>
            </a:r>
          </a:p>
          <a:p>
            <a:endParaRPr/>
          </a:p>
          <a:p>
            <a:r>
              <a:t>实现依据：hybrid-execution.json · real-001。</a:t>
            </a:r>
          </a:p>
          <a:p>
            <a:r>
              <a:t>对应技术文档：5.3.5 专业研究协作 / 当前文档检索实现。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该图来自实际研究文档检索记录 real-017，展示工商银行 2024 年报中的净利息收入与营业收入片段。金额单位沿用原文的 RMB millions，图片保留发布时间、期间和检索状态，配套 JSON 保存来源地址。</a:t>
            </a:r>
          </a:p>
          <a:p>
            <a:endParaRPr/>
          </a:p>
          <a:p>
            <a:r>
              <a:t>实现依据：hybrid-execution.json · real-017。</a:t>
            </a:r>
          </a:p>
          <a:p>
            <a:r>
              <a:t>对应技术文档：5.3.5 专业研究协作 / 当前文档检索实现。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金额与风险来自同一份历史正式报告。证券市值加现金等于总资产；最大资产按含现金总资产口径占 52.83%，超过成长型 50% 上限，现金占 1.94%，报告整体要求复核。</a:t>
            </a:r>
          </a:p>
          <a:p>
            <a:endParaRPr/>
          </a:p>
          <a:p>
            <a:r>
              <a:t>实现依据：app/api/static/pages-snapshot.json；app/portfolio/report.py。</a:t>
            </a:r>
          </a:p>
          <a:p>
            <a:r>
              <a:t>对应技术文档：7.1 正式组合报告案例。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当前专业研究还使用 PDF 提取、关键词检索、语义向量和 RRF，以及时间序列计算模块。向量模型与 HMM 属于可选能力，运行依赖本地模型或相应库、输入质量和数据时间条件。</a:t>
            </a:r>
          </a:p>
          <a:p>
            <a:endParaRPr/>
          </a:p>
          <a:p>
            <a:r>
              <a:t>实现依据：app/service/knowledge.py；app/service/knowledge_embedding.py；app/service/research_algorithms.py；pyproject.toml。</a:t>
            </a:r>
          </a:p>
          <a:p>
            <a:r>
              <a:t>对应技术文档：5.3.5 关联支持技术 / 当前实现补充。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上下文、研究记录与回执按用户归属保存。内容指纹和版本关系支持历史复核，Windows DPAPI 保护本地凭据，Markdown 经 DOMPurify 处理后展示，前端证据视图保留引用方向。</a:t>
            </a:r>
          </a:p>
          <a:p>
            <a:endParaRPr/>
          </a:p>
          <a:p>
            <a:r>
              <a:t>实现依据：app/store/sqlite.py；app/store/postgres.py；app/security/store.py；app/api/static/markdown.src.js；app/service/advanced_explainability.py。</a:t>
            </a:r>
          </a:p>
          <a:p>
            <a:r>
              <a:t>对应技术文档：5.2 前后端 AI 系统 / 7.4 用户信息与部署。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核心技术与创新机制使用同一套已核对的代码位置。完整对应表继续列出直接依赖、标准库、金融 Provider、前端工具和可选研究能力，具体条件与实际证据分别记录。</a:t>
            </a:r>
          </a:p>
          <a:p>
            <a:endParaRPr/>
          </a:p>
          <a:p>
            <a:r>
              <a:t>实现依据：docs/submission/technical-presentation/技术与文档对应表.md。</a:t>
            </a:r>
          </a:p>
          <a:p>
            <a:r>
              <a:t>对应技术文档：5.3 核心技术 / 第六章 创新亮点。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Master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>
      <a:lvl1pPr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1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">
            <a:extLst>
              <a:ext uri="{FF2B5EF4-FFF2-40B4-BE49-F238E27FC236}">
                <a16:creationId xmlns:a16="http://schemas.microsoft.com/office/drawing/2014/main" id="{E58E8B6A-2EB8-4F16-93C5-FD68726A3210}"/>
              </a:ext>
            </a:extLst>
          </p:cNvPr>
          <p:cNvSpPr>
            <a:spLocks noGrp="1"/>
          </p:cNvSpPr>
          <p:nvPr/>
        </p:nvSpPr>
        <p:spPr>
          <a:xfrm>
            <a:off x="819150" y="1714500"/>
            <a:ext cx="10668000" cy="8096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l">
              <a:defRPr sz="5250" b="1">
                <a:solidFill>
                  <a:srgbClr val="2867B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5250" b="1">
                <a:solidFill>
                  <a:srgbClr val="2867BF"/>
                </a:solidFill>
                <a:latin typeface="Microsoft YaHei"/>
                <a:ea typeface="Microsoft YaHei"/>
                <a:cs typeface="Microsoft YaHei"/>
              </a:rPr>
              <a:t>Prism</a:t>
            </a:r>
          </a:p>
        </p:txBody>
      </p:sp>
      <p:sp>
        <p:nvSpPr>
          <p:cNvPr id="2" name="text">
            <a:extLst>
              <a:ext uri="{FF2B5EF4-FFF2-40B4-BE49-F238E27FC236}">
                <a16:creationId xmlns:a16="http://schemas.microsoft.com/office/drawing/2014/main" id="{D021D121-8E73-4BE1-8D86-F884210C9740}"/>
              </a:ext>
            </a:extLst>
          </p:cNvPr>
          <p:cNvSpPr>
            <a:spLocks noGrp="1"/>
          </p:cNvSpPr>
          <p:nvPr/>
        </p:nvSpPr>
        <p:spPr>
          <a:xfrm>
            <a:off x="819150" y="2790825"/>
            <a:ext cx="10668000" cy="8096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l">
              <a:defRPr sz="3975" b="1">
                <a:solidFill>
                  <a:srgbClr val="20344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975" b="1">
                <a:solidFill>
                  <a:srgbClr val="20344F"/>
                </a:solidFill>
                <a:latin typeface="Microsoft YaHei"/>
                <a:ea typeface="Microsoft YaHei"/>
                <a:cs typeface="Microsoft YaHei"/>
              </a:rPr>
              <a:t>个性化证券投顾智能体系统</a:t>
            </a:r>
          </a:p>
        </p:txBody>
      </p:sp>
      <p:sp>
        <p:nvSpPr>
          <p:cNvPr id="3" name="text">
            <a:extLst>
              <a:ext uri="{FF2B5EF4-FFF2-40B4-BE49-F238E27FC236}">
                <a16:creationId xmlns:a16="http://schemas.microsoft.com/office/drawing/2014/main" id="{2D1AC53D-AA32-4C25-A27B-20DD6720CB9B}"/>
              </a:ext>
            </a:extLst>
          </p:cNvPr>
          <p:cNvSpPr>
            <a:spLocks noGrp="1"/>
          </p:cNvSpPr>
          <p:nvPr/>
        </p:nvSpPr>
        <p:spPr>
          <a:xfrm>
            <a:off x="857250" y="3924300"/>
            <a:ext cx="10287000" cy="4572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l">
              <a:defRPr sz="2325" b="0">
                <a:solidFill>
                  <a:srgbClr val="566C8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0">
                <a:solidFill>
                  <a:srgbClr val="566C83"/>
                </a:solidFill>
                <a:latin typeface="Microsoft YaHei"/>
                <a:ea typeface="Microsoft YaHei"/>
                <a:cs typeface="Microsoft YaHei"/>
              </a:rPr>
              <a:t>核心技术 · 创新机制 · 实际数据</a:t>
            </a:r>
          </a:p>
        </p:txBody>
      </p:sp>
    </p:spTree>
    <p:extLst>
      <p:ext uri="{BB962C8B-B14F-4D97-AF65-F5344CB8AC3E}">
        <p14:creationId xmlns:p14="http://schemas.microsoft.com/office/powerpoint/2010/main" val="892068526"/>
      </p:ext>
    </p:extLst>
  </p:cSld>
  <p:clrMapOvr>
    <a:masterClrMapping/>
  </p:clrMapOvr>
  <p:transition>
    <p:fade thruBlk="1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6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460"/>
                            </p:stCondLst>
                            <p:childTnLst>
                              <p:par>
                                <p:cTn id="9" presetID="10" presetClass="entr" presetSubtype="0" fill="hold" grpId="0" nodeType="afterEffect">
                                  <p:stCondLst>
                                    <p:cond delay="6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4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920"/>
                            </p:stCondLst>
                            <p:childTnLst>
                              <p:par>
                                <p:cTn id="13" presetID="10" presetClass="entr" presetSubtype="0" fill="hold" grpId="0" nodeType="afterEffect">
                                  <p:stCondLst>
                                    <p:cond delay="6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4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2" grpId="0"/>
      <p:bldP spid="3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">
            <a:extLst>
              <a:ext uri="{FF2B5EF4-FFF2-40B4-BE49-F238E27FC236}">
                <a16:creationId xmlns:a16="http://schemas.microsoft.com/office/drawing/2014/main" id="{58BCA44A-EBC3-4A93-8FDE-5AA0E7450286}"/>
              </a:ext>
            </a:extLst>
          </p:cNvPr>
          <p:cNvSpPr>
            <a:spLocks noGrp="1"/>
          </p:cNvSpPr>
          <p:nvPr/>
        </p:nvSpPr>
        <p:spPr>
          <a:xfrm>
            <a:off x="1905000" y="2305050"/>
            <a:ext cx="2143125" cy="14287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l">
              <a:defRPr sz="9450" b="1">
                <a:solidFill>
                  <a:srgbClr val="25282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450" b="1">
                <a:solidFill>
                  <a:srgbClr val="25282C"/>
                </a:solidFill>
                <a:latin typeface="Microsoft YaHei"/>
                <a:ea typeface="Microsoft YaHei"/>
                <a:cs typeface="Microsoft YaHei"/>
              </a:rPr>
              <a:t>01</a:t>
            </a:r>
          </a:p>
        </p:txBody>
      </p:sp>
      <p:sp>
        <p:nvSpPr>
          <p:cNvPr id="2" name="text">
            <a:extLst>
              <a:ext uri="{FF2B5EF4-FFF2-40B4-BE49-F238E27FC236}">
                <a16:creationId xmlns:a16="http://schemas.microsoft.com/office/drawing/2014/main" id="{465AE7E3-3F9C-4E08-8026-76BD4EC9D2FF}"/>
              </a:ext>
            </a:extLst>
          </p:cNvPr>
          <p:cNvSpPr>
            <a:spLocks noGrp="1"/>
          </p:cNvSpPr>
          <p:nvPr/>
        </p:nvSpPr>
        <p:spPr>
          <a:xfrm>
            <a:off x="4429125" y="2124075"/>
            <a:ext cx="6667500" cy="4762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l">
              <a:defRPr sz="2250" b="0">
                <a:solidFill>
                  <a:srgbClr val="33384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0">
                <a:solidFill>
                  <a:srgbClr val="333840"/>
                </a:solidFill>
                <a:latin typeface="Microsoft YaHei"/>
                <a:ea typeface="Microsoft YaHei"/>
                <a:cs typeface="Microsoft YaHei"/>
              </a:rPr>
              <a:t>System and Core Technologies</a:t>
            </a:r>
          </a:p>
        </p:txBody>
      </p:sp>
      <p:sp>
        <p:nvSpPr>
          <p:cNvPr id="3" name="text">
            <a:extLst>
              <a:ext uri="{FF2B5EF4-FFF2-40B4-BE49-F238E27FC236}">
                <a16:creationId xmlns:a16="http://schemas.microsoft.com/office/drawing/2014/main" id="{CB939BD6-D317-4772-8AEB-8102D33DADAA}"/>
              </a:ext>
            </a:extLst>
          </p:cNvPr>
          <p:cNvSpPr>
            <a:spLocks noGrp="1"/>
          </p:cNvSpPr>
          <p:nvPr/>
        </p:nvSpPr>
        <p:spPr>
          <a:xfrm>
            <a:off x="4429125" y="2762250"/>
            <a:ext cx="7096125" cy="8763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l">
              <a:defRPr sz="4500" b="1">
                <a:solidFill>
                  <a:srgbClr val="2867B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4500" b="1">
                <a:solidFill>
                  <a:srgbClr val="2867BF"/>
                </a:solidFill>
                <a:latin typeface="Microsoft YaHei"/>
                <a:ea typeface="Microsoft YaHei"/>
                <a:cs typeface="Microsoft YaHei"/>
              </a:rPr>
              <a:t>系统与核心技术</a:t>
            </a:r>
          </a:p>
        </p:txBody>
      </p:sp>
      <p:sp>
        <p:nvSpPr>
          <p:cNvPr id="4" name="text">
            <a:extLst>
              <a:ext uri="{FF2B5EF4-FFF2-40B4-BE49-F238E27FC236}">
                <a16:creationId xmlns:a16="http://schemas.microsoft.com/office/drawing/2014/main" id="{AF767274-9C9C-41B6-8608-3BCFF95D5380}"/>
              </a:ext>
            </a:extLst>
          </p:cNvPr>
          <p:cNvSpPr>
            <a:spLocks noGrp="1"/>
          </p:cNvSpPr>
          <p:nvPr/>
        </p:nvSpPr>
        <p:spPr>
          <a:xfrm>
            <a:off x="4476750" y="3895725"/>
            <a:ext cx="6286500" cy="7620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l">
              <a:defRPr sz="1725" b="0">
                <a:solidFill>
                  <a:srgbClr val="566C8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566C83"/>
                </a:solidFill>
                <a:latin typeface="Microsoft YaHei"/>
                <a:ea typeface="Microsoft YaHei"/>
                <a:cs typeface="Microsoft YaHei"/>
              </a:rPr>
              <a:t>开发环境与系统职责 → 六项核心技术</a:t>
            </a:r>
          </a:p>
        </p:txBody>
      </p:sp>
    </p:spTree>
    <p:extLst>
      <p:ext uri="{BB962C8B-B14F-4D97-AF65-F5344CB8AC3E}">
        <p14:creationId xmlns:p14="http://schemas.microsoft.com/office/powerpoint/2010/main" val="857609199"/>
      </p:ext>
    </p:extLst>
  </p:cSld>
  <p:clrMapOvr>
    <a:masterClrMapping/>
  </p:clrMapOvr>
  <p:transition>
    <p:fade thruBlk="1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6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460"/>
                            </p:stCondLst>
                            <p:childTnLst>
                              <p:par>
                                <p:cTn id="9" presetID="10" presetClass="entr" presetSubtype="0" fill="hold" grpId="0" nodeType="afterEffect">
                                  <p:stCondLst>
                                    <p:cond delay="6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4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920"/>
                            </p:stCondLst>
                            <p:childTnLst>
                              <p:par>
                                <p:cTn id="13" presetID="10" presetClass="entr" presetSubtype="0" fill="hold" grpId="0" nodeType="afterEffect">
                                  <p:stCondLst>
                                    <p:cond delay="6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4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1380"/>
                            </p:stCondLst>
                            <p:childTnLst>
                              <p:par>
                                <p:cTn id="17" presetID="10" presetClass="entr" presetSubtype="0" fill="hold" grpId="0" nodeType="afterEffect">
                                  <p:stCondLst>
                                    <p:cond delay="6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4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  <p:bldP spid="2" grpId="0"/>
      <p:bldP spid="3" grpId="0"/>
      <p:bldP spid="4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slide-title">
            <a:extLst>
              <a:ext uri="{FF2B5EF4-FFF2-40B4-BE49-F238E27FC236}">
                <a16:creationId xmlns:a16="http://schemas.microsoft.com/office/drawing/2014/main" id="{DDAE9C9C-B741-458D-97F4-75B839AF1258}"/>
              </a:ext>
            </a:extLst>
          </p:cNvPr>
          <p:cNvSpPr>
            <a:spLocks noGrp="1"/>
          </p:cNvSpPr>
          <p:nvPr/>
        </p:nvSpPr>
        <p:spPr>
          <a:xfrm>
            <a:off x="609600" y="419100"/>
            <a:ext cx="10972800" cy="6096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l">
              <a:defRPr sz="3000" b="1">
                <a:solidFill>
                  <a:srgbClr val="20344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000" b="1">
                <a:solidFill>
                  <a:srgbClr val="20344F"/>
                </a:solidFill>
                <a:latin typeface="Microsoft YaHei"/>
                <a:ea typeface="Microsoft YaHei"/>
                <a:cs typeface="Microsoft YaHei"/>
              </a:rPr>
              <a:t>系统技术架构</a:t>
            </a:r>
          </a:p>
        </p:txBody>
      </p:sp>
      <p:sp>
        <p:nvSpPr>
          <p:cNvPr id="2" name="document-heading">
            <a:extLst>
              <a:ext uri="{FF2B5EF4-FFF2-40B4-BE49-F238E27FC236}">
                <a16:creationId xmlns:a16="http://schemas.microsoft.com/office/drawing/2014/main" id="{E854F1C0-477E-4089-8F4E-4027EAF96E0B}"/>
              </a:ext>
            </a:extLst>
          </p:cNvPr>
          <p:cNvSpPr>
            <a:spLocks noGrp="1"/>
          </p:cNvSpPr>
          <p:nvPr/>
        </p:nvSpPr>
        <p:spPr>
          <a:xfrm>
            <a:off x="609600" y="1085850"/>
            <a:ext cx="10972800" cy="3238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l">
              <a:defRPr sz="1575" b="0">
                <a:solidFill>
                  <a:srgbClr val="566C8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566C83"/>
                </a:solidFill>
                <a:latin typeface="Microsoft YaHei"/>
                <a:ea typeface="Microsoft YaHei"/>
                <a:cs typeface="Microsoft YaHei"/>
              </a:rPr>
              <a:t>5.2 前后端 AI 系统</a:t>
            </a:r>
          </a:p>
        </p:txBody>
      </p:sp>
      <p:sp>
        <p:nvSpPr>
          <p:cNvPr id="3" name="figure-introduction">
            <a:extLst>
              <a:ext uri="{FF2B5EF4-FFF2-40B4-BE49-F238E27FC236}">
                <a16:creationId xmlns:a16="http://schemas.microsoft.com/office/drawing/2014/main" id="{4B8B42B3-255F-40FA-844D-5848A5F3BAA0}"/>
              </a:ext>
            </a:extLst>
          </p:cNvPr>
          <p:cNvSpPr>
            <a:spLocks noGrp="1"/>
          </p:cNvSpPr>
          <p:nvPr/>
        </p:nvSpPr>
        <p:spPr>
          <a:xfrm>
            <a:off x="609600" y="5524500"/>
            <a:ext cx="10972800" cy="8382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l">
              <a:defRPr sz="1725" b="0">
                <a:solidFill>
                  <a:srgbClr val="566C8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566C83"/>
                </a:solidFill>
                <a:latin typeface="Microsoft YaHei"/>
                <a:ea typeface="Microsoft YaHei"/>
                <a:cs typeface="Microsoft YaHei"/>
              </a:rPr>
              <a:t>架构图展示同源工作台、FastAPI 应用及专业研究、证据验证、确定性计算和双闸门之间的关系。画像和持仓提供用户约束，金融 Provider 提供记录与质量状态，建议结果关联可验证回执及历史记录。</a:t>
            </a:r>
          </a:p>
        </p:txBody>
      </p:sp>
      <p:sp>
        <p:nvSpPr>
          <p:cNvPr id="4" name="footer">
            <a:extLst>
              <a:ext uri="{FF2B5EF4-FFF2-40B4-BE49-F238E27FC236}">
                <a16:creationId xmlns:a16="http://schemas.microsoft.com/office/drawing/2014/main" id="{C69B71BF-8127-4B94-8BE3-5775A96A4F7C}"/>
              </a:ext>
            </a:extLst>
          </p:cNvPr>
          <p:cNvSpPr>
            <a:spLocks noGrp="1"/>
          </p:cNvSpPr>
          <p:nvPr/>
        </p:nvSpPr>
        <p:spPr>
          <a:xfrm>
            <a:off x="609600" y="6477000"/>
            <a:ext cx="9144000" cy="2381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l">
              <a:defRPr sz="1275" b="0">
                <a:solidFill>
                  <a:srgbClr val="566C8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566C83"/>
                </a:solidFill>
                <a:latin typeface="Microsoft YaHei"/>
                <a:ea typeface="Microsoft YaHei"/>
                <a:cs typeface="Microsoft YaHei"/>
              </a:rPr>
              <a:t>Prism · 系统与核心技术</a:t>
            </a:r>
          </a:p>
        </p:txBody>
      </p:sp>
      <p:sp>
        <p:nvSpPr>
          <p:cNvPr id="5" name="page-number">
            <a:extLst>
              <a:ext uri="{FF2B5EF4-FFF2-40B4-BE49-F238E27FC236}">
                <a16:creationId xmlns:a16="http://schemas.microsoft.com/office/drawing/2014/main" id="{DA7B4B31-E2B9-4093-B967-5AAB0469EA0C}"/>
              </a:ext>
            </a:extLst>
          </p:cNvPr>
          <p:cNvSpPr>
            <a:spLocks noGrp="1"/>
          </p:cNvSpPr>
          <p:nvPr/>
        </p:nvSpPr>
        <p:spPr>
          <a:xfrm>
            <a:off x="11049000" y="6477000"/>
            <a:ext cx="523875" cy="2381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r">
              <a:defRPr sz="1275" b="0">
                <a:solidFill>
                  <a:srgbClr val="566C8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566C83"/>
                </a:solidFill>
                <a:latin typeface="Microsoft YaHei"/>
                <a:ea typeface="Microsoft YaHei"/>
                <a:cs typeface="Microsoft YaHei"/>
              </a:rPr>
              <a:t>3</a:t>
            </a:r>
          </a:p>
        </p:txBody>
      </p:sp>
      <p:pic>
        <p:nvPicPr>
          <p:cNvPr id="12" name="图片 11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2602971" y="1476375"/>
            <a:ext cx="6976533" cy="39243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3848608"/>
      </p:ext>
    </p:extLst>
  </p:cSld>
  <p:clrMapOvr>
    <a:masterClrMapping/>
  </p:clrMapOvr>
  <p:transition>
    <p:fade thruBlk="1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6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460"/>
                            </p:stCondLst>
                            <p:childTnLst>
                              <p:par>
                                <p:cTn id="9" presetID="10" presetClass="entr" presetSubtype="0" fill="hold" grpId="0" nodeType="afterEffect">
                                  <p:stCondLst>
                                    <p:cond delay="6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4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920"/>
                            </p:stCondLst>
                            <p:childTnLst>
                              <p:par>
                                <p:cTn id="13" presetID="10" presetClass="entr" presetSubtype="0" fill="hold" nodeType="afterEffect">
                                  <p:stCondLst>
                                    <p:cond delay="6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4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1380"/>
                            </p:stCondLst>
                            <p:childTnLst>
                              <p:par>
                                <p:cTn id="17" presetID="10" presetClass="entr" presetSubtype="0" fill="hold" grpId="0" nodeType="afterEffect">
                                  <p:stCondLst>
                                    <p:cond delay="6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4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1840"/>
                            </p:stCondLst>
                            <p:childTnLst>
                              <p:par>
                                <p:cTn id="21" presetID="10" presetClass="entr" presetSubtype="0" fill="hold" grpId="0" nodeType="afterEffect">
                                  <p:stCondLst>
                                    <p:cond delay="6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4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2300"/>
                            </p:stCondLst>
                            <p:childTnLst>
                              <p:par>
                                <p:cTn id="25" presetID="10" presetClass="entr" presetSubtype="0" fill="hold" grpId="0" nodeType="afterEffect">
                                  <p:stCondLst>
                                    <p:cond delay="6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4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  <p:bldP spid="2" grpId="0"/>
      <p:bldP spid="3" grpId="0"/>
      <p:bldP spid="4" grpId="0"/>
      <p:bldP spid="5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slide-title">
            <a:extLst>
              <a:ext uri="{FF2B5EF4-FFF2-40B4-BE49-F238E27FC236}">
                <a16:creationId xmlns:a16="http://schemas.microsoft.com/office/drawing/2014/main" id="{309C6ED4-5DFC-49C0-8BEF-BACE40290246}"/>
              </a:ext>
            </a:extLst>
          </p:cNvPr>
          <p:cNvSpPr>
            <a:spLocks noGrp="1"/>
          </p:cNvSpPr>
          <p:nvPr/>
        </p:nvSpPr>
        <p:spPr>
          <a:xfrm>
            <a:off x="609600" y="419100"/>
            <a:ext cx="10972800" cy="6096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l">
              <a:defRPr sz="3000" b="1">
                <a:solidFill>
                  <a:srgbClr val="20344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000" b="1">
                <a:solidFill>
                  <a:srgbClr val="20344F"/>
                </a:solidFill>
                <a:latin typeface="Microsoft YaHei"/>
                <a:ea typeface="Microsoft YaHei"/>
                <a:cs typeface="Microsoft YaHei"/>
              </a:rPr>
              <a:t>开发环境与前后端职责</a:t>
            </a:r>
          </a:p>
        </p:txBody>
      </p:sp>
      <p:sp>
        <p:nvSpPr>
          <p:cNvPr id="2" name="document-heading">
            <a:extLst>
              <a:ext uri="{FF2B5EF4-FFF2-40B4-BE49-F238E27FC236}">
                <a16:creationId xmlns:a16="http://schemas.microsoft.com/office/drawing/2014/main" id="{BCD7B437-6730-4CE8-8DD2-EC4362EAE9D6}"/>
              </a:ext>
            </a:extLst>
          </p:cNvPr>
          <p:cNvSpPr>
            <a:spLocks noGrp="1"/>
          </p:cNvSpPr>
          <p:nvPr/>
        </p:nvSpPr>
        <p:spPr>
          <a:xfrm>
            <a:off x="609600" y="1085850"/>
            <a:ext cx="10972800" cy="3238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l">
              <a:defRPr sz="1575" b="0">
                <a:solidFill>
                  <a:srgbClr val="566C8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566C83"/>
                </a:solidFill>
                <a:latin typeface="Microsoft YaHei"/>
                <a:ea typeface="Microsoft YaHei"/>
                <a:cs typeface="Microsoft YaHei"/>
              </a:rPr>
              <a:t>5.1 开发环境 / 5.2 前后端 AI 系统</a:t>
            </a:r>
          </a:p>
        </p:txBody>
      </p:sp>
      <p:sp>
        <p:nvSpPr>
          <p:cNvPr id="3" name="figure-introduction">
            <a:extLst>
              <a:ext uri="{FF2B5EF4-FFF2-40B4-BE49-F238E27FC236}">
                <a16:creationId xmlns:a16="http://schemas.microsoft.com/office/drawing/2014/main" id="{88E8B999-EFB8-4FC7-94C6-15C52548DFA8}"/>
              </a:ext>
            </a:extLst>
          </p:cNvPr>
          <p:cNvSpPr>
            <a:spLocks noGrp="1"/>
          </p:cNvSpPr>
          <p:nvPr/>
        </p:nvSpPr>
        <p:spPr>
          <a:xfrm>
            <a:off x="609600" y="5524500"/>
            <a:ext cx="10972800" cy="8382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l">
              <a:defRPr sz="1725" b="0">
                <a:solidFill>
                  <a:srgbClr val="566C8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566C83"/>
                </a:solidFill>
                <a:latin typeface="Microsoft YaHei"/>
                <a:ea typeface="Microsoft YaHei"/>
                <a:cs typeface="Microsoft YaHei"/>
              </a:rPr>
              <a:t>浏览器组织输入与展示；FastAPI 校验并调用应用服务；领域模块完成研究、计算与审查。具体依赖按项目配置安装，HTTP 和 SSE 传递请求及运行事件。</a:t>
            </a:r>
          </a:p>
        </p:txBody>
      </p:sp>
      <p:sp>
        <p:nvSpPr>
          <p:cNvPr id="4" name="footer">
            <a:extLst>
              <a:ext uri="{FF2B5EF4-FFF2-40B4-BE49-F238E27FC236}">
                <a16:creationId xmlns:a16="http://schemas.microsoft.com/office/drawing/2014/main" id="{B5DACB9B-EE51-46C8-BB65-CBDF0936143A}"/>
              </a:ext>
            </a:extLst>
          </p:cNvPr>
          <p:cNvSpPr>
            <a:spLocks noGrp="1"/>
          </p:cNvSpPr>
          <p:nvPr/>
        </p:nvSpPr>
        <p:spPr>
          <a:xfrm>
            <a:off x="609600" y="6477000"/>
            <a:ext cx="9144000" cy="2381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l">
              <a:defRPr sz="1275" b="0">
                <a:solidFill>
                  <a:srgbClr val="566C8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566C83"/>
                </a:solidFill>
                <a:latin typeface="Microsoft YaHei"/>
                <a:ea typeface="Microsoft YaHei"/>
                <a:cs typeface="Microsoft YaHei"/>
              </a:rPr>
              <a:t>Prism · 系统与核心技术</a:t>
            </a:r>
          </a:p>
        </p:txBody>
      </p:sp>
      <p:sp>
        <p:nvSpPr>
          <p:cNvPr id="5" name="page-number">
            <a:extLst>
              <a:ext uri="{FF2B5EF4-FFF2-40B4-BE49-F238E27FC236}">
                <a16:creationId xmlns:a16="http://schemas.microsoft.com/office/drawing/2014/main" id="{FCBFFF60-C00C-411B-A40B-B11C98C4E81D}"/>
              </a:ext>
            </a:extLst>
          </p:cNvPr>
          <p:cNvSpPr>
            <a:spLocks noGrp="1"/>
          </p:cNvSpPr>
          <p:nvPr/>
        </p:nvSpPr>
        <p:spPr>
          <a:xfrm>
            <a:off x="11049000" y="6477000"/>
            <a:ext cx="523875" cy="2381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r">
              <a:defRPr sz="1275" b="0">
                <a:solidFill>
                  <a:srgbClr val="566C8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566C83"/>
                </a:solidFill>
                <a:latin typeface="Microsoft YaHei"/>
                <a:ea typeface="Microsoft YaHei"/>
                <a:cs typeface="Microsoft YaHei"/>
              </a:rPr>
              <a:t>4</a:t>
            </a:r>
          </a:p>
        </p:txBody>
      </p:sp>
      <p:sp>
        <p:nvSpPr>
          <p:cNvPr id="6" name="diagram-node">
            <a:extLst>
              <a:ext uri="{FF2B5EF4-FFF2-40B4-BE49-F238E27FC236}">
                <a16:creationId xmlns:a16="http://schemas.microsoft.com/office/drawing/2014/main" id="{546CB97D-9E20-4D8D-A25C-E56C088A5259}"/>
              </a:ext>
            </a:extLst>
          </p:cNvPr>
          <p:cNvSpPr>
            <a:spLocks noGrp="1"/>
          </p:cNvSpPr>
          <p:nvPr/>
        </p:nvSpPr>
        <p:spPr>
          <a:xfrm>
            <a:off x="609600" y="2028825"/>
            <a:ext cx="3486150" cy="1047750"/>
          </a:xfrm>
          <a:prstGeom prst="roundRect">
            <a:avLst>
              <a:gd name="adj" fmla="val 9091"/>
            </a:avLst>
          </a:prstGeom>
          <a:solidFill>
            <a:srgbClr val="E7EFFF"/>
          </a:solidFill>
          <a:ln w="11430">
            <a:solidFill>
              <a:srgbClr val="BBCBDE"/>
            </a:solidFill>
          </a:ln>
        </p:spPr>
        <p:txBody>
          <a:bodyPr lIns="95250" tIns="76200" rIns="95250" bIns="76200" anchor="ctr">
            <a:noAutofit/>
          </a:bodyPr>
          <a:lstStyle/>
          <a:p>
            <a:pPr algn="ctr">
              <a:defRPr sz="1950">
                <a:solidFill>
                  <a:srgbClr val="20344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>
                <a:solidFill>
                  <a:srgbClr val="20344F"/>
                </a:solidFill>
                <a:latin typeface="Microsoft YaHei"/>
                <a:ea typeface="Microsoft YaHei"/>
                <a:cs typeface="Microsoft YaHei"/>
              </a:rPr>
              <a:t>HTML · CSS · JavaScript</a:t>
            </a:r>
          </a:p>
          <a:p>
            <a:pPr algn="ctr">
              <a:defRPr sz="1950">
                <a:solidFill>
                  <a:srgbClr val="20344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>
                <a:solidFill>
                  <a:srgbClr val="20344F"/>
                </a:solidFill>
                <a:latin typeface="Microsoft YaHei"/>
                <a:ea typeface="Microsoft YaHei"/>
                <a:cs typeface="Microsoft YaHei"/>
              </a:rPr>
              <a:t>AntV X6 · Markdown</a:t>
            </a:r>
          </a:p>
        </p:txBody>
      </p:sp>
      <p:sp>
        <p:nvSpPr>
          <p:cNvPr id="7" name="diagram-node">
            <a:extLst>
              <a:ext uri="{FF2B5EF4-FFF2-40B4-BE49-F238E27FC236}">
                <a16:creationId xmlns:a16="http://schemas.microsoft.com/office/drawing/2014/main" id="{95C2F59F-C04A-44A5-A61E-41CFDC9ED185}"/>
              </a:ext>
            </a:extLst>
          </p:cNvPr>
          <p:cNvSpPr>
            <a:spLocks noGrp="1"/>
          </p:cNvSpPr>
          <p:nvPr/>
        </p:nvSpPr>
        <p:spPr>
          <a:xfrm>
            <a:off x="4352925" y="2028825"/>
            <a:ext cx="3486150" cy="1047750"/>
          </a:xfrm>
          <a:prstGeom prst="roundRect">
            <a:avLst>
              <a:gd name="adj" fmla="val 9091"/>
            </a:avLst>
          </a:prstGeom>
          <a:solidFill>
            <a:srgbClr val="E7EFFF"/>
          </a:solidFill>
          <a:ln w="11430">
            <a:solidFill>
              <a:srgbClr val="BBCBDE"/>
            </a:solidFill>
          </a:ln>
        </p:spPr>
        <p:txBody>
          <a:bodyPr lIns="95250" tIns="76200" rIns="95250" bIns="76200" anchor="ctr">
            <a:noAutofit/>
          </a:bodyPr>
          <a:lstStyle/>
          <a:p>
            <a:pPr algn="ctr">
              <a:defRPr sz="1950">
                <a:solidFill>
                  <a:srgbClr val="20344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>
                <a:solidFill>
                  <a:srgbClr val="20344F"/>
                </a:solidFill>
                <a:latin typeface="Microsoft YaHei"/>
                <a:ea typeface="Microsoft YaHei"/>
                <a:cs typeface="Microsoft YaHei"/>
              </a:rPr>
              <a:t>Python 3.11–3.12</a:t>
            </a:r>
          </a:p>
          <a:p>
            <a:pPr algn="ctr">
              <a:defRPr sz="1950">
                <a:solidFill>
                  <a:srgbClr val="20344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>
                <a:solidFill>
                  <a:srgbClr val="20344F"/>
                </a:solidFill>
                <a:latin typeface="Microsoft YaHei"/>
                <a:ea typeface="Microsoft YaHei"/>
                <a:cs typeface="Microsoft YaHei"/>
              </a:rPr>
              <a:t>FastAPI · Pydantic 2</a:t>
            </a:r>
          </a:p>
        </p:txBody>
      </p:sp>
      <p:sp>
        <p:nvSpPr>
          <p:cNvPr id="8" name="diagram-node">
            <a:extLst>
              <a:ext uri="{FF2B5EF4-FFF2-40B4-BE49-F238E27FC236}">
                <a16:creationId xmlns:a16="http://schemas.microsoft.com/office/drawing/2014/main" id="{4C583B8F-BD96-429F-B744-E26FE73A0684}"/>
              </a:ext>
            </a:extLst>
          </p:cNvPr>
          <p:cNvSpPr>
            <a:spLocks noGrp="1"/>
          </p:cNvSpPr>
          <p:nvPr/>
        </p:nvSpPr>
        <p:spPr>
          <a:xfrm>
            <a:off x="8096250" y="2028825"/>
            <a:ext cx="3486150" cy="1047750"/>
          </a:xfrm>
          <a:prstGeom prst="roundRect">
            <a:avLst>
              <a:gd name="adj" fmla="val 9091"/>
            </a:avLst>
          </a:prstGeom>
          <a:solidFill>
            <a:srgbClr val="E7EFFF"/>
          </a:solidFill>
          <a:ln w="11430">
            <a:solidFill>
              <a:srgbClr val="BBCBDE"/>
            </a:solidFill>
          </a:ln>
        </p:spPr>
        <p:txBody>
          <a:bodyPr lIns="95250" tIns="76200" rIns="95250" bIns="76200" anchor="ctr">
            <a:noAutofit/>
          </a:bodyPr>
          <a:lstStyle/>
          <a:p>
            <a:pPr algn="ctr">
              <a:defRPr sz="1950">
                <a:solidFill>
                  <a:srgbClr val="20344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>
                <a:solidFill>
                  <a:srgbClr val="20344F"/>
                </a:solidFill>
                <a:latin typeface="Microsoft YaHei"/>
                <a:ea typeface="Microsoft YaHei"/>
                <a:cs typeface="Microsoft YaHei"/>
              </a:rPr>
              <a:t>Decimal · 领域规则</a:t>
            </a:r>
          </a:p>
          <a:p>
            <a:pPr algn="ctr">
              <a:defRPr sz="1950">
                <a:solidFill>
                  <a:srgbClr val="20344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>
                <a:solidFill>
                  <a:srgbClr val="20344F"/>
                </a:solidFill>
                <a:latin typeface="Microsoft YaHei"/>
                <a:ea typeface="Microsoft YaHei"/>
                <a:cs typeface="Microsoft YaHei"/>
              </a:rPr>
              <a:t>SQLite / PostgreSQL</a:t>
            </a:r>
          </a:p>
        </p:txBody>
      </p:sp>
      <p:cxnSp>
        <p:nvCxnSpPr>
          <p:cNvPr id="22" name="直接箭头连接符 21"/>
          <p:cNvCxnSpPr>
            <a:stCxn id="6" idx="3"/>
            <a:endCxn id="7" idx="1"/>
          </p:cNvCxnSpPr>
          <p:nvPr/>
        </p:nvCxnSpPr>
        <p:spPr>
          <a:xfrm>
            <a:off x="4095750" y="2552700"/>
            <a:ext cx="257175" cy="0"/>
          </a:xfrm>
          <a:prstGeom prst="straightConnector1">
            <a:avLst/>
          </a:prstGeom>
          <a:ln w="19050">
            <a:solidFill>
              <a:srgbClr val="6C829D"/>
            </a:solidFill>
            <a:headEnd type="triangle" w="sm" len="sm"/>
          </a:ln>
        </p:spPr>
      </p:cxnSp>
      <p:cxnSp>
        <p:nvCxnSpPr>
          <p:cNvPr id="23" name="直接箭头连接符 22"/>
          <p:cNvCxnSpPr>
            <a:stCxn id="7" idx="3"/>
            <a:endCxn id="8" idx="1"/>
          </p:cNvCxnSpPr>
          <p:nvPr/>
        </p:nvCxnSpPr>
        <p:spPr>
          <a:xfrm>
            <a:off x="7839075" y="2552700"/>
            <a:ext cx="257175" cy="0"/>
          </a:xfrm>
          <a:prstGeom prst="straightConnector1">
            <a:avLst/>
          </a:prstGeom>
          <a:ln w="19050">
            <a:solidFill>
              <a:srgbClr val="6C829D"/>
            </a:solidFill>
            <a:headEnd type="triangle" w="sm" len="sm"/>
          </a:ln>
        </p:spPr>
      </p:cxnSp>
      <p:sp>
        <p:nvSpPr>
          <p:cNvPr id="11" name="text">
            <a:extLst>
              <a:ext uri="{FF2B5EF4-FFF2-40B4-BE49-F238E27FC236}">
                <a16:creationId xmlns:a16="http://schemas.microsoft.com/office/drawing/2014/main" id="{52D20922-9BEB-406C-AF76-F243DF992D69}"/>
              </a:ext>
            </a:extLst>
          </p:cNvPr>
          <p:cNvSpPr>
            <a:spLocks noGrp="1"/>
          </p:cNvSpPr>
          <p:nvPr/>
        </p:nvSpPr>
        <p:spPr>
          <a:xfrm>
            <a:off x="2095500" y="3371850"/>
            <a:ext cx="2190750" cy="3810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l">
              <a:defRPr sz="1875" b="0">
                <a:solidFill>
                  <a:srgbClr val="2867B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2867BF"/>
                </a:solidFill>
                <a:latin typeface="Microsoft YaHei"/>
                <a:ea typeface="Microsoft YaHei"/>
                <a:cs typeface="Microsoft YaHei"/>
              </a:rPr>
              <a:t>HTTP / SSE</a:t>
            </a:r>
          </a:p>
        </p:txBody>
      </p:sp>
      <p:sp>
        <p:nvSpPr>
          <p:cNvPr id="12" name="text">
            <a:extLst>
              <a:ext uri="{FF2B5EF4-FFF2-40B4-BE49-F238E27FC236}">
                <a16:creationId xmlns:a16="http://schemas.microsoft.com/office/drawing/2014/main" id="{CAFC93E6-D10B-49F6-A5B5-C9EC95EC63D7}"/>
              </a:ext>
            </a:extLst>
          </p:cNvPr>
          <p:cNvSpPr>
            <a:spLocks noGrp="1"/>
          </p:cNvSpPr>
          <p:nvPr/>
        </p:nvSpPr>
        <p:spPr>
          <a:xfrm>
            <a:off x="5905500" y="3371850"/>
            <a:ext cx="2476500" cy="3810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l">
              <a:defRPr sz="1875" b="0">
                <a:solidFill>
                  <a:srgbClr val="2867B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2867BF"/>
                </a:solidFill>
                <a:latin typeface="Microsoft YaHei"/>
                <a:ea typeface="Microsoft YaHei"/>
                <a:cs typeface="Microsoft YaHei"/>
              </a:rPr>
              <a:t>用户归属 / 版本</a:t>
            </a:r>
          </a:p>
        </p:txBody>
      </p:sp>
      <p:sp>
        <p:nvSpPr>
          <p:cNvPr id="13" name="text">
            <a:extLst>
              <a:ext uri="{FF2B5EF4-FFF2-40B4-BE49-F238E27FC236}">
                <a16:creationId xmlns:a16="http://schemas.microsoft.com/office/drawing/2014/main" id="{17C9B983-2D0F-4A44-AF10-7A409AD45861}"/>
              </a:ext>
            </a:extLst>
          </p:cNvPr>
          <p:cNvSpPr>
            <a:spLocks noGrp="1"/>
          </p:cNvSpPr>
          <p:nvPr/>
        </p:nvSpPr>
        <p:spPr>
          <a:xfrm>
            <a:off x="609600" y="4114800"/>
            <a:ext cx="10972800" cy="4953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l">
              <a:defRPr sz="2100" b="0">
                <a:solidFill>
                  <a:srgbClr val="20344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20344F"/>
                </a:solidFill>
                <a:latin typeface="Microsoft YaHei"/>
                <a:ea typeface="Microsoft YaHei"/>
                <a:cs typeface="Microsoft YaHei"/>
              </a:rPr>
              <a:t>Pillow · RapidOCR · OpenPyXL · python-multipart · Uvicorn</a:t>
            </a:r>
          </a:p>
        </p:txBody>
      </p:sp>
    </p:spTree>
    <p:extLst>
      <p:ext uri="{BB962C8B-B14F-4D97-AF65-F5344CB8AC3E}">
        <p14:creationId xmlns:p14="http://schemas.microsoft.com/office/powerpoint/2010/main" val="1997237923"/>
      </p:ext>
    </p:extLst>
  </p:cSld>
  <p:clrMapOvr>
    <a:masterClrMapping/>
  </p:clrMapOvr>
  <p:transition>
    <p:fade thruBlk="1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6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460"/>
                            </p:stCondLst>
                            <p:childTnLst>
                              <p:par>
                                <p:cTn id="9" presetID="10" presetClass="entr" presetSubtype="0" fill="hold" grpId="0" nodeType="afterEffect">
                                  <p:stCondLst>
                                    <p:cond delay="6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4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920"/>
                            </p:stCondLst>
                            <p:childTnLst>
                              <p:par>
                                <p:cTn id="13" presetID="10" presetClass="entr" presetSubtype="0" fill="hold" grpId="0" nodeType="afterEffect">
                                  <p:stCondLst>
                                    <p:cond delay="6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4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1380"/>
                            </p:stCondLst>
                            <p:childTnLst>
                              <p:par>
                                <p:cTn id="17" presetID="10" presetClass="entr" presetSubtype="0" fill="hold" grpId="0" nodeType="afterEffect">
                                  <p:stCondLst>
                                    <p:cond delay="6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4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1840"/>
                            </p:stCondLst>
                            <p:childTnLst>
                              <p:par>
                                <p:cTn id="21" presetID="10" presetClass="entr" presetSubtype="0" fill="hold" grpId="0" nodeType="afterEffect">
                                  <p:stCondLst>
                                    <p:cond delay="6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4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2300"/>
                            </p:stCondLst>
                            <p:childTnLst>
                              <p:par>
                                <p:cTn id="25" presetID="10" presetClass="entr" presetSubtype="0" fill="hold" nodeType="afterEffect">
                                  <p:stCondLst>
                                    <p:cond delay="6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4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>
                            <p:stCondLst>
                              <p:cond delay="2760"/>
                            </p:stCondLst>
                            <p:childTnLst>
                              <p:par>
                                <p:cTn id="29" presetID="10" presetClass="entr" presetSubtype="0" fill="hold" nodeType="afterEffect">
                                  <p:stCondLst>
                                    <p:cond delay="6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4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2" fill="hold">
                            <p:stCondLst>
                              <p:cond delay="3220"/>
                            </p:stCondLst>
                            <p:childTnLst>
                              <p:par>
                                <p:cTn id="33" presetID="10" presetClass="entr" presetSubtype="0" fill="hold" grpId="0" nodeType="afterEffect">
                                  <p:stCondLst>
                                    <p:cond delay="6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4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6" fill="hold">
                            <p:stCondLst>
                              <p:cond delay="3680"/>
                            </p:stCondLst>
                            <p:childTnLst>
                              <p:par>
                                <p:cTn id="37" presetID="10" presetClass="entr" presetSubtype="0" fill="hold" grpId="0" nodeType="afterEffect">
                                  <p:stCondLst>
                                    <p:cond delay="6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4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0" fill="hold">
                            <p:stCondLst>
                              <p:cond delay="4140"/>
                            </p:stCondLst>
                            <p:childTnLst>
                              <p:par>
                                <p:cTn id="41" presetID="10" presetClass="entr" presetSubtype="0" fill="hold" grpId="0" nodeType="afterEffect">
                                  <p:stCondLst>
                                    <p:cond delay="6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4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4" fill="hold">
                            <p:stCondLst>
                              <p:cond delay="4600"/>
                            </p:stCondLst>
                            <p:childTnLst>
                              <p:par>
                                <p:cTn id="45" presetID="10" presetClass="entr" presetSubtype="0" fill="hold" grpId="0" nodeType="afterEffect">
                                  <p:stCondLst>
                                    <p:cond delay="6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4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8" fill="hold">
                            <p:stCondLst>
                              <p:cond delay="5060"/>
                            </p:stCondLst>
                            <p:childTnLst>
                              <p:par>
                                <p:cTn id="49" presetID="10" presetClass="entr" presetSubtype="0" fill="hold" grpId="0" nodeType="afterEffect">
                                  <p:stCondLst>
                                    <p:cond delay="6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1" dur="4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2" fill="hold">
                            <p:stCondLst>
                              <p:cond delay="5520"/>
                            </p:stCondLst>
                            <p:childTnLst>
                              <p:par>
                                <p:cTn id="53" presetID="10" presetClass="entr" presetSubtype="0" fill="hold" grpId="0" nodeType="afterEffect">
                                  <p:stCondLst>
                                    <p:cond delay="6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4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/>
      <p:bldP spid="2" grpId="0"/>
      <p:bldP spid="3" grpId="0"/>
      <p:bldP spid="4" grpId="0"/>
      <p:bldP spid="5" grpId="0"/>
      <p:bldP spid="6" grpId="0" animBg="1"/>
      <p:bldP spid="7" grpId="0" animBg="1"/>
      <p:bldP spid="8" grpId="0" animBg="1"/>
      <p:bldP spid="11" grpId="0"/>
      <p:bldP spid="12" grpId="0"/>
      <p:bldP spid="13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slide-title">
            <a:extLst>
              <a:ext uri="{FF2B5EF4-FFF2-40B4-BE49-F238E27FC236}">
                <a16:creationId xmlns:a16="http://schemas.microsoft.com/office/drawing/2014/main" id="{4F7AFA15-23B6-49DA-8025-35DEA8457177}"/>
              </a:ext>
            </a:extLst>
          </p:cNvPr>
          <p:cNvSpPr>
            <a:spLocks noGrp="1"/>
          </p:cNvSpPr>
          <p:nvPr/>
        </p:nvSpPr>
        <p:spPr>
          <a:xfrm>
            <a:off x="609600" y="419100"/>
            <a:ext cx="10972800" cy="6096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l">
              <a:defRPr sz="3000" b="1">
                <a:solidFill>
                  <a:srgbClr val="20344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000" b="1">
                <a:solidFill>
                  <a:srgbClr val="20344F"/>
                </a:solidFill>
                <a:latin typeface="Microsoft YaHei"/>
                <a:ea typeface="Microsoft YaHei"/>
                <a:cs typeface="Microsoft YaHei"/>
              </a:rPr>
              <a:t>数据接入与确认输入</a:t>
            </a:r>
          </a:p>
        </p:txBody>
      </p:sp>
      <p:sp>
        <p:nvSpPr>
          <p:cNvPr id="2" name="document-heading">
            <a:extLst>
              <a:ext uri="{FF2B5EF4-FFF2-40B4-BE49-F238E27FC236}">
                <a16:creationId xmlns:a16="http://schemas.microsoft.com/office/drawing/2014/main" id="{64B5B6D7-05F5-4FC2-A48D-504F64EE5D8A}"/>
              </a:ext>
            </a:extLst>
          </p:cNvPr>
          <p:cNvSpPr>
            <a:spLocks noGrp="1"/>
          </p:cNvSpPr>
          <p:nvPr/>
        </p:nvSpPr>
        <p:spPr>
          <a:xfrm>
            <a:off x="609600" y="1085850"/>
            <a:ext cx="10972800" cy="3238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l">
              <a:defRPr sz="1575" b="0">
                <a:solidFill>
                  <a:srgbClr val="566C8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566C83"/>
                </a:solidFill>
                <a:latin typeface="Microsoft YaHei"/>
                <a:ea typeface="Microsoft YaHei"/>
                <a:cs typeface="Microsoft YaHei"/>
              </a:rPr>
              <a:t>5.2.1 前端系统 / 5.2.3 AI 服务开发系统</a:t>
            </a:r>
          </a:p>
        </p:txBody>
      </p:sp>
      <p:sp>
        <p:nvSpPr>
          <p:cNvPr id="3" name="figure-introduction">
            <a:extLst>
              <a:ext uri="{FF2B5EF4-FFF2-40B4-BE49-F238E27FC236}">
                <a16:creationId xmlns:a16="http://schemas.microsoft.com/office/drawing/2014/main" id="{7202C17F-D680-4BE0-B257-1FD94DBF71A3}"/>
              </a:ext>
            </a:extLst>
          </p:cNvPr>
          <p:cNvSpPr>
            <a:spLocks noGrp="1"/>
          </p:cNvSpPr>
          <p:nvPr/>
        </p:nvSpPr>
        <p:spPr>
          <a:xfrm>
            <a:off x="609600" y="5524500"/>
            <a:ext cx="10972800" cy="8382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l">
              <a:defRPr sz="1725" b="0">
                <a:solidFill>
                  <a:srgbClr val="566C8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566C83"/>
                </a:solidFill>
                <a:latin typeface="Microsoft YaHei"/>
                <a:ea typeface="Microsoft YaHei"/>
                <a:cs typeface="Microsoft YaHei"/>
              </a:rPr>
              <a:t>外部查询由 Provider 统一字段和来源状态；图片与表格经识别或导入形成待确认资料。语言模型产生意图与字段候选，用户确认后才形成计算上下文。</a:t>
            </a:r>
          </a:p>
        </p:txBody>
      </p:sp>
      <p:sp>
        <p:nvSpPr>
          <p:cNvPr id="4" name="footer">
            <a:extLst>
              <a:ext uri="{FF2B5EF4-FFF2-40B4-BE49-F238E27FC236}">
                <a16:creationId xmlns:a16="http://schemas.microsoft.com/office/drawing/2014/main" id="{4A5A90CE-F574-42B0-A5C7-8AC9896014F9}"/>
              </a:ext>
            </a:extLst>
          </p:cNvPr>
          <p:cNvSpPr>
            <a:spLocks noGrp="1"/>
          </p:cNvSpPr>
          <p:nvPr/>
        </p:nvSpPr>
        <p:spPr>
          <a:xfrm>
            <a:off x="609600" y="6477000"/>
            <a:ext cx="9144000" cy="2381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l">
              <a:defRPr sz="1275" b="0">
                <a:solidFill>
                  <a:srgbClr val="566C8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566C83"/>
                </a:solidFill>
                <a:latin typeface="Microsoft YaHei"/>
                <a:ea typeface="Microsoft YaHei"/>
                <a:cs typeface="Microsoft YaHei"/>
              </a:rPr>
              <a:t>Prism · 系统与核心技术</a:t>
            </a:r>
          </a:p>
        </p:txBody>
      </p:sp>
      <p:sp>
        <p:nvSpPr>
          <p:cNvPr id="5" name="page-number">
            <a:extLst>
              <a:ext uri="{FF2B5EF4-FFF2-40B4-BE49-F238E27FC236}">
                <a16:creationId xmlns:a16="http://schemas.microsoft.com/office/drawing/2014/main" id="{37F2322C-9D57-4DC5-9823-F7C3443B27AE}"/>
              </a:ext>
            </a:extLst>
          </p:cNvPr>
          <p:cNvSpPr>
            <a:spLocks noGrp="1"/>
          </p:cNvSpPr>
          <p:nvPr/>
        </p:nvSpPr>
        <p:spPr>
          <a:xfrm>
            <a:off x="11049000" y="6477000"/>
            <a:ext cx="523875" cy="2381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r">
              <a:defRPr sz="1275" b="0">
                <a:solidFill>
                  <a:srgbClr val="566C8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566C83"/>
                </a:solidFill>
                <a:latin typeface="Microsoft YaHei"/>
                <a:ea typeface="Microsoft YaHei"/>
                <a:cs typeface="Microsoft YaHei"/>
              </a:rPr>
              <a:t>5</a:t>
            </a:r>
          </a:p>
        </p:txBody>
      </p:sp>
      <p:sp>
        <p:nvSpPr>
          <p:cNvPr id="6" name="diagram-node">
            <a:extLst>
              <a:ext uri="{FF2B5EF4-FFF2-40B4-BE49-F238E27FC236}">
                <a16:creationId xmlns:a16="http://schemas.microsoft.com/office/drawing/2014/main" id="{D2C675B8-C907-4305-A110-2A31494DD3B5}"/>
              </a:ext>
            </a:extLst>
          </p:cNvPr>
          <p:cNvSpPr>
            <a:spLocks noGrp="1"/>
          </p:cNvSpPr>
          <p:nvPr/>
        </p:nvSpPr>
        <p:spPr>
          <a:xfrm>
            <a:off x="609600" y="1809750"/>
            <a:ext cx="3486150" cy="1047750"/>
          </a:xfrm>
          <a:prstGeom prst="roundRect">
            <a:avLst>
              <a:gd name="adj" fmla="val 9091"/>
            </a:avLst>
          </a:prstGeom>
          <a:solidFill>
            <a:srgbClr val="E4F4ED"/>
          </a:solidFill>
          <a:ln w="11430">
            <a:solidFill>
              <a:srgbClr val="BBCBDE"/>
            </a:solidFill>
          </a:ln>
        </p:spPr>
        <p:txBody>
          <a:bodyPr lIns="95250" tIns="76200" rIns="95250" bIns="76200" anchor="ctr">
            <a:noAutofit/>
          </a:bodyPr>
          <a:lstStyle/>
          <a:p>
            <a:pPr algn="ctr">
              <a:defRPr sz="1950">
                <a:solidFill>
                  <a:srgbClr val="20344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>
                <a:solidFill>
                  <a:srgbClr val="20344F"/>
                </a:solidFill>
                <a:latin typeface="Microsoft YaHei"/>
                <a:ea typeface="Microsoft YaHei"/>
                <a:cs typeface="Microsoft YaHei"/>
              </a:rPr>
              <a:t>问财 SkillHub</a:t>
            </a:r>
          </a:p>
          <a:p>
            <a:pPr algn="ctr">
              <a:defRPr sz="1950">
                <a:solidFill>
                  <a:srgbClr val="20344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>
                <a:solidFill>
                  <a:srgbClr val="20344F"/>
                </a:solidFill>
                <a:latin typeface="Microsoft YaHei"/>
                <a:ea typeface="Microsoft YaHei"/>
                <a:cs typeface="Microsoft YaHei"/>
              </a:rPr>
              <a:t>金融 Provider</a:t>
            </a:r>
          </a:p>
        </p:txBody>
      </p:sp>
      <p:sp>
        <p:nvSpPr>
          <p:cNvPr id="7" name="diagram-node">
            <a:extLst>
              <a:ext uri="{FF2B5EF4-FFF2-40B4-BE49-F238E27FC236}">
                <a16:creationId xmlns:a16="http://schemas.microsoft.com/office/drawing/2014/main" id="{66F2536E-B175-4C4B-90FC-22B638D54322}"/>
              </a:ext>
            </a:extLst>
          </p:cNvPr>
          <p:cNvSpPr>
            <a:spLocks noGrp="1"/>
          </p:cNvSpPr>
          <p:nvPr/>
        </p:nvSpPr>
        <p:spPr>
          <a:xfrm>
            <a:off x="4352925" y="1809750"/>
            <a:ext cx="3486150" cy="1047750"/>
          </a:xfrm>
          <a:prstGeom prst="roundRect">
            <a:avLst>
              <a:gd name="adj" fmla="val 9091"/>
            </a:avLst>
          </a:prstGeom>
          <a:solidFill>
            <a:srgbClr val="E4F4ED"/>
          </a:solidFill>
          <a:ln w="11430">
            <a:solidFill>
              <a:srgbClr val="BBCBDE"/>
            </a:solidFill>
          </a:ln>
        </p:spPr>
        <p:txBody>
          <a:bodyPr lIns="95250" tIns="76200" rIns="95250" bIns="76200" anchor="ctr">
            <a:noAutofit/>
          </a:bodyPr>
          <a:lstStyle/>
          <a:p>
            <a:pPr algn="ctr">
              <a:defRPr sz="1950">
                <a:solidFill>
                  <a:srgbClr val="20344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>
                <a:solidFill>
                  <a:srgbClr val="20344F"/>
                </a:solidFill>
                <a:latin typeface="Microsoft YaHei"/>
                <a:ea typeface="Microsoft YaHei"/>
                <a:cs typeface="Microsoft YaHei"/>
              </a:rPr>
              <a:t>来源 · 单位 · 时间</a:t>
            </a:r>
          </a:p>
          <a:p>
            <a:pPr algn="ctr">
              <a:defRPr sz="1950">
                <a:solidFill>
                  <a:srgbClr val="20344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>
                <a:solidFill>
                  <a:srgbClr val="20344F"/>
                </a:solidFill>
                <a:latin typeface="Microsoft YaHei"/>
                <a:ea typeface="Microsoft YaHei"/>
                <a:cs typeface="Microsoft YaHei"/>
              </a:rPr>
              <a:t>四类结果状态</a:t>
            </a:r>
          </a:p>
        </p:txBody>
      </p:sp>
      <p:sp>
        <p:nvSpPr>
          <p:cNvPr id="8" name="diagram-node">
            <a:extLst>
              <a:ext uri="{FF2B5EF4-FFF2-40B4-BE49-F238E27FC236}">
                <a16:creationId xmlns:a16="http://schemas.microsoft.com/office/drawing/2014/main" id="{2E8D7C16-3696-4F7F-95DD-EB0E66825071}"/>
              </a:ext>
            </a:extLst>
          </p:cNvPr>
          <p:cNvSpPr>
            <a:spLocks noGrp="1"/>
          </p:cNvSpPr>
          <p:nvPr/>
        </p:nvSpPr>
        <p:spPr>
          <a:xfrm>
            <a:off x="8096250" y="1809750"/>
            <a:ext cx="3486150" cy="1047750"/>
          </a:xfrm>
          <a:prstGeom prst="roundRect">
            <a:avLst>
              <a:gd name="adj" fmla="val 9091"/>
            </a:avLst>
          </a:prstGeom>
          <a:solidFill>
            <a:srgbClr val="E4F4ED"/>
          </a:solidFill>
          <a:ln w="11430">
            <a:solidFill>
              <a:srgbClr val="BBCBDE"/>
            </a:solidFill>
          </a:ln>
        </p:spPr>
        <p:txBody>
          <a:bodyPr lIns="95250" tIns="76200" rIns="95250" bIns="76200" anchor="ctr">
            <a:noAutofit/>
          </a:bodyPr>
          <a:lstStyle/>
          <a:p>
            <a:pPr algn="ctr">
              <a:defRPr sz="1950">
                <a:solidFill>
                  <a:srgbClr val="20344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>
                <a:solidFill>
                  <a:srgbClr val="20344F"/>
                </a:solidFill>
                <a:latin typeface="Microsoft YaHei"/>
                <a:ea typeface="Microsoft YaHei"/>
                <a:cs typeface="Microsoft YaHei"/>
              </a:rPr>
              <a:t>Evidence</a:t>
            </a:r>
          </a:p>
          <a:p>
            <a:pPr algn="ctr">
              <a:defRPr sz="1950">
                <a:solidFill>
                  <a:srgbClr val="20344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>
                <a:solidFill>
                  <a:srgbClr val="20344F"/>
                </a:solidFill>
                <a:latin typeface="Microsoft YaHei"/>
                <a:ea typeface="Microsoft YaHei"/>
                <a:cs typeface="Microsoft YaHei"/>
              </a:rPr>
              <a:t>研究任务输入</a:t>
            </a:r>
          </a:p>
        </p:txBody>
      </p:sp>
      <p:cxnSp>
        <p:nvCxnSpPr>
          <p:cNvPr id="24" name="直接箭头连接符 23"/>
          <p:cNvCxnSpPr>
            <a:stCxn id="6" idx="3"/>
            <a:endCxn id="7" idx="1"/>
          </p:cNvCxnSpPr>
          <p:nvPr/>
        </p:nvCxnSpPr>
        <p:spPr>
          <a:xfrm>
            <a:off x="4095750" y="2333625"/>
            <a:ext cx="257175" cy="0"/>
          </a:xfrm>
          <a:prstGeom prst="straightConnector1">
            <a:avLst/>
          </a:prstGeom>
          <a:ln w="19050">
            <a:solidFill>
              <a:srgbClr val="6C829D"/>
            </a:solidFill>
            <a:headEnd type="triangle" w="sm" len="sm"/>
          </a:ln>
        </p:spPr>
      </p:cxnSp>
      <p:cxnSp>
        <p:nvCxnSpPr>
          <p:cNvPr id="25" name="直接箭头连接符 24"/>
          <p:cNvCxnSpPr>
            <a:stCxn id="7" idx="3"/>
            <a:endCxn id="8" idx="1"/>
          </p:cNvCxnSpPr>
          <p:nvPr/>
        </p:nvCxnSpPr>
        <p:spPr>
          <a:xfrm>
            <a:off x="7839075" y="2333625"/>
            <a:ext cx="257175" cy="0"/>
          </a:xfrm>
          <a:prstGeom prst="straightConnector1">
            <a:avLst/>
          </a:prstGeom>
          <a:ln w="19050">
            <a:solidFill>
              <a:srgbClr val="6C829D"/>
            </a:solidFill>
            <a:headEnd type="triangle" w="sm" len="sm"/>
          </a:ln>
        </p:spPr>
      </p:cxnSp>
      <p:sp>
        <p:nvSpPr>
          <p:cNvPr id="11" name="diagram-node">
            <a:extLst>
              <a:ext uri="{FF2B5EF4-FFF2-40B4-BE49-F238E27FC236}">
                <a16:creationId xmlns:a16="http://schemas.microsoft.com/office/drawing/2014/main" id="{AACA2C05-8FCF-4A5A-8A70-1C739AF370D4}"/>
              </a:ext>
            </a:extLst>
          </p:cNvPr>
          <p:cNvSpPr>
            <a:spLocks noGrp="1"/>
          </p:cNvSpPr>
          <p:nvPr/>
        </p:nvSpPr>
        <p:spPr>
          <a:xfrm>
            <a:off x="609600" y="3714750"/>
            <a:ext cx="3486150" cy="1047750"/>
          </a:xfrm>
          <a:prstGeom prst="roundRect">
            <a:avLst>
              <a:gd name="adj" fmla="val 9091"/>
            </a:avLst>
          </a:prstGeom>
          <a:solidFill>
            <a:srgbClr val="E7EFFF"/>
          </a:solidFill>
          <a:ln w="11430">
            <a:solidFill>
              <a:srgbClr val="BBCBDE"/>
            </a:solidFill>
          </a:ln>
        </p:spPr>
        <p:txBody>
          <a:bodyPr lIns="95250" tIns="76200" rIns="95250" bIns="76200" anchor="ctr">
            <a:noAutofit/>
          </a:bodyPr>
          <a:lstStyle/>
          <a:p>
            <a:pPr algn="ctr">
              <a:defRPr sz="1950">
                <a:solidFill>
                  <a:srgbClr val="20344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>
                <a:solidFill>
                  <a:srgbClr val="20344F"/>
                </a:solidFill>
                <a:latin typeface="Microsoft YaHei"/>
                <a:ea typeface="Microsoft YaHei"/>
                <a:cs typeface="Microsoft YaHei"/>
              </a:rPr>
              <a:t>截图 / Excel / 文本</a:t>
            </a:r>
          </a:p>
          <a:p>
            <a:pPr algn="ctr">
              <a:defRPr sz="1950">
                <a:solidFill>
                  <a:srgbClr val="20344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>
                <a:solidFill>
                  <a:srgbClr val="20344F"/>
                </a:solidFill>
                <a:latin typeface="Microsoft YaHei"/>
                <a:ea typeface="Microsoft YaHei"/>
                <a:cs typeface="Microsoft YaHei"/>
              </a:rPr>
              <a:t>OCR 与文件解析</a:t>
            </a:r>
          </a:p>
        </p:txBody>
      </p:sp>
      <p:sp>
        <p:nvSpPr>
          <p:cNvPr id="12" name="diagram-node">
            <a:extLst>
              <a:ext uri="{FF2B5EF4-FFF2-40B4-BE49-F238E27FC236}">
                <a16:creationId xmlns:a16="http://schemas.microsoft.com/office/drawing/2014/main" id="{A401A111-5D30-4641-8A2C-7ADCCD663034}"/>
              </a:ext>
            </a:extLst>
          </p:cNvPr>
          <p:cNvSpPr>
            <a:spLocks noGrp="1"/>
          </p:cNvSpPr>
          <p:nvPr/>
        </p:nvSpPr>
        <p:spPr>
          <a:xfrm>
            <a:off x="4352925" y="3714750"/>
            <a:ext cx="3486150" cy="1047750"/>
          </a:xfrm>
          <a:prstGeom prst="roundRect">
            <a:avLst>
              <a:gd name="adj" fmla="val 9091"/>
            </a:avLst>
          </a:prstGeom>
          <a:solidFill>
            <a:srgbClr val="E7EFFF"/>
          </a:solidFill>
          <a:ln w="11430">
            <a:solidFill>
              <a:srgbClr val="BBCBDE"/>
            </a:solidFill>
          </a:ln>
        </p:spPr>
        <p:txBody>
          <a:bodyPr lIns="95250" tIns="76200" rIns="95250" bIns="76200" anchor="ctr">
            <a:noAutofit/>
          </a:bodyPr>
          <a:lstStyle/>
          <a:p>
            <a:pPr algn="ctr">
              <a:defRPr sz="1950">
                <a:solidFill>
                  <a:srgbClr val="20344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>
                <a:solidFill>
                  <a:srgbClr val="20344F"/>
                </a:solidFill>
                <a:latin typeface="Microsoft YaHei"/>
                <a:ea typeface="Microsoft YaHei"/>
                <a:cs typeface="Microsoft YaHei"/>
              </a:rPr>
              <a:t>证券 · 数量 · 现金</a:t>
            </a:r>
          </a:p>
          <a:p>
            <a:pPr algn="ctr">
              <a:defRPr sz="1950">
                <a:solidFill>
                  <a:srgbClr val="20344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>
                <a:solidFill>
                  <a:srgbClr val="20344F"/>
                </a:solidFill>
                <a:latin typeface="Microsoft YaHei"/>
                <a:ea typeface="Microsoft YaHei"/>
                <a:cs typeface="Microsoft YaHei"/>
              </a:rPr>
              <a:t>待确认字段</a:t>
            </a:r>
          </a:p>
        </p:txBody>
      </p:sp>
      <p:sp>
        <p:nvSpPr>
          <p:cNvPr id="13" name="diagram-node">
            <a:extLst>
              <a:ext uri="{FF2B5EF4-FFF2-40B4-BE49-F238E27FC236}">
                <a16:creationId xmlns:a16="http://schemas.microsoft.com/office/drawing/2014/main" id="{D05C2B6D-94D6-4C9C-BFF1-B28987E10573}"/>
              </a:ext>
            </a:extLst>
          </p:cNvPr>
          <p:cNvSpPr>
            <a:spLocks noGrp="1"/>
          </p:cNvSpPr>
          <p:nvPr/>
        </p:nvSpPr>
        <p:spPr>
          <a:xfrm>
            <a:off x="8096250" y="3714750"/>
            <a:ext cx="3486150" cy="1047750"/>
          </a:xfrm>
          <a:prstGeom prst="roundRect">
            <a:avLst>
              <a:gd name="adj" fmla="val 9091"/>
            </a:avLst>
          </a:prstGeom>
          <a:solidFill>
            <a:srgbClr val="E7EFFF"/>
          </a:solidFill>
          <a:ln w="11430">
            <a:solidFill>
              <a:srgbClr val="BBCBDE"/>
            </a:solidFill>
          </a:ln>
        </p:spPr>
        <p:txBody>
          <a:bodyPr lIns="95250" tIns="76200" rIns="95250" bIns="76200" anchor="ctr">
            <a:noAutofit/>
          </a:bodyPr>
          <a:lstStyle/>
          <a:p>
            <a:pPr algn="ctr">
              <a:defRPr sz="1950">
                <a:solidFill>
                  <a:srgbClr val="20344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>
                <a:solidFill>
                  <a:srgbClr val="20344F"/>
                </a:solidFill>
                <a:latin typeface="Microsoft YaHei"/>
                <a:ea typeface="Microsoft YaHei"/>
                <a:cs typeface="Microsoft YaHei"/>
              </a:rPr>
              <a:t>用户确认</a:t>
            </a:r>
          </a:p>
          <a:p>
            <a:pPr algn="ctr">
              <a:defRPr sz="1950">
                <a:solidFill>
                  <a:srgbClr val="20344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>
                <a:solidFill>
                  <a:srgbClr val="20344F"/>
                </a:solidFill>
                <a:latin typeface="Microsoft YaHei"/>
                <a:ea typeface="Microsoft YaHei"/>
                <a:cs typeface="Microsoft YaHei"/>
              </a:rPr>
              <a:t>画像与持仓快照</a:t>
            </a:r>
          </a:p>
        </p:txBody>
      </p:sp>
      <p:cxnSp>
        <p:nvCxnSpPr>
          <p:cNvPr id="29" name="直接箭头连接符 28"/>
          <p:cNvCxnSpPr>
            <a:stCxn id="11" idx="3"/>
            <a:endCxn id="12" idx="1"/>
          </p:cNvCxnSpPr>
          <p:nvPr/>
        </p:nvCxnSpPr>
        <p:spPr>
          <a:xfrm>
            <a:off x="4095750" y="4238625"/>
            <a:ext cx="257175" cy="0"/>
          </a:xfrm>
          <a:prstGeom prst="straightConnector1">
            <a:avLst/>
          </a:prstGeom>
          <a:ln w="19050">
            <a:solidFill>
              <a:srgbClr val="6C829D"/>
            </a:solidFill>
            <a:headEnd type="triangle" w="sm" len="sm"/>
          </a:ln>
        </p:spPr>
      </p:cxnSp>
      <p:cxnSp>
        <p:nvCxnSpPr>
          <p:cNvPr id="30" name="直接箭头连接符 29"/>
          <p:cNvCxnSpPr>
            <a:stCxn id="12" idx="3"/>
            <a:endCxn id="13" idx="1"/>
          </p:cNvCxnSpPr>
          <p:nvPr/>
        </p:nvCxnSpPr>
        <p:spPr>
          <a:xfrm>
            <a:off x="7839075" y="4238625"/>
            <a:ext cx="257175" cy="0"/>
          </a:xfrm>
          <a:prstGeom prst="straightConnector1">
            <a:avLst/>
          </a:prstGeom>
          <a:ln w="19050">
            <a:solidFill>
              <a:srgbClr val="6C829D"/>
            </a:solidFill>
            <a:headEnd type="triangle" w="sm" len="sm"/>
          </a:ln>
        </p:spPr>
      </p:cxnSp>
    </p:spTree>
    <p:extLst>
      <p:ext uri="{BB962C8B-B14F-4D97-AF65-F5344CB8AC3E}">
        <p14:creationId xmlns:p14="http://schemas.microsoft.com/office/powerpoint/2010/main" val="1281251929"/>
      </p:ext>
    </p:extLst>
  </p:cSld>
  <p:clrMapOvr>
    <a:masterClrMapping/>
  </p:clrMapOvr>
  <p:transition>
    <p:fade thruBlk="1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6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460"/>
                            </p:stCondLst>
                            <p:childTnLst>
                              <p:par>
                                <p:cTn id="9" presetID="10" presetClass="entr" presetSubtype="0" fill="hold" grpId="0" nodeType="afterEffect">
                                  <p:stCondLst>
                                    <p:cond delay="6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4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920"/>
                            </p:stCondLst>
                            <p:childTnLst>
                              <p:par>
                                <p:cTn id="13" presetID="10" presetClass="entr" presetSubtype="0" fill="hold" grpId="0" nodeType="afterEffect">
                                  <p:stCondLst>
                                    <p:cond delay="6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4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1380"/>
                            </p:stCondLst>
                            <p:childTnLst>
                              <p:par>
                                <p:cTn id="17" presetID="10" presetClass="entr" presetSubtype="0" fill="hold" grpId="0" nodeType="afterEffect">
                                  <p:stCondLst>
                                    <p:cond delay="6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4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1840"/>
                            </p:stCondLst>
                            <p:childTnLst>
                              <p:par>
                                <p:cTn id="21" presetID="10" presetClass="entr" presetSubtype="0" fill="hold" grpId="0" nodeType="afterEffect">
                                  <p:stCondLst>
                                    <p:cond delay="6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4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2300"/>
                            </p:stCondLst>
                            <p:childTnLst>
                              <p:par>
                                <p:cTn id="25" presetID="10" presetClass="entr" presetSubtype="0" fill="hold" nodeType="afterEffect">
                                  <p:stCondLst>
                                    <p:cond delay="6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4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>
                            <p:stCondLst>
                              <p:cond delay="2760"/>
                            </p:stCondLst>
                            <p:childTnLst>
                              <p:par>
                                <p:cTn id="29" presetID="10" presetClass="entr" presetSubtype="0" fill="hold" nodeType="afterEffect">
                                  <p:stCondLst>
                                    <p:cond delay="6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4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2" fill="hold">
                            <p:stCondLst>
                              <p:cond delay="3220"/>
                            </p:stCondLst>
                            <p:childTnLst>
                              <p:par>
                                <p:cTn id="33" presetID="10" presetClass="entr" presetSubtype="0" fill="hold" grpId="0" nodeType="afterEffect">
                                  <p:stCondLst>
                                    <p:cond delay="6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4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6" fill="hold">
                            <p:stCondLst>
                              <p:cond delay="3680"/>
                            </p:stCondLst>
                            <p:childTnLst>
                              <p:par>
                                <p:cTn id="37" presetID="10" presetClass="entr" presetSubtype="0" fill="hold" grpId="0" nodeType="afterEffect">
                                  <p:stCondLst>
                                    <p:cond delay="6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4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0" fill="hold">
                            <p:stCondLst>
                              <p:cond delay="4140"/>
                            </p:stCondLst>
                            <p:childTnLst>
                              <p:par>
                                <p:cTn id="41" presetID="10" presetClass="entr" presetSubtype="0" fill="hold" grpId="0" nodeType="afterEffect">
                                  <p:stCondLst>
                                    <p:cond delay="6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4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4" fill="hold">
                            <p:stCondLst>
                              <p:cond delay="4600"/>
                            </p:stCondLst>
                            <p:childTnLst>
                              <p:par>
                                <p:cTn id="45" presetID="10" presetClass="entr" presetSubtype="0" fill="hold" nodeType="afterEffect">
                                  <p:stCondLst>
                                    <p:cond delay="6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4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8" fill="hold">
                            <p:stCondLst>
                              <p:cond delay="5060"/>
                            </p:stCondLst>
                            <p:childTnLst>
                              <p:par>
                                <p:cTn id="49" presetID="10" presetClass="entr" presetSubtype="0" fill="hold" nodeType="afterEffect">
                                  <p:stCondLst>
                                    <p:cond delay="6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1" dur="4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2" fill="hold">
                            <p:stCondLst>
                              <p:cond delay="5520"/>
                            </p:stCondLst>
                            <p:childTnLst>
                              <p:par>
                                <p:cTn id="53" presetID="10" presetClass="entr" presetSubtype="0" fill="hold" grpId="0" nodeType="afterEffect">
                                  <p:stCondLst>
                                    <p:cond delay="6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4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6" fill="hold">
                            <p:stCondLst>
                              <p:cond delay="5980"/>
                            </p:stCondLst>
                            <p:childTnLst>
                              <p:par>
                                <p:cTn id="57" presetID="10" presetClass="entr" presetSubtype="0" fill="hold" grpId="0" nodeType="afterEffect">
                                  <p:stCondLst>
                                    <p:cond delay="6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9" dur="4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0" fill="hold">
                            <p:stCondLst>
                              <p:cond delay="6440"/>
                            </p:stCondLst>
                            <p:childTnLst>
                              <p:par>
                                <p:cTn id="61" presetID="10" presetClass="entr" presetSubtype="0" fill="hold" grpId="0" nodeType="afterEffect">
                                  <p:stCondLst>
                                    <p:cond delay="6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3" dur="4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/>
      <p:bldP spid="2" grpId="0"/>
      <p:bldP spid="3" grpId="0"/>
      <p:bldP spid="4" grpId="0"/>
      <p:bldP spid="5" grpId="0"/>
      <p:bldP spid="6" grpId="0" animBg="1"/>
      <p:bldP spid="7" grpId="0" animBg="1"/>
      <p:bldP spid="8" grpId="0" animBg="1"/>
      <p:bldP spid="11" grpId="0" animBg="1"/>
      <p:bldP spid="12" grpId="0" animBg="1"/>
      <p:bldP spid="13" grpId="0" animBg="1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slide-title">
            <a:extLst>
              <a:ext uri="{FF2B5EF4-FFF2-40B4-BE49-F238E27FC236}">
                <a16:creationId xmlns:a16="http://schemas.microsoft.com/office/drawing/2014/main" id="{1D423735-C829-4DE7-B9B7-D2A05009BFEC}"/>
              </a:ext>
            </a:extLst>
          </p:cNvPr>
          <p:cNvSpPr>
            <a:spLocks noGrp="1"/>
          </p:cNvSpPr>
          <p:nvPr/>
        </p:nvSpPr>
        <p:spPr>
          <a:xfrm>
            <a:off x="609600" y="419100"/>
            <a:ext cx="10972800" cy="6096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l">
              <a:defRPr sz="3000" b="1">
                <a:solidFill>
                  <a:srgbClr val="20344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000" b="1">
                <a:solidFill>
                  <a:srgbClr val="20344F"/>
                </a:solidFill>
                <a:latin typeface="Microsoft YaHei"/>
                <a:ea typeface="Microsoft YaHei"/>
                <a:cs typeface="Microsoft YaHei"/>
              </a:rPr>
              <a:t>画像与风险约束映射</a:t>
            </a:r>
          </a:p>
        </p:txBody>
      </p:sp>
      <p:sp>
        <p:nvSpPr>
          <p:cNvPr id="2" name="document-heading">
            <a:extLst>
              <a:ext uri="{FF2B5EF4-FFF2-40B4-BE49-F238E27FC236}">
                <a16:creationId xmlns:a16="http://schemas.microsoft.com/office/drawing/2014/main" id="{1858FFC0-B282-4F1C-A41B-175FDAB8548E}"/>
              </a:ext>
            </a:extLst>
          </p:cNvPr>
          <p:cNvSpPr>
            <a:spLocks noGrp="1"/>
          </p:cNvSpPr>
          <p:nvPr/>
        </p:nvSpPr>
        <p:spPr>
          <a:xfrm>
            <a:off x="609600" y="1085850"/>
            <a:ext cx="10972800" cy="3238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l">
              <a:defRPr sz="1575" b="0">
                <a:solidFill>
                  <a:srgbClr val="566C8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566C83"/>
                </a:solidFill>
                <a:latin typeface="Microsoft YaHei"/>
                <a:ea typeface="Microsoft YaHei"/>
                <a:cs typeface="Microsoft YaHei"/>
              </a:rPr>
              <a:t>5.3.1 投资者画像与风险约束映射</a:t>
            </a:r>
          </a:p>
        </p:txBody>
      </p:sp>
      <p:sp>
        <p:nvSpPr>
          <p:cNvPr id="3" name="figure-introduction">
            <a:extLst>
              <a:ext uri="{FF2B5EF4-FFF2-40B4-BE49-F238E27FC236}">
                <a16:creationId xmlns:a16="http://schemas.microsoft.com/office/drawing/2014/main" id="{A65E3FC5-A239-413F-90C3-A03E52A87FCC}"/>
              </a:ext>
            </a:extLst>
          </p:cNvPr>
          <p:cNvSpPr>
            <a:spLocks noGrp="1"/>
          </p:cNvSpPr>
          <p:nvPr/>
        </p:nvSpPr>
        <p:spPr>
          <a:xfrm>
            <a:off x="609600" y="5524500"/>
            <a:ext cx="10972800" cy="8382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l">
              <a:defRPr sz="1725" b="0">
                <a:solidFill>
                  <a:srgbClr val="566C8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566C83"/>
                </a:solidFill>
                <a:latin typeface="Microsoft YaHei"/>
                <a:ea typeface="Microsoft YaHei"/>
                <a:cs typeface="Microsoft YaHei"/>
              </a:rPr>
              <a:t>正式问卷经确定性规则形成分数与风险等级，预算绑定用户和画像版本。持仓观察值按同一分母与预算比较，超限记录保留观察值、上限和幅度。</a:t>
            </a:r>
          </a:p>
        </p:txBody>
      </p:sp>
      <p:sp>
        <p:nvSpPr>
          <p:cNvPr id="4" name="footer">
            <a:extLst>
              <a:ext uri="{FF2B5EF4-FFF2-40B4-BE49-F238E27FC236}">
                <a16:creationId xmlns:a16="http://schemas.microsoft.com/office/drawing/2014/main" id="{6EB30E2E-720A-4D98-AFAA-DEC460702CA3}"/>
              </a:ext>
            </a:extLst>
          </p:cNvPr>
          <p:cNvSpPr>
            <a:spLocks noGrp="1"/>
          </p:cNvSpPr>
          <p:nvPr/>
        </p:nvSpPr>
        <p:spPr>
          <a:xfrm>
            <a:off x="609600" y="6477000"/>
            <a:ext cx="9144000" cy="2381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l">
              <a:defRPr sz="1275" b="0">
                <a:solidFill>
                  <a:srgbClr val="566C8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566C83"/>
                </a:solidFill>
                <a:latin typeface="Microsoft YaHei"/>
                <a:ea typeface="Microsoft YaHei"/>
                <a:cs typeface="Microsoft YaHei"/>
              </a:rPr>
              <a:t>Prism · 系统与核心技术</a:t>
            </a:r>
          </a:p>
        </p:txBody>
      </p:sp>
      <p:sp>
        <p:nvSpPr>
          <p:cNvPr id="5" name="page-number">
            <a:extLst>
              <a:ext uri="{FF2B5EF4-FFF2-40B4-BE49-F238E27FC236}">
                <a16:creationId xmlns:a16="http://schemas.microsoft.com/office/drawing/2014/main" id="{2B1C1FC6-038B-41C4-B65F-0CCC0ED03E32}"/>
              </a:ext>
            </a:extLst>
          </p:cNvPr>
          <p:cNvSpPr>
            <a:spLocks noGrp="1"/>
          </p:cNvSpPr>
          <p:nvPr/>
        </p:nvSpPr>
        <p:spPr>
          <a:xfrm>
            <a:off x="11049000" y="6477000"/>
            <a:ext cx="523875" cy="2381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r">
              <a:defRPr sz="1275" b="0">
                <a:solidFill>
                  <a:srgbClr val="566C8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566C83"/>
                </a:solidFill>
                <a:latin typeface="Microsoft YaHei"/>
                <a:ea typeface="Microsoft YaHei"/>
                <a:cs typeface="Microsoft YaHei"/>
              </a:rPr>
              <a:t>6</a:t>
            </a:r>
          </a:p>
        </p:txBody>
      </p:sp>
      <p:sp>
        <p:nvSpPr>
          <p:cNvPr id="6" name="diagram-node">
            <a:extLst>
              <a:ext uri="{FF2B5EF4-FFF2-40B4-BE49-F238E27FC236}">
                <a16:creationId xmlns:a16="http://schemas.microsoft.com/office/drawing/2014/main" id="{424BCF35-096B-4DBB-9062-3948D51CE283}"/>
              </a:ext>
            </a:extLst>
          </p:cNvPr>
          <p:cNvSpPr>
            <a:spLocks noGrp="1"/>
          </p:cNvSpPr>
          <p:nvPr/>
        </p:nvSpPr>
        <p:spPr>
          <a:xfrm>
            <a:off x="609600" y="2076450"/>
            <a:ext cx="2550319" cy="1047750"/>
          </a:xfrm>
          <a:prstGeom prst="roundRect">
            <a:avLst>
              <a:gd name="adj" fmla="val 9091"/>
            </a:avLst>
          </a:prstGeom>
          <a:solidFill>
            <a:srgbClr val="E7EFFF"/>
          </a:solidFill>
          <a:ln w="11430">
            <a:solidFill>
              <a:srgbClr val="BBCBDE"/>
            </a:solidFill>
          </a:ln>
        </p:spPr>
        <p:txBody>
          <a:bodyPr lIns="95250" tIns="76200" rIns="95250" bIns="76200" anchor="ctr">
            <a:noAutofit/>
          </a:bodyPr>
          <a:lstStyle/>
          <a:p>
            <a:pPr algn="ctr">
              <a:defRPr sz="1950">
                <a:solidFill>
                  <a:srgbClr val="20344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>
                <a:solidFill>
                  <a:srgbClr val="20344F"/>
                </a:solidFill>
                <a:latin typeface="Microsoft YaHei"/>
                <a:ea typeface="Microsoft YaHei"/>
                <a:cs typeface="Microsoft YaHei"/>
              </a:rPr>
              <a:t>已确认问卷</a:t>
            </a:r>
          </a:p>
          <a:p>
            <a:pPr algn="ctr">
              <a:defRPr sz="1950">
                <a:solidFill>
                  <a:srgbClr val="20344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>
                <a:solidFill>
                  <a:srgbClr val="20344F"/>
                </a:solidFill>
                <a:latin typeface="Microsoft YaHei"/>
                <a:ea typeface="Microsoft YaHei"/>
                <a:cs typeface="Microsoft YaHei"/>
              </a:rPr>
              <a:t>五项评分字段</a:t>
            </a:r>
          </a:p>
        </p:txBody>
      </p:sp>
      <p:sp>
        <p:nvSpPr>
          <p:cNvPr id="7" name="diagram-node">
            <a:extLst>
              <a:ext uri="{FF2B5EF4-FFF2-40B4-BE49-F238E27FC236}">
                <a16:creationId xmlns:a16="http://schemas.microsoft.com/office/drawing/2014/main" id="{AA668C22-1B31-4CEC-ABC5-503AE79C12CF}"/>
              </a:ext>
            </a:extLst>
          </p:cNvPr>
          <p:cNvSpPr>
            <a:spLocks noGrp="1"/>
          </p:cNvSpPr>
          <p:nvPr/>
        </p:nvSpPr>
        <p:spPr>
          <a:xfrm>
            <a:off x="3417094" y="2076450"/>
            <a:ext cx="2550319" cy="1047750"/>
          </a:xfrm>
          <a:prstGeom prst="roundRect">
            <a:avLst>
              <a:gd name="adj" fmla="val 9091"/>
            </a:avLst>
          </a:prstGeom>
          <a:solidFill>
            <a:srgbClr val="E7EFFF"/>
          </a:solidFill>
          <a:ln w="11430">
            <a:solidFill>
              <a:srgbClr val="BBCBDE"/>
            </a:solidFill>
          </a:ln>
        </p:spPr>
        <p:txBody>
          <a:bodyPr lIns="95250" tIns="76200" rIns="95250" bIns="76200" anchor="ctr">
            <a:noAutofit/>
          </a:bodyPr>
          <a:lstStyle/>
          <a:p>
            <a:pPr algn="ctr">
              <a:defRPr sz="1950">
                <a:solidFill>
                  <a:srgbClr val="20344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>
                <a:solidFill>
                  <a:srgbClr val="20344F"/>
                </a:solidFill>
                <a:latin typeface="Microsoft YaHei"/>
                <a:ea typeface="Microsoft YaHei"/>
                <a:cs typeface="Microsoft YaHei"/>
              </a:rPr>
              <a:t>Decimal 归一化</a:t>
            </a:r>
          </a:p>
          <a:p>
            <a:pPr algn="ctr">
              <a:defRPr sz="1950">
                <a:solidFill>
                  <a:srgbClr val="20344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>
                <a:solidFill>
                  <a:srgbClr val="20344F"/>
                </a:solidFill>
                <a:latin typeface="Microsoft YaHei"/>
                <a:ea typeface="Microsoft YaHei"/>
                <a:cs typeface="Microsoft YaHei"/>
              </a:rPr>
              <a:t>加权分数</a:t>
            </a:r>
          </a:p>
        </p:txBody>
      </p:sp>
      <p:sp>
        <p:nvSpPr>
          <p:cNvPr id="8" name="diagram-node">
            <a:extLst>
              <a:ext uri="{FF2B5EF4-FFF2-40B4-BE49-F238E27FC236}">
                <a16:creationId xmlns:a16="http://schemas.microsoft.com/office/drawing/2014/main" id="{D348B0A3-57D0-4FB0-B13E-9DCF5309D077}"/>
              </a:ext>
            </a:extLst>
          </p:cNvPr>
          <p:cNvSpPr>
            <a:spLocks noGrp="1"/>
          </p:cNvSpPr>
          <p:nvPr/>
        </p:nvSpPr>
        <p:spPr>
          <a:xfrm>
            <a:off x="6224588" y="2076450"/>
            <a:ext cx="2550319" cy="1047750"/>
          </a:xfrm>
          <a:prstGeom prst="roundRect">
            <a:avLst>
              <a:gd name="adj" fmla="val 9091"/>
            </a:avLst>
          </a:prstGeom>
          <a:solidFill>
            <a:srgbClr val="E7EFFF"/>
          </a:solidFill>
          <a:ln w="11430">
            <a:solidFill>
              <a:srgbClr val="BBCBDE"/>
            </a:solidFill>
          </a:ln>
        </p:spPr>
        <p:txBody>
          <a:bodyPr lIns="95250" tIns="76200" rIns="95250" bIns="76200" anchor="ctr">
            <a:noAutofit/>
          </a:bodyPr>
          <a:lstStyle/>
          <a:p>
            <a:pPr algn="ctr">
              <a:defRPr sz="1950">
                <a:solidFill>
                  <a:srgbClr val="20344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>
                <a:solidFill>
                  <a:srgbClr val="20344F"/>
                </a:solidFill>
                <a:latin typeface="Microsoft YaHei"/>
                <a:ea typeface="Microsoft YaHei"/>
                <a:cs typeface="Microsoft YaHei"/>
              </a:rPr>
              <a:t>等级映射</a:t>
            </a:r>
          </a:p>
          <a:p>
            <a:pPr algn="ctr">
              <a:defRPr sz="1950">
                <a:solidFill>
                  <a:srgbClr val="20344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>
                <a:solidFill>
                  <a:srgbClr val="20344F"/>
                </a:solidFill>
                <a:latin typeface="Microsoft YaHei"/>
                <a:ea typeface="Microsoft YaHei"/>
                <a:cs typeface="Microsoft YaHei"/>
              </a:rPr>
              <a:t>33 / 66 分界</a:t>
            </a:r>
          </a:p>
        </p:txBody>
      </p:sp>
      <p:sp>
        <p:nvSpPr>
          <p:cNvPr id="9" name="diagram-node">
            <a:extLst>
              <a:ext uri="{FF2B5EF4-FFF2-40B4-BE49-F238E27FC236}">
                <a16:creationId xmlns:a16="http://schemas.microsoft.com/office/drawing/2014/main" id="{15B2B001-988D-46CD-9D1F-63EECB6A3C44}"/>
              </a:ext>
            </a:extLst>
          </p:cNvPr>
          <p:cNvSpPr>
            <a:spLocks noGrp="1"/>
          </p:cNvSpPr>
          <p:nvPr/>
        </p:nvSpPr>
        <p:spPr>
          <a:xfrm>
            <a:off x="9032081" y="2076450"/>
            <a:ext cx="2550319" cy="1047750"/>
          </a:xfrm>
          <a:prstGeom prst="roundRect">
            <a:avLst>
              <a:gd name="adj" fmla="val 9091"/>
            </a:avLst>
          </a:prstGeom>
          <a:solidFill>
            <a:srgbClr val="E7EFFF"/>
          </a:solidFill>
          <a:ln w="11430">
            <a:solidFill>
              <a:srgbClr val="BBCBDE"/>
            </a:solidFill>
          </a:ln>
        </p:spPr>
        <p:txBody>
          <a:bodyPr lIns="95250" tIns="76200" rIns="95250" bIns="76200" anchor="ctr">
            <a:noAutofit/>
          </a:bodyPr>
          <a:lstStyle/>
          <a:p>
            <a:pPr algn="ctr">
              <a:defRPr sz="1950">
                <a:solidFill>
                  <a:srgbClr val="20344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>
                <a:solidFill>
                  <a:srgbClr val="20344F"/>
                </a:solidFill>
                <a:latin typeface="Microsoft YaHei"/>
                <a:ea typeface="Microsoft YaHei"/>
                <a:cs typeface="Microsoft YaHei"/>
              </a:rPr>
              <a:t>版本化风险预算</a:t>
            </a:r>
          </a:p>
          <a:p>
            <a:pPr algn="ctr">
              <a:defRPr sz="1950">
                <a:solidFill>
                  <a:srgbClr val="20344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>
                <a:solidFill>
                  <a:srgbClr val="20344F"/>
                </a:solidFill>
                <a:latin typeface="Microsoft YaHei"/>
                <a:ea typeface="Microsoft YaHei"/>
                <a:cs typeface="Microsoft YaHei"/>
              </a:rPr>
              <a:t>四类比例上限</a:t>
            </a:r>
          </a:p>
        </p:txBody>
      </p:sp>
      <p:cxnSp>
        <p:nvCxnSpPr>
          <p:cNvPr id="24" name="直接箭头连接符 23"/>
          <p:cNvCxnSpPr>
            <a:stCxn id="6" idx="3"/>
            <a:endCxn id="7" idx="1"/>
          </p:cNvCxnSpPr>
          <p:nvPr/>
        </p:nvCxnSpPr>
        <p:spPr>
          <a:xfrm>
            <a:off x="3159919" y="2600325"/>
            <a:ext cx="257175" cy="0"/>
          </a:xfrm>
          <a:prstGeom prst="straightConnector1">
            <a:avLst/>
          </a:prstGeom>
          <a:ln w="19050">
            <a:solidFill>
              <a:srgbClr val="6C829D"/>
            </a:solidFill>
            <a:headEnd type="triangle" w="sm" len="sm"/>
          </a:ln>
        </p:spPr>
      </p:cxnSp>
      <p:cxnSp>
        <p:nvCxnSpPr>
          <p:cNvPr id="25" name="直接箭头连接符 24"/>
          <p:cNvCxnSpPr>
            <a:stCxn id="7" idx="3"/>
            <a:endCxn id="8" idx="1"/>
          </p:cNvCxnSpPr>
          <p:nvPr/>
        </p:nvCxnSpPr>
        <p:spPr>
          <a:xfrm>
            <a:off x="5967413" y="2600325"/>
            <a:ext cx="257175" cy="0"/>
          </a:xfrm>
          <a:prstGeom prst="straightConnector1">
            <a:avLst/>
          </a:prstGeom>
          <a:ln w="19050">
            <a:solidFill>
              <a:srgbClr val="6C829D"/>
            </a:solidFill>
            <a:headEnd type="triangle" w="sm" len="sm"/>
          </a:ln>
        </p:spPr>
      </p:cxnSp>
      <p:cxnSp>
        <p:nvCxnSpPr>
          <p:cNvPr id="26" name="直接箭头连接符 25"/>
          <p:cNvCxnSpPr>
            <a:stCxn id="8" idx="3"/>
            <a:endCxn id="9" idx="1"/>
          </p:cNvCxnSpPr>
          <p:nvPr/>
        </p:nvCxnSpPr>
        <p:spPr>
          <a:xfrm>
            <a:off x="8774907" y="2600325"/>
            <a:ext cx="257174" cy="0"/>
          </a:xfrm>
          <a:prstGeom prst="straightConnector1">
            <a:avLst/>
          </a:prstGeom>
          <a:ln w="19050">
            <a:solidFill>
              <a:srgbClr val="6C829D"/>
            </a:solidFill>
            <a:headEnd type="triangle" w="sm" len="sm"/>
          </a:ln>
        </p:spPr>
      </p:cxnSp>
      <p:sp>
        <p:nvSpPr>
          <p:cNvPr id="13" name="text">
            <a:extLst>
              <a:ext uri="{FF2B5EF4-FFF2-40B4-BE49-F238E27FC236}">
                <a16:creationId xmlns:a16="http://schemas.microsoft.com/office/drawing/2014/main" id="{377C237D-9A35-46CF-9391-90F011918DAD}"/>
              </a:ext>
            </a:extLst>
          </p:cNvPr>
          <p:cNvSpPr>
            <a:spLocks noGrp="1"/>
          </p:cNvSpPr>
          <p:nvPr/>
        </p:nvSpPr>
        <p:spPr>
          <a:xfrm>
            <a:off x="609600" y="3743325"/>
            <a:ext cx="10972800" cy="4000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l">
              <a:defRPr sz="2025" b="0">
                <a:solidFill>
                  <a:srgbClr val="20344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0">
                <a:solidFill>
                  <a:srgbClr val="20344F"/>
                </a:solidFill>
                <a:latin typeface="Microsoft YaHei"/>
                <a:ea typeface="Microsoft YaHei"/>
                <a:cs typeface="Microsoft YaHei"/>
              </a:rPr>
              <a:t>正式问卷 19 题 → 展示维度与计算字段分别管理</a:t>
            </a:r>
          </a:p>
        </p:txBody>
      </p:sp>
      <p:sp>
        <p:nvSpPr>
          <p:cNvPr id="14" name="text">
            <a:extLst>
              <a:ext uri="{FF2B5EF4-FFF2-40B4-BE49-F238E27FC236}">
                <a16:creationId xmlns:a16="http://schemas.microsoft.com/office/drawing/2014/main" id="{C0C57F07-9F96-4B7D-81AE-1D7507870720}"/>
              </a:ext>
            </a:extLst>
          </p:cNvPr>
          <p:cNvSpPr>
            <a:spLocks noGrp="1"/>
          </p:cNvSpPr>
          <p:nvPr/>
        </p:nvSpPr>
        <p:spPr>
          <a:xfrm>
            <a:off x="609600" y="4476750"/>
            <a:ext cx="10972800" cy="4191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l">
              <a:defRPr sz="1950" b="0">
                <a:solidFill>
                  <a:srgbClr val="2867B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0">
                <a:solidFill>
                  <a:srgbClr val="2867BF"/>
                </a:solidFill>
                <a:latin typeface="Microsoft YaHei"/>
                <a:ea typeface="Microsoft YaHei"/>
                <a:cs typeface="Microsoft YaHei"/>
              </a:rPr>
              <a:t>observed_weight_pct − limit_weight_pct = excess_weight_pct</a:t>
            </a:r>
          </a:p>
        </p:txBody>
      </p:sp>
    </p:spTree>
    <p:extLst>
      <p:ext uri="{BB962C8B-B14F-4D97-AF65-F5344CB8AC3E}">
        <p14:creationId xmlns:p14="http://schemas.microsoft.com/office/powerpoint/2010/main" val="244455531"/>
      </p:ext>
    </p:extLst>
  </p:cSld>
  <p:clrMapOvr>
    <a:masterClrMapping/>
  </p:clrMapOvr>
  <p:transition>
    <p:fade thruBlk="1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6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460"/>
                            </p:stCondLst>
                            <p:childTnLst>
                              <p:par>
                                <p:cTn id="9" presetID="10" presetClass="entr" presetSubtype="0" fill="hold" grpId="0" nodeType="afterEffect">
                                  <p:stCondLst>
                                    <p:cond delay="6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4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920"/>
                            </p:stCondLst>
                            <p:childTnLst>
                              <p:par>
                                <p:cTn id="13" presetID="10" presetClass="entr" presetSubtype="0" fill="hold" grpId="0" nodeType="afterEffect">
                                  <p:stCondLst>
                                    <p:cond delay="6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4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1380"/>
                            </p:stCondLst>
                            <p:childTnLst>
                              <p:par>
                                <p:cTn id="17" presetID="10" presetClass="entr" presetSubtype="0" fill="hold" grpId="0" nodeType="afterEffect">
                                  <p:stCondLst>
                                    <p:cond delay="6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4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1840"/>
                            </p:stCondLst>
                            <p:childTnLst>
                              <p:par>
                                <p:cTn id="21" presetID="10" presetClass="entr" presetSubtype="0" fill="hold" grpId="0" nodeType="afterEffect">
                                  <p:stCondLst>
                                    <p:cond delay="6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4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2300"/>
                            </p:stCondLst>
                            <p:childTnLst>
                              <p:par>
                                <p:cTn id="25" presetID="10" presetClass="entr" presetSubtype="0" fill="hold" grpId="0" nodeType="afterEffect">
                                  <p:stCondLst>
                                    <p:cond delay="6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4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>
                            <p:stCondLst>
                              <p:cond delay="2760"/>
                            </p:stCondLst>
                            <p:childTnLst>
                              <p:par>
                                <p:cTn id="29" presetID="10" presetClass="entr" presetSubtype="0" fill="hold" nodeType="afterEffect">
                                  <p:stCondLst>
                                    <p:cond delay="6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4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2" fill="hold">
                            <p:stCondLst>
                              <p:cond delay="3220"/>
                            </p:stCondLst>
                            <p:childTnLst>
                              <p:par>
                                <p:cTn id="33" presetID="10" presetClass="entr" presetSubtype="0" fill="hold" nodeType="afterEffect">
                                  <p:stCondLst>
                                    <p:cond delay="6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4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6" fill="hold">
                            <p:stCondLst>
                              <p:cond delay="3680"/>
                            </p:stCondLst>
                            <p:childTnLst>
                              <p:par>
                                <p:cTn id="37" presetID="10" presetClass="entr" presetSubtype="0" fill="hold" nodeType="afterEffect">
                                  <p:stCondLst>
                                    <p:cond delay="6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4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0" fill="hold">
                            <p:stCondLst>
                              <p:cond delay="4140"/>
                            </p:stCondLst>
                            <p:childTnLst>
                              <p:par>
                                <p:cTn id="41" presetID="10" presetClass="entr" presetSubtype="0" fill="hold" grpId="0" nodeType="afterEffect">
                                  <p:stCondLst>
                                    <p:cond delay="6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4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4" fill="hold">
                            <p:stCondLst>
                              <p:cond delay="4600"/>
                            </p:stCondLst>
                            <p:childTnLst>
                              <p:par>
                                <p:cTn id="45" presetID="10" presetClass="entr" presetSubtype="0" fill="hold" grpId="0" nodeType="afterEffect">
                                  <p:stCondLst>
                                    <p:cond delay="6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4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8" fill="hold">
                            <p:stCondLst>
                              <p:cond delay="5060"/>
                            </p:stCondLst>
                            <p:childTnLst>
                              <p:par>
                                <p:cTn id="49" presetID="10" presetClass="entr" presetSubtype="0" fill="hold" grpId="0" nodeType="afterEffect">
                                  <p:stCondLst>
                                    <p:cond delay="6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1" dur="4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2" fill="hold">
                            <p:stCondLst>
                              <p:cond delay="5520"/>
                            </p:stCondLst>
                            <p:childTnLst>
                              <p:par>
                                <p:cTn id="53" presetID="10" presetClass="entr" presetSubtype="0" fill="hold" grpId="0" nodeType="afterEffect">
                                  <p:stCondLst>
                                    <p:cond delay="6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4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6" fill="hold">
                            <p:stCondLst>
                              <p:cond delay="5980"/>
                            </p:stCondLst>
                            <p:childTnLst>
                              <p:par>
                                <p:cTn id="57" presetID="10" presetClass="entr" presetSubtype="0" fill="hold" grpId="0" nodeType="afterEffect">
                                  <p:stCondLst>
                                    <p:cond delay="6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9" dur="4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/>
      <p:bldP spid="2" grpId="0"/>
      <p:bldP spid="3" grpId="0"/>
      <p:bldP spid="4" grpId="0"/>
      <p:bldP spid="5" grpId="0"/>
      <p:bldP spid="6" grpId="0" animBg="1"/>
      <p:bldP spid="7" grpId="0" animBg="1"/>
      <p:bldP spid="8" grpId="0" animBg="1"/>
      <p:bldP spid="9" grpId="0" animBg="1"/>
      <p:bldP spid="13" grpId="0"/>
      <p:bldP spid="14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slide-title">
            <a:extLst>
              <a:ext uri="{FF2B5EF4-FFF2-40B4-BE49-F238E27FC236}">
                <a16:creationId xmlns:a16="http://schemas.microsoft.com/office/drawing/2014/main" id="{DFE3E1BF-17FA-4D48-A26F-D92115110588}"/>
              </a:ext>
            </a:extLst>
          </p:cNvPr>
          <p:cNvSpPr>
            <a:spLocks noGrp="1"/>
          </p:cNvSpPr>
          <p:nvPr/>
        </p:nvSpPr>
        <p:spPr>
          <a:xfrm>
            <a:off x="609600" y="419100"/>
            <a:ext cx="10972800" cy="6096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l">
              <a:defRPr sz="3000" b="1">
                <a:solidFill>
                  <a:srgbClr val="20344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000" b="1">
                <a:solidFill>
                  <a:srgbClr val="20344F"/>
                </a:solidFill>
                <a:latin typeface="Microsoft YaHei"/>
                <a:ea typeface="Microsoft YaHei"/>
                <a:cs typeface="Microsoft YaHei"/>
              </a:rPr>
              <a:t>来源关联约束的证据验证</a:t>
            </a:r>
          </a:p>
        </p:txBody>
      </p:sp>
      <p:sp>
        <p:nvSpPr>
          <p:cNvPr id="2" name="document-heading">
            <a:extLst>
              <a:ext uri="{FF2B5EF4-FFF2-40B4-BE49-F238E27FC236}">
                <a16:creationId xmlns:a16="http://schemas.microsoft.com/office/drawing/2014/main" id="{73DAB23C-7CBD-4A5A-B8F2-FC9A3E1F9EE7}"/>
              </a:ext>
            </a:extLst>
          </p:cNvPr>
          <p:cNvSpPr>
            <a:spLocks noGrp="1"/>
          </p:cNvSpPr>
          <p:nvPr/>
        </p:nvSpPr>
        <p:spPr>
          <a:xfrm>
            <a:off x="609600" y="1085850"/>
            <a:ext cx="10972800" cy="3238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l">
              <a:defRPr sz="1575" b="0">
                <a:solidFill>
                  <a:srgbClr val="566C8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566C83"/>
                </a:solidFill>
                <a:latin typeface="Microsoft YaHei"/>
                <a:ea typeface="Microsoft YaHei"/>
                <a:cs typeface="Microsoft YaHei"/>
              </a:rPr>
              <a:t>5.3.2 来源关联约束的证据验证</a:t>
            </a:r>
          </a:p>
        </p:txBody>
      </p:sp>
      <p:sp>
        <p:nvSpPr>
          <p:cNvPr id="3" name="figure-introduction">
            <a:extLst>
              <a:ext uri="{FF2B5EF4-FFF2-40B4-BE49-F238E27FC236}">
                <a16:creationId xmlns:a16="http://schemas.microsoft.com/office/drawing/2014/main" id="{E539EA70-2D7E-4C5C-BF30-7438FF0187C5}"/>
              </a:ext>
            </a:extLst>
          </p:cNvPr>
          <p:cNvSpPr>
            <a:spLocks noGrp="1"/>
          </p:cNvSpPr>
          <p:nvPr/>
        </p:nvSpPr>
        <p:spPr>
          <a:xfrm>
            <a:off x="609600" y="5524500"/>
            <a:ext cx="10972800" cy="8382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l">
              <a:defRPr sz="1725" b="0">
                <a:solidFill>
                  <a:srgbClr val="566C8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566C83"/>
                </a:solidFill>
                <a:latin typeface="Microsoft YaHei"/>
                <a:ea typeface="Microsoft YaHei"/>
                <a:cs typeface="Microsoft YaHei"/>
              </a:rPr>
              <a:t>验证按主体、指标、单位、期间与质量筛选记录，随后按 lineage_id 分组。有效独立来源参与支持与反对计数，冲突和依据不足保留为明确状态，引用继续传入研究结果。</a:t>
            </a:r>
          </a:p>
        </p:txBody>
      </p:sp>
      <p:sp>
        <p:nvSpPr>
          <p:cNvPr id="4" name="footer">
            <a:extLst>
              <a:ext uri="{FF2B5EF4-FFF2-40B4-BE49-F238E27FC236}">
                <a16:creationId xmlns:a16="http://schemas.microsoft.com/office/drawing/2014/main" id="{60F39A7B-D3DA-490C-A3D8-5B4D955C9B04}"/>
              </a:ext>
            </a:extLst>
          </p:cNvPr>
          <p:cNvSpPr>
            <a:spLocks noGrp="1"/>
          </p:cNvSpPr>
          <p:nvPr/>
        </p:nvSpPr>
        <p:spPr>
          <a:xfrm>
            <a:off x="609600" y="6477000"/>
            <a:ext cx="9144000" cy="2381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l">
              <a:defRPr sz="1275" b="0">
                <a:solidFill>
                  <a:srgbClr val="566C8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566C83"/>
                </a:solidFill>
                <a:latin typeface="Microsoft YaHei"/>
                <a:ea typeface="Microsoft YaHei"/>
                <a:cs typeface="Microsoft YaHei"/>
              </a:rPr>
              <a:t>Prism · 系统与核心技术</a:t>
            </a:r>
          </a:p>
        </p:txBody>
      </p:sp>
      <p:sp>
        <p:nvSpPr>
          <p:cNvPr id="5" name="page-number">
            <a:extLst>
              <a:ext uri="{FF2B5EF4-FFF2-40B4-BE49-F238E27FC236}">
                <a16:creationId xmlns:a16="http://schemas.microsoft.com/office/drawing/2014/main" id="{B6E942EE-69CB-4AA9-967D-65C5C871DED5}"/>
              </a:ext>
            </a:extLst>
          </p:cNvPr>
          <p:cNvSpPr>
            <a:spLocks noGrp="1"/>
          </p:cNvSpPr>
          <p:nvPr/>
        </p:nvSpPr>
        <p:spPr>
          <a:xfrm>
            <a:off x="11049000" y="6477000"/>
            <a:ext cx="523875" cy="2381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r">
              <a:defRPr sz="1275" b="0">
                <a:solidFill>
                  <a:srgbClr val="566C8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566C83"/>
                </a:solidFill>
                <a:latin typeface="Microsoft YaHei"/>
                <a:ea typeface="Microsoft YaHei"/>
                <a:cs typeface="Microsoft YaHei"/>
              </a:rPr>
              <a:t>7</a:t>
            </a:r>
          </a:p>
        </p:txBody>
      </p:sp>
      <p:sp>
        <p:nvSpPr>
          <p:cNvPr id="6" name="diagram-node">
            <a:extLst>
              <a:ext uri="{FF2B5EF4-FFF2-40B4-BE49-F238E27FC236}">
                <a16:creationId xmlns:a16="http://schemas.microsoft.com/office/drawing/2014/main" id="{165CFEC8-D771-4C18-ADCF-21153877B481}"/>
              </a:ext>
            </a:extLst>
          </p:cNvPr>
          <p:cNvSpPr>
            <a:spLocks noGrp="1"/>
          </p:cNvSpPr>
          <p:nvPr/>
        </p:nvSpPr>
        <p:spPr>
          <a:xfrm>
            <a:off x="609600" y="2076450"/>
            <a:ext cx="2550319" cy="1047750"/>
          </a:xfrm>
          <a:prstGeom prst="roundRect">
            <a:avLst>
              <a:gd name="adj" fmla="val 9091"/>
            </a:avLst>
          </a:prstGeom>
          <a:solidFill>
            <a:srgbClr val="EEE9F9"/>
          </a:solidFill>
          <a:ln w="11430">
            <a:solidFill>
              <a:srgbClr val="BBCBDE"/>
            </a:solidFill>
          </a:ln>
        </p:spPr>
        <p:txBody>
          <a:bodyPr lIns="95250" tIns="76200" rIns="95250" bIns="76200" anchor="ctr">
            <a:noAutofit/>
          </a:bodyPr>
          <a:lstStyle/>
          <a:p>
            <a:pPr algn="ctr">
              <a:defRPr sz="1950">
                <a:solidFill>
                  <a:srgbClr val="20344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>
                <a:solidFill>
                  <a:srgbClr val="20344F"/>
                </a:solidFill>
                <a:latin typeface="Microsoft YaHei"/>
                <a:ea typeface="Microsoft YaHei"/>
                <a:cs typeface="Microsoft YaHei"/>
              </a:rPr>
              <a:t>主体 / 指标</a:t>
            </a:r>
          </a:p>
          <a:p>
            <a:pPr algn="ctr">
              <a:defRPr sz="1950">
                <a:solidFill>
                  <a:srgbClr val="20344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>
                <a:solidFill>
                  <a:srgbClr val="20344F"/>
                </a:solidFill>
                <a:latin typeface="Microsoft YaHei"/>
                <a:ea typeface="Microsoft YaHei"/>
                <a:cs typeface="Microsoft YaHei"/>
              </a:rPr>
              <a:t>单位 / 期间</a:t>
            </a:r>
          </a:p>
        </p:txBody>
      </p:sp>
      <p:sp>
        <p:nvSpPr>
          <p:cNvPr id="7" name="diagram-node">
            <a:extLst>
              <a:ext uri="{FF2B5EF4-FFF2-40B4-BE49-F238E27FC236}">
                <a16:creationId xmlns:a16="http://schemas.microsoft.com/office/drawing/2014/main" id="{3D81B841-BC53-415D-9D0D-27FAAC6D8827}"/>
              </a:ext>
            </a:extLst>
          </p:cNvPr>
          <p:cNvSpPr>
            <a:spLocks noGrp="1"/>
          </p:cNvSpPr>
          <p:nvPr/>
        </p:nvSpPr>
        <p:spPr>
          <a:xfrm>
            <a:off x="3417094" y="2076450"/>
            <a:ext cx="2550319" cy="1047750"/>
          </a:xfrm>
          <a:prstGeom prst="roundRect">
            <a:avLst>
              <a:gd name="adj" fmla="val 9091"/>
            </a:avLst>
          </a:prstGeom>
          <a:solidFill>
            <a:srgbClr val="EEE9F9"/>
          </a:solidFill>
          <a:ln w="11430">
            <a:solidFill>
              <a:srgbClr val="BBCBDE"/>
            </a:solidFill>
          </a:ln>
        </p:spPr>
        <p:txBody>
          <a:bodyPr lIns="95250" tIns="76200" rIns="95250" bIns="76200" anchor="ctr">
            <a:noAutofit/>
          </a:bodyPr>
          <a:lstStyle/>
          <a:p>
            <a:pPr algn="ctr">
              <a:defRPr sz="1950">
                <a:solidFill>
                  <a:srgbClr val="20344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>
                <a:solidFill>
                  <a:srgbClr val="20344F"/>
                </a:solidFill>
                <a:latin typeface="Microsoft YaHei"/>
                <a:ea typeface="Microsoft YaHei"/>
                <a:cs typeface="Microsoft YaHei"/>
              </a:rPr>
              <a:t>VERIFIED</a:t>
            </a:r>
          </a:p>
          <a:p>
            <a:pPr algn="ctr">
              <a:defRPr sz="1950">
                <a:solidFill>
                  <a:srgbClr val="20344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>
                <a:solidFill>
                  <a:srgbClr val="20344F"/>
                </a:solidFill>
                <a:latin typeface="Microsoft YaHei"/>
                <a:ea typeface="Microsoft YaHei"/>
                <a:cs typeface="Microsoft YaHei"/>
              </a:rPr>
              <a:t>质量筛选</a:t>
            </a:r>
          </a:p>
        </p:txBody>
      </p:sp>
      <p:sp>
        <p:nvSpPr>
          <p:cNvPr id="8" name="diagram-node">
            <a:extLst>
              <a:ext uri="{FF2B5EF4-FFF2-40B4-BE49-F238E27FC236}">
                <a16:creationId xmlns:a16="http://schemas.microsoft.com/office/drawing/2014/main" id="{25748B44-9A50-4553-BB40-851086B520E9}"/>
              </a:ext>
            </a:extLst>
          </p:cNvPr>
          <p:cNvSpPr>
            <a:spLocks noGrp="1"/>
          </p:cNvSpPr>
          <p:nvPr/>
        </p:nvSpPr>
        <p:spPr>
          <a:xfrm>
            <a:off x="6224588" y="2076450"/>
            <a:ext cx="2550319" cy="1047750"/>
          </a:xfrm>
          <a:prstGeom prst="roundRect">
            <a:avLst>
              <a:gd name="adj" fmla="val 9091"/>
            </a:avLst>
          </a:prstGeom>
          <a:solidFill>
            <a:srgbClr val="EEE9F9"/>
          </a:solidFill>
          <a:ln w="11430">
            <a:solidFill>
              <a:srgbClr val="BBCBDE"/>
            </a:solidFill>
          </a:ln>
        </p:spPr>
        <p:txBody>
          <a:bodyPr lIns="95250" tIns="76200" rIns="95250" bIns="76200" anchor="ctr">
            <a:noAutofit/>
          </a:bodyPr>
          <a:lstStyle/>
          <a:p>
            <a:pPr algn="ctr">
              <a:defRPr sz="1950">
                <a:solidFill>
                  <a:srgbClr val="20344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>
                <a:solidFill>
                  <a:srgbClr val="20344F"/>
                </a:solidFill>
                <a:latin typeface="Microsoft YaHei"/>
                <a:ea typeface="Microsoft YaHei"/>
                <a:cs typeface="Microsoft YaHei"/>
              </a:rPr>
              <a:t>lineage_id</a:t>
            </a:r>
          </a:p>
          <a:p>
            <a:pPr algn="ctr">
              <a:defRPr sz="1950">
                <a:solidFill>
                  <a:srgbClr val="20344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>
                <a:solidFill>
                  <a:srgbClr val="20344F"/>
                </a:solidFill>
                <a:latin typeface="Microsoft YaHei"/>
                <a:ea typeface="Microsoft YaHei"/>
                <a:cs typeface="Microsoft YaHei"/>
              </a:rPr>
              <a:t>来源分组</a:t>
            </a:r>
          </a:p>
        </p:txBody>
      </p:sp>
      <p:sp>
        <p:nvSpPr>
          <p:cNvPr id="9" name="diagram-node">
            <a:extLst>
              <a:ext uri="{FF2B5EF4-FFF2-40B4-BE49-F238E27FC236}">
                <a16:creationId xmlns:a16="http://schemas.microsoft.com/office/drawing/2014/main" id="{44363B2F-F167-4851-BFC0-10D20A5D41C2}"/>
              </a:ext>
            </a:extLst>
          </p:cNvPr>
          <p:cNvSpPr>
            <a:spLocks noGrp="1"/>
          </p:cNvSpPr>
          <p:nvPr/>
        </p:nvSpPr>
        <p:spPr>
          <a:xfrm>
            <a:off x="9032081" y="2076450"/>
            <a:ext cx="2550319" cy="1047750"/>
          </a:xfrm>
          <a:prstGeom prst="roundRect">
            <a:avLst>
              <a:gd name="adj" fmla="val 9091"/>
            </a:avLst>
          </a:prstGeom>
          <a:solidFill>
            <a:srgbClr val="EEE9F9"/>
          </a:solidFill>
          <a:ln w="11430">
            <a:solidFill>
              <a:srgbClr val="BBCBDE"/>
            </a:solidFill>
          </a:ln>
        </p:spPr>
        <p:txBody>
          <a:bodyPr lIns="95250" tIns="76200" rIns="95250" bIns="76200" anchor="ctr">
            <a:noAutofit/>
          </a:bodyPr>
          <a:lstStyle/>
          <a:p>
            <a:pPr algn="ctr">
              <a:defRPr sz="1950">
                <a:solidFill>
                  <a:srgbClr val="20344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>
                <a:solidFill>
                  <a:srgbClr val="20344F"/>
                </a:solidFill>
                <a:latin typeface="Microsoft YaHei"/>
                <a:ea typeface="Microsoft YaHei"/>
                <a:cs typeface="Microsoft YaHei"/>
              </a:rPr>
              <a:t>支持 / 反对</a:t>
            </a:r>
          </a:p>
          <a:p>
            <a:pPr algn="ctr">
              <a:defRPr sz="1950">
                <a:solidFill>
                  <a:srgbClr val="20344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>
                <a:solidFill>
                  <a:srgbClr val="20344F"/>
                </a:solidFill>
                <a:latin typeface="Microsoft YaHei"/>
                <a:ea typeface="Microsoft YaHei"/>
                <a:cs typeface="Microsoft YaHei"/>
              </a:rPr>
              <a:t>冲突 / 不足</a:t>
            </a:r>
          </a:p>
        </p:txBody>
      </p:sp>
      <p:cxnSp>
        <p:nvCxnSpPr>
          <p:cNvPr id="29" name="直接箭头连接符 28"/>
          <p:cNvCxnSpPr>
            <a:stCxn id="6" idx="3"/>
            <a:endCxn id="7" idx="1"/>
          </p:cNvCxnSpPr>
          <p:nvPr/>
        </p:nvCxnSpPr>
        <p:spPr>
          <a:xfrm>
            <a:off x="3159919" y="2600325"/>
            <a:ext cx="257175" cy="0"/>
          </a:xfrm>
          <a:prstGeom prst="straightConnector1">
            <a:avLst/>
          </a:prstGeom>
          <a:ln w="19050">
            <a:solidFill>
              <a:srgbClr val="6C829D"/>
            </a:solidFill>
            <a:headEnd type="triangle" w="sm" len="sm"/>
          </a:ln>
        </p:spPr>
      </p:cxnSp>
      <p:cxnSp>
        <p:nvCxnSpPr>
          <p:cNvPr id="30" name="直接箭头连接符 29"/>
          <p:cNvCxnSpPr>
            <a:stCxn id="7" idx="3"/>
            <a:endCxn id="8" idx="1"/>
          </p:cNvCxnSpPr>
          <p:nvPr/>
        </p:nvCxnSpPr>
        <p:spPr>
          <a:xfrm>
            <a:off x="5967413" y="2600325"/>
            <a:ext cx="257175" cy="0"/>
          </a:xfrm>
          <a:prstGeom prst="straightConnector1">
            <a:avLst/>
          </a:prstGeom>
          <a:ln w="19050">
            <a:solidFill>
              <a:srgbClr val="6C829D"/>
            </a:solidFill>
            <a:headEnd type="triangle" w="sm" len="sm"/>
          </a:ln>
        </p:spPr>
      </p:cxnSp>
      <p:cxnSp>
        <p:nvCxnSpPr>
          <p:cNvPr id="31" name="直接箭头连接符 30"/>
          <p:cNvCxnSpPr>
            <a:stCxn id="8" idx="3"/>
            <a:endCxn id="9" idx="1"/>
          </p:cNvCxnSpPr>
          <p:nvPr/>
        </p:nvCxnSpPr>
        <p:spPr>
          <a:xfrm>
            <a:off x="8774907" y="2600325"/>
            <a:ext cx="257174" cy="0"/>
          </a:xfrm>
          <a:prstGeom prst="straightConnector1">
            <a:avLst/>
          </a:prstGeom>
          <a:ln w="19050">
            <a:solidFill>
              <a:srgbClr val="6C829D"/>
            </a:solidFill>
            <a:headEnd type="triangle" w="sm" len="sm"/>
          </a:ln>
        </p:spPr>
      </p:cxnSp>
      <p:sp>
        <p:nvSpPr>
          <p:cNvPr id="13" name="diagram-node">
            <a:extLst>
              <a:ext uri="{FF2B5EF4-FFF2-40B4-BE49-F238E27FC236}">
                <a16:creationId xmlns:a16="http://schemas.microsoft.com/office/drawing/2014/main" id="{457C0761-7667-4006-8B07-C53CD6648423}"/>
              </a:ext>
            </a:extLst>
          </p:cNvPr>
          <p:cNvSpPr>
            <a:spLocks noGrp="1"/>
          </p:cNvSpPr>
          <p:nvPr/>
        </p:nvSpPr>
        <p:spPr>
          <a:xfrm>
            <a:off x="609600" y="3876675"/>
            <a:ext cx="2550319" cy="1047750"/>
          </a:xfrm>
          <a:prstGeom prst="roundRect">
            <a:avLst>
              <a:gd name="adj" fmla="val 9091"/>
            </a:avLst>
          </a:prstGeom>
          <a:solidFill>
            <a:srgbClr val="E7EFFF"/>
          </a:solidFill>
          <a:ln w="11430">
            <a:solidFill>
              <a:srgbClr val="BBCBDE"/>
            </a:solidFill>
          </a:ln>
        </p:spPr>
        <p:txBody>
          <a:bodyPr lIns="95250" tIns="76200" rIns="95250" bIns="76200" anchor="ctr">
            <a:noAutofit/>
          </a:bodyPr>
          <a:lstStyle/>
          <a:p>
            <a:pPr algn="ctr">
              <a:defRPr sz="1950">
                <a:solidFill>
                  <a:srgbClr val="20344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>
                <a:solidFill>
                  <a:srgbClr val="20344F"/>
                </a:solidFill>
                <a:latin typeface="Microsoft YaHei"/>
                <a:ea typeface="Microsoft YaHei"/>
                <a:cs typeface="Microsoft YaHei"/>
              </a:rPr>
              <a:t>Evidence</a:t>
            </a:r>
          </a:p>
        </p:txBody>
      </p:sp>
      <p:sp>
        <p:nvSpPr>
          <p:cNvPr id="14" name="diagram-node">
            <a:extLst>
              <a:ext uri="{FF2B5EF4-FFF2-40B4-BE49-F238E27FC236}">
                <a16:creationId xmlns:a16="http://schemas.microsoft.com/office/drawing/2014/main" id="{2A771093-13DB-476D-9A5B-608F16AA0E14}"/>
              </a:ext>
            </a:extLst>
          </p:cNvPr>
          <p:cNvSpPr>
            <a:spLocks noGrp="1"/>
          </p:cNvSpPr>
          <p:nvPr/>
        </p:nvSpPr>
        <p:spPr>
          <a:xfrm>
            <a:off x="3417094" y="3876675"/>
            <a:ext cx="2550319" cy="1047750"/>
          </a:xfrm>
          <a:prstGeom prst="roundRect">
            <a:avLst>
              <a:gd name="adj" fmla="val 9091"/>
            </a:avLst>
          </a:prstGeom>
          <a:solidFill>
            <a:srgbClr val="E7EFFF"/>
          </a:solidFill>
          <a:ln w="11430">
            <a:solidFill>
              <a:srgbClr val="BBCBDE"/>
            </a:solidFill>
          </a:ln>
        </p:spPr>
        <p:txBody>
          <a:bodyPr lIns="95250" tIns="76200" rIns="95250" bIns="76200" anchor="ctr">
            <a:noAutofit/>
          </a:bodyPr>
          <a:lstStyle/>
          <a:p>
            <a:pPr algn="ctr">
              <a:defRPr sz="1950">
                <a:solidFill>
                  <a:srgbClr val="20344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>
                <a:solidFill>
                  <a:srgbClr val="20344F"/>
                </a:solidFill>
                <a:latin typeface="Microsoft YaHei"/>
                <a:ea typeface="Microsoft YaHei"/>
                <a:cs typeface="Microsoft YaHei"/>
              </a:rPr>
              <a:t>Fact</a:t>
            </a:r>
          </a:p>
        </p:txBody>
      </p:sp>
      <p:sp>
        <p:nvSpPr>
          <p:cNvPr id="15" name="diagram-node">
            <a:extLst>
              <a:ext uri="{FF2B5EF4-FFF2-40B4-BE49-F238E27FC236}">
                <a16:creationId xmlns:a16="http://schemas.microsoft.com/office/drawing/2014/main" id="{1BAA1D28-E4C3-42B4-9412-2396D2494C9D}"/>
              </a:ext>
            </a:extLst>
          </p:cNvPr>
          <p:cNvSpPr>
            <a:spLocks noGrp="1"/>
          </p:cNvSpPr>
          <p:nvPr/>
        </p:nvSpPr>
        <p:spPr>
          <a:xfrm>
            <a:off x="6224588" y="3876675"/>
            <a:ext cx="2550319" cy="1047750"/>
          </a:xfrm>
          <a:prstGeom prst="roundRect">
            <a:avLst>
              <a:gd name="adj" fmla="val 9091"/>
            </a:avLst>
          </a:prstGeom>
          <a:solidFill>
            <a:srgbClr val="E7EFFF"/>
          </a:solidFill>
          <a:ln w="11430">
            <a:solidFill>
              <a:srgbClr val="BBCBDE"/>
            </a:solidFill>
          </a:ln>
        </p:spPr>
        <p:txBody>
          <a:bodyPr lIns="95250" tIns="76200" rIns="95250" bIns="76200" anchor="ctr">
            <a:noAutofit/>
          </a:bodyPr>
          <a:lstStyle/>
          <a:p>
            <a:pPr algn="ctr">
              <a:defRPr sz="1950">
                <a:solidFill>
                  <a:srgbClr val="20344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>
                <a:solidFill>
                  <a:srgbClr val="20344F"/>
                </a:solidFill>
                <a:latin typeface="Microsoft YaHei"/>
                <a:ea typeface="Microsoft YaHei"/>
                <a:cs typeface="Microsoft YaHei"/>
              </a:rPr>
              <a:t>Finding</a:t>
            </a:r>
          </a:p>
        </p:txBody>
      </p:sp>
      <p:sp>
        <p:nvSpPr>
          <p:cNvPr id="16" name="diagram-node">
            <a:extLst>
              <a:ext uri="{FF2B5EF4-FFF2-40B4-BE49-F238E27FC236}">
                <a16:creationId xmlns:a16="http://schemas.microsoft.com/office/drawing/2014/main" id="{A3013237-5D1D-4A05-8E96-684CED703E05}"/>
              </a:ext>
            </a:extLst>
          </p:cNvPr>
          <p:cNvSpPr>
            <a:spLocks noGrp="1"/>
          </p:cNvSpPr>
          <p:nvPr/>
        </p:nvSpPr>
        <p:spPr>
          <a:xfrm>
            <a:off x="9032081" y="3876675"/>
            <a:ext cx="2550319" cy="1047750"/>
          </a:xfrm>
          <a:prstGeom prst="roundRect">
            <a:avLst>
              <a:gd name="adj" fmla="val 9091"/>
            </a:avLst>
          </a:prstGeom>
          <a:solidFill>
            <a:srgbClr val="E7EFFF"/>
          </a:solidFill>
          <a:ln w="11430">
            <a:solidFill>
              <a:srgbClr val="BBCBDE"/>
            </a:solidFill>
          </a:ln>
        </p:spPr>
        <p:txBody>
          <a:bodyPr lIns="95250" tIns="76200" rIns="95250" bIns="76200" anchor="ctr">
            <a:noAutofit/>
          </a:bodyPr>
          <a:lstStyle/>
          <a:p>
            <a:pPr algn="ctr">
              <a:defRPr sz="1950">
                <a:solidFill>
                  <a:srgbClr val="20344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>
                <a:solidFill>
                  <a:srgbClr val="20344F"/>
                </a:solidFill>
                <a:latin typeface="Microsoft YaHei"/>
                <a:ea typeface="Microsoft YaHei"/>
                <a:cs typeface="Microsoft YaHei"/>
              </a:rPr>
              <a:t>Recommendation</a:t>
            </a:r>
          </a:p>
        </p:txBody>
      </p:sp>
      <p:cxnSp>
        <p:nvCxnSpPr>
          <p:cNvPr id="36" name="直接箭头连接符 35"/>
          <p:cNvCxnSpPr>
            <a:stCxn id="13" idx="3"/>
            <a:endCxn id="14" idx="1"/>
          </p:cNvCxnSpPr>
          <p:nvPr/>
        </p:nvCxnSpPr>
        <p:spPr>
          <a:xfrm>
            <a:off x="3159919" y="4400550"/>
            <a:ext cx="257175" cy="0"/>
          </a:xfrm>
          <a:prstGeom prst="straightConnector1">
            <a:avLst/>
          </a:prstGeom>
          <a:ln w="19050">
            <a:solidFill>
              <a:srgbClr val="6C829D"/>
            </a:solidFill>
            <a:headEnd type="triangle" w="sm" len="sm"/>
          </a:ln>
        </p:spPr>
      </p:cxnSp>
      <p:cxnSp>
        <p:nvCxnSpPr>
          <p:cNvPr id="37" name="直接箭头连接符 36"/>
          <p:cNvCxnSpPr>
            <a:stCxn id="14" idx="3"/>
            <a:endCxn id="15" idx="1"/>
          </p:cNvCxnSpPr>
          <p:nvPr/>
        </p:nvCxnSpPr>
        <p:spPr>
          <a:xfrm>
            <a:off x="5967413" y="4400550"/>
            <a:ext cx="257175" cy="0"/>
          </a:xfrm>
          <a:prstGeom prst="straightConnector1">
            <a:avLst/>
          </a:prstGeom>
          <a:ln w="19050">
            <a:solidFill>
              <a:srgbClr val="6C829D"/>
            </a:solidFill>
            <a:headEnd type="triangle" w="sm" len="sm"/>
          </a:ln>
        </p:spPr>
      </p:cxnSp>
      <p:cxnSp>
        <p:nvCxnSpPr>
          <p:cNvPr id="38" name="直接箭头连接符 37"/>
          <p:cNvCxnSpPr>
            <a:stCxn id="15" idx="3"/>
            <a:endCxn id="16" idx="1"/>
          </p:cNvCxnSpPr>
          <p:nvPr/>
        </p:nvCxnSpPr>
        <p:spPr>
          <a:xfrm>
            <a:off x="8774907" y="4400550"/>
            <a:ext cx="257174" cy="0"/>
          </a:xfrm>
          <a:prstGeom prst="straightConnector1">
            <a:avLst/>
          </a:prstGeom>
          <a:ln w="19050">
            <a:solidFill>
              <a:srgbClr val="6C829D"/>
            </a:solidFill>
            <a:headEnd type="triangle" w="sm" len="sm"/>
          </a:ln>
        </p:spPr>
      </p:cxnSp>
    </p:spTree>
    <p:extLst>
      <p:ext uri="{BB962C8B-B14F-4D97-AF65-F5344CB8AC3E}">
        <p14:creationId xmlns:p14="http://schemas.microsoft.com/office/powerpoint/2010/main" val="1291934239"/>
      </p:ext>
    </p:extLst>
  </p:cSld>
  <p:clrMapOvr>
    <a:masterClrMapping/>
  </p:clrMapOvr>
  <p:transition>
    <p:fade thruBlk="1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6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460"/>
                            </p:stCondLst>
                            <p:childTnLst>
                              <p:par>
                                <p:cTn id="9" presetID="10" presetClass="entr" presetSubtype="0" fill="hold" grpId="0" nodeType="afterEffect">
                                  <p:stCondLst>
                                    <p:cond delay="6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4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920"/>
                            </p:stCondLst>
                            <p:childTnLst>
                              <p:par>
                                <p:cTn id="13" presetID="10" presetClass="entr" presetSubtype="0" fill="hold" grpId="0" nodeType="afterEffect">
                                  <p:stCondLst>
                                    <p:cond delay="6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4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1380"/>
                            </p:stCondLst>
                            <p:childTnLst>
                              <p:par>
                                <p:cTn id="17" presetID="10" presetClass="entr" presetSubtype="0" fill="hold" grpId="0" nodeType="afterEffect">
                                  <p:stCondLst>
                                    <p:cond delay="6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4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1840"/>
                            </p:stCondLst>
                            <p:childTnLst>
                              <p:par>
                                <p:cTn id="21" presetID="10" presetClass="entr" presetSubtype="0" fill="hold" grpId="0" nodeType="afterEffect">
                                  <p:stCondLst>
                                    <p:cond delay="6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4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2300"/>
                            </p:stCondLst>
                            <p:childTnLst>
                              <p:par>
                                <p:cTn id="25" presetID="10" presetClass="entr" presetSubtype="0" fill="hold" grpId="0" nodeType="afterEffect">
                                  <p:stCondLst>
                                    <p:cond delay="6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4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>
                            <p:stCondLst>
                              <p:cond delay="2760"/>
                            </p:stCondLst>
                            <p:childTnLst>
                              <p:par>
                                <p:cTn id="29" presetID="10" presetClass="entr" presetSubtype="0" fill="hold" nodeType="afterEffect">
                                  <p:stCondLst>
                                    <p:cond delay="6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4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2" fill="hold">
                            <p:stCondLst>
                              <p:cond delay="3220"/>
                            </p:stCondLst>
                            <p:childTnLst>
                              <p:par>
                                <p:cTn id="33" presetID="10" presetClass="entr" presetSubtype="0" fill="hold" nodeType="afterEffect">
                                  <p:stCondLst>
                                    <p:cond delay="6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4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6" fill="hold">
                            <p:stCondLst>
                              <p:cond delay="3680"/>
                            </p:stCondLst>
                            <p:childTnLst>
                              <p:par>
                                <p:cTn id="37" presetID="10" presetClass="entr" presetSubtype="0" fill="hold" nodeType="afterEffect">
                                  <p:stCondLst>
                                    <p:cond delay="6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4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0" fill="hold">
                            <p:stCondLst>
                              <p:cond delay="4140"/>
                            </p:stCondLst>
                            <p:childTnLst>
                              <p:par>
                                <p:cTn id="41" presetID="10" presetClass="entr" presetSubtype="0" fill="hold" grpId="0" nodeType="afterEffect">
                                  <p:stCondLst>
                                    <p:cond delay="6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4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4" fill="hold">
                            <p:stCondLst>
                              <p:cond delay="4600"/>
                            </p:stCondLst>
                            <p:childTnLst>
                              <p:par>
                                <p:cTn id="45" presetID="10" presetClass="entr" presetSubtype="0" fill="hold" grpId="0" nodeType="afterEffect">
                                  <p:stCondLst>
                                    <p:cond delay="6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4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8" fill="hold">
                            <p:stCondLst>
                              <p:cond delay="5060"/>
                            </p:stCondLst>
                            <p:childTnLst>
                              <p:par>
                                <p:cTn id="49" presetID="10" presetClass="entr" presetSubtype="0" fill="hold" grpId="0" nodeType="afterEffect">
                                  <p:stCondLst>
                                    <p:cond delay="6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1" dur="4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2" fill="hold">
                            <p:stCondLst>
                              <p:cond delay="5520"/>
                            </p:stCondLst>
                            <p:childTnLst>
                              <p:par>
                                <p:cTn id="53" presetID="10" presetClass="entr" presetSubtype="0" fill="hold" grpId="0" nodeType="afterEffect">
                                  <p:stCondLst>
                                    <p:cond delay="6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4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6" fill="hold">
                            <p:stCondLst>
                              <p:cond delay="5980"/>
                            </p:stCondLst>
                            <p:childTnLst>
                              <p:par>
                                <p:cTn id="57" presetID="10" presetClass="entr" presetSubtype="0" fill="hold" nodeType="afterEffect">
                                  <p:stCondLst>
                                    <p:cond delay="6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9" dur="4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0" fill="hold">
                            <p:stCondLst>
                              <p:cond delay="6440"/>
                            </p:stCondLst>
                            <p:childTnLst>
                              <p:par>
                                <p:cTn id="61" presetID="10" presetClass="entr" presetSubtype="0" fill="hold" nodeType="afterEffect">
                                  <p:stCondLst>
                                    <p:cond delay="6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3" dur="4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4" fill="hold">
                            <p:stCondLst>
                              <p:cond delay="6900"/>
                            </p:stCondLst>
                            <p:childTnLst>
                              <p:par>
                                <p:cTn id="65" presetID="10" presetClass="entr" presetSubtype="0" fill="hold" nodeType="afterEffect">
                                  <p:stCondLst>
                                    <p:cond delay="6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4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8" fill="hold">
                            <p:stCondLst>
                              <p:cond delay="7360"/>
                            </p:stCondLst>
                            <p:childTnLst>
                              <p:par>
                                <p:cTn id="69" presetID="10" presetClass="entr" presetSubtype="0" fill="hold" grpId="0" nodeType="afterEffect">
                                  <p:stCondLst>
                                    <p:cond delay="6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1" dur="4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2" fill="hold">
                            <p:stCondLst>
                              <p:cond delay="7820"/>
                            </p:stCondLst>
                            <p:childTnLst>
                              <p:par>
                                <p:cTn id="73" presetID="10" presetClass="entr" presetSubtype="0" fill="hold" grpId="0" nodeType="afterEffect">
                                  <p:stCondLst>
                                    <p:cond delay="6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5" dur="4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6" fill="hold">
                            <p:stCondLst>
                              <p:cond delay="8280"/>
                            </p:stCondLst>
                            <p:childTnLst>
                              <p:par>
                                <p:cTn id="77" presetID="10" presetClass="entr" presetSubtype="0" fill="hold" grpId="0" nodeType="afterEffect">
                                  <p:stCondLst>
                                    <p:cond delay="6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9" dur="4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0" grpId="0"/>
      <p:bldP spid="2" grpId="0"/>
      <p:bldP spid="3" grpId="0"/>
      <p:bldP spid="4" grpId="0"/>
      <p:bldP spid="5" grpId="0"/>
      <p:bldP spid="6" grpId="0" animBg="1"/>
      <p:bldP spid="7" grpId="0" animBg="1"/>
      <p:bldP spid="8" grpId="0" animBg="1"/>
      <p:bldP spid="9" grpId="0" animBg="1"/>
      <p:bldP spid="13" grpId="0" animBg="1"/>
      <p:bldP spid="14" grpId="0" animBg="1"/>
      <p:bldP spid="15" grpId="0" animBg="1"/>
      <p:bldP spid="16" grpId="0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slide-title">
            <a:extLst>
              <a:ext uri="{FF2B5EF4-FFF2-40B4-BE49-F238E27FC236}">
                <a16:creationId xmlns:a16="http://schemas.microsoft.com/office/drawing/2014/main" id="{BAE06532-05A8-40A3-AF39-734DDDAF986E}"/>
              </a:ext>
            </a:extLst>
          </p:cNvPr>
          <p:cNvSpPr>
            <a:spLocks noGrp="1"/>
          </p:cNvSpPr>
          <p:nvPr/>
        </p:nvSpPr>
        <p:spPr>
          <a:xfrm>
            <a:off x="609600" y="419100"/>
            <a:ext cx="10972800" cy="6096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l">
              <a:defRPr sz="3000" b="1">
                <a:solidFill>
                  <a:srgbClr val="20344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000" b="1">
                <a:solidFill>
                  <a:srgbClr val="20344F"/>
                </a:solidFill>
                <a:latin typeface="Microsoft YaHei"/>
                <a:ea typeface="Microsoft YaHei"/>
                <a:cs typeface="Microsoft YaHei"/>
              </a:rPr>
              <a:t>持仓暴露与集中度计算</a:t>
            </a:r>
          </a:p>
        </p:txBody>
      </p:sp>
      <p:sp>
        <p:nvSpPr>
          <p:cNvPr id="2" name="document-heading">
            <a:extLst>
              <a:ext uri="{FF2B5EF4-FFF2-40B4-BE49-F238E27FC236}">
                <a16:creationId xmlns:a16="http://schemas.microsoft.com/office/drawing/2014/main" id="{CB84EB68-9DE0-4A23-8307-5847902D0FD3}"/>
              </a:ext>
            </a:extLst>
          </p:cNvPr>
          <p:cNvSpPr>
            <a:spLocks noGrp="1"/>
          </p:cNvSpPr>
          <p:nvPr/>
        </p:nvSpPr>
        <p:spPr>
          <a:xfrm>
            <a:off x="609600" y="1085850"/>
            <a:ext cx="10972800" cy="3238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l">
              <a:defRPr sz="1575" b="0">
                <a:solidFill>
                  <a:srgbClr val="566C8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566C83"/>
                </a:solidFill>
                <a:latin typeface="Microsoft YaHei"/>
                <a:ea typeface="Microsoft YaHei"/>
                <a:cs typeface="Microsoft YaHei"/>
              </a:rPr>
              <a:t>5.3.3 持仓暴露与集中度计算</a:t>
            </a:r>
          </a:p>
        </p:txBody>
      </p:sp>
      <p:sp>
        <p:nvSpPr>
          <p:cNvPr id="3" name="figure-introduction">
            <a:extLst>
              <a:ext uri="{FF2B5EF4-FFF2-40B4-BE49-F238E27FC236}">
                <a16:creationId xmlns:a16="http://schemas.microsoft.com/office/drawing/2014/main" id="{DC69F126-2221-4F8F-80CF-2ED8EBA9C54E}"/>
              </a:ext>
            </a:extLst>
          </p:cNvPr>
          <p:cNvSpPr>
            <a:spLocks noGrp="1"/>
          </p:cNvSpPr>
          <p:nvPr/>
        </p:nvSpPr>
        <p:spPr>
          <a:xfrm>
            <a:off x="609600" y="5524500"/>
            <a:ext cx="10972800" cy="8382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l">
              <a:defRPr sz="1725" b="0">
                <a:solidFill>
                  <a:srgbClr val="566C8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566C83"/>
                </a:solidFill>
                <a:latin typeface="Microsoft YaHei"/>
                <a:ea typeface="Microsoft YaHei"/>
                <a:cs typeface="Microsoft YaHei"/>
              </a:rPr>
              <a:t>持仓市值与成分比例产生资产及行业暴露。基金未覆盖成分继续保留，报告注明分母、分组及精度。证券 HHI 与含现金行业 HHI 使用各自的计算口径。</a:t>
            </a:r>
          </a:p>
        </p:txBody>
      </p:sp>
      <p:sp>
        <p:nvSpPr>
          <p:cNvPr id="4" name="footer">
            <a:extLst>
              <a:ext uri="{FF2B5EF4-FFF2-40B4-BE49-F238E27FC236}">
                <a16:creationId xmlns:a16="http://schemas.microsoft.com/office/drawing/2014/main" id="{4DABB84D-A6A5-41E6-AB73-D111778D9998}"/>
              </a:ext>
            </a:extLst>
          </p:cNvPr>
          <p:cNvSpPr>
            <a:spLocks noGrp="1"/>
          </p:cNvSpPr>
          <p:nvPr/>
        </p:nvSpPr>
        <p:spPr>
          <a:xfrm>
            <a:off x="609600" y="6477000"/>
            <a:ext cx="9144000" cy="2381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l">
              <a:defRPr sz="1275" b="0">
                <a:solidFill>
                  <a:srgbClr val="566C8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566C83"/>
                </a:solidFill>
                <a:latin typeface="Microsoft YaHei"/>
                <a:ea typeface="Microsoft YaHei"/>
                <a:cs typeface="Microsoft YaHei"/>
              </a:rPr>
              <a:t>Prism · 系统与核心技术</a:t>
            </a:r>
          </a:p>
        </p:txBody>
      </p:sp>
      <p:sp>
        <p:nvSpPr>
          <p:cNvPr id="5" name="page-number">
            <a:extLst>
              <a:ext uri="{FF2B5EF4-FFF2-40B4-BE49-F238E27FC236}">
                <a16:creationId xmlns:a16="http://schemas.microsoft.com/office/drawing/2014/main" id="{92684462-9A64-40C6-8D39-526AAB65FBBB}"/>
              </a:ext>
            </a:extLst>
          </p:cNvPr>
          <p:cNvSpPr>
            <a:spLocks noGrp="1"/>
          </p:cNvSpPr>
          <p:nvPr/>
        </p:nvSpPr>
        <p:spPr>
          <a:xfrm>
            <a:off x="11049000" y="6477000"/>
            <a:ext cx="523875" cy="2381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r">
              <a:defRPr sz="1275" b="0">
                <a:solidFill>
                  <a:srgbClr val="566C8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566C83"/>
                </a:solidFill>
                <a:latin typeface="Microsoft YaHei"/>
                <a:ea typeface="Microsoft YaHei"/>
                <a:cs typeface="Microsoft YaHei"/>
              </a:rPr>
              <a:t>8</a:t>
            </a:r>
          </a:p>
        </p:txBody>
      </p:sp>
      <p:sp>
        <p:nvSpPr>
          <p:cNvPr id="6" name="diagram-node">
            <a:extLst>
              <a:ext uri="{FF2B5EF4-FFF2-40B4-BE49-F238E27FC236}">
                <a16:creationId xmlns:a16="http://schemas.microsoft.com/office/drawing/2014/main" id="{74C5FB29-CF71-4EAD-998A-94015CC02868}"/>
              </a:ext>
            </a:extLst>
          </p:cNvPr>
          <p:cNvSpPr>
            <a:spLocks noGrp="1"/>
          </p:cNvSpPr>
          <p:nvPr/>
        </p:nvSpPr>
        <p:spPr>
          <a:xfrm>
            <a:off x="609600" y="2114550"/>
            <a:ext cx="2550319" cy="1047750"/>
          </a:xfrm>
          <a:prstGeom prst="roundRect">
            <a:avLst>
              <a:gd name="adj" fmla="val 9091"/>
            </a:avLst>
          </a:prstGeom>
          <a:solidFill>
            <a:srgbClr val="E4F4ED"/>
          </a:solidFill>
          <a:ln w="11430">
            <a:solidFill>
              <a:srgbClr val="BBCBDE"/>
            </a:solidFill>
          </a:ln>
        </p:spPr>
        <p:txBody>
          <a:bodyPr lIns="95250" tIns="76200" rIns="95250" bIns="76200" anchor="ctr">
            <a:noAutofit/>
          </a:bodyPr>
          <a:lstStyle/>
          <a:p>
            <a:pPr algn="ctr">
              <a:defRPr sz="1950">
                <a:solidFill>
                  <a:srgbClr val="20344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>
                <a:solidFill>
                  <a:srgbClr val="20344F"/>
                </a:solidFill>
                <a:latin typeface="Microsoft YaHei"/>
                <a:ea typeface="Microsoft YaHei"/>
                <a:cs typeface="Microsoft YaHei"/>
              </a:rPr>
              <a:t>数量 × 报价</a:t>
            </a:r>
          </a:p>
          <a:p>
            <a:pPr algn="ctr">
              <a:defRPr sz="1950">
                <a:solidFill>
                  <a:srgbClr val="20344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>
                <a:solidFill>
                  <a:srgbClr val="20344F"/>
                </a:solidFill>
                <a:latin typeface="Microsoft YaHei"/>
                <a:ea typeface="Microsoft YaHei"/>
                <a:cs typeface="Microsoft YaHei"/>
              </a:rPr>
              <a:t>持仓市值</a:t>
            </a:r>
          </a:p>
        </p:txBody>
      </p:sp>
      <p:sp>
        <p:nvSpPr>
          <p:cNvPr id="7" name="diagram-node">
            <a:extLst>
              <a:ext uri="{FF2B5EF4-FFF2-40B4-BE49-F238E27FC236}">
                <a16:creationId xmlns:a16="http://schemas.microsoft.com/office/drawing/2014/main" id="{47B83B5E-CD54-49D5-8731-1BCC37801583}"/>
              </a:ext>
            </a:extLst>
          </p:cNvPr>
          <p:cNvSpPr>
            <a:spLocks noGrp="1"/>
          </p:cNvSpPr>
          <p:nvPr/>
        </p:nvSpPr>
        <p:spPr>
          <a:xfrm>
            <a:off x="3417094" y="2114550"/>
            <a:ext cx="2550319" cy="1047750"/>
          </a:xfrm>
          <a:prstGeom prst="roundRect">
            <a:avLst>
              <a:gd name="adj" fmla="val 9091"/>
            </a:avLst>
          </a:prstGeom>
          <a:solidFill>
            <a:srgbClr val="E4F4ED"/>
          </a:solidFill>
          <a:ln w="11430">
            <a:solidFill>
              <a:srgbClr val="BBCBDE"/>
            </a:solidFill>
          </a:ln>
        </p:spPr>
        <p:txBody>
          <a:bodyPr lIns="95250" tIns="76200" rIns="95250" bIns="76200" anchor="ctr">
            <a:noAutofit/>
          </a:bodyPr>
          <a:lstStyle/>
          <a:p>
            <a:pPr algn="ctr">
              <a:defRPr sz="1950">
                <a:solidFill>
                  <a:srgbClr val="20344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>
                <a:solidFill>
                  <a:srgbClr val="20344F"/>
                </a:solidFill>
                <a:latin typeface="Microsoft YaHei"/>
                <a:ea typeface="Microsoft YaHei"/>
                <a:cs typeface="Microsoft YaHei"/>
              </a:rPr>
              <a:t>直接证券 / 基金成分</a:t>
            </a:r>
          </a:p>
          <a:p>
            <a:pPr algn="ctr">
              <a:defRPr sz="1950">
                <a:solidFill>
                  <a:srgbClr val="20344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>
                <a:solidFill>
                  <a:srgbClr val="20344F"/>
                </a:solidFill>
                <a:latin typeface="Microsoft YaHei"/>
                <a:ea typeface="Microsoft YaHei"/>
                <a:cs typeface="Microsoft YaHei"/>
              </a:rPr>
              <a:t>暴露贡献</a:t>
            </a:r>
          </a:p>
        </p:txBody>
      </p:sp>
      <p:sp>
        <p:nvSpPr>
          <p:cNvPr id="8" name="diagram-node">
            <a:extLst>
              <a:ext uri="{FF2B5EF4-FFF2-40B4-BE49-F238E27FC236}">
                <a16:creationId xmlns:a16="http://schemas.microsoft.com/office/drawing/2014/main" id="{C57663A6-3687-4098-A0FB-902689CFA5DE}"/>
              </a:ext>
            </a:extLst>
          </p:cNvPr>
          <p:cNvSpPr>
            <a:spLocks noGrp="1"/>
          </p:cNvSpPr>
          <p:nvPr/>
        </p:nvSpPr>
        <p:spPr>
          <a:xfrm>
            <a:off x="6224588" y="2114550"/>
            <a:ext cx="2550319" cy="1047750"/>
          </a:xfrm>
          <a:prstGeom prst="roundRect">
            <a:avLst>
              <a:gd name="adj" fmla="val 9091"/>
            </a:avLst>
          </a:prstGeom>
          <a:solidFill>
            <a:srgbClr val="E4F4ED"/>
          </a:solidFill>
          <a:ln w="11430">
            <a:solidFill>
              <a:srgbClr val="BBCBDE"/>
            </a:solidFill>
          </a:ln>
        </p:spPr>
        <p:txBody>
          <a:bodyPr lIns="95250" tIns="76200" rIns="95250" bIns="76200" anchor="ctr">
            <a:noAutofit/>
          </a:bodyPr>
          <a:lstStyle/>
          <a:p>
            <a:pPr algn="ctr">
              <a:defRPr sz="1950">
                <a:solidFill>
                  <a:srgbClr val="20344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>
                <a:solidFill>
                  <a:srgbClr val="20344F"/>
                </a:solidFill>
                <a:latin typeface="Microsoft YaHei"/>
                <a:ea typeface="Microsoft YaHei"/>
                <a:cs typeface="Microsoft YaHei"/>
              </a:rPr>
              <a:t>资产 / 行业分组</a:t>
            </a:r>
          </a:p>
          <a:p>
            <a:pPr algn="ctr">
              <a:defRPr sz="1950">
                <a:solidFill>
                  <a:srgbClr val="20344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>
                <a:solidFill>
                  <a:srgbClr val="20344F"/>
                </a:solidFill>
                <a:latin typeface="Microsoft YaHei"/>
                <a:ea typeface="Microsoft YaHei"/>
                <a:cs typeface="Microsoft YaHei"/>
              </a:rPr>
              <a:t>未覆盖成分</a:t>
            </a:r>
          </a:p>
        </p:txBody>
      </p:sp>
      <p:sp>
        <p:nvSpPr>
          <p:cNvPr id="9" name="diagram-node">
            <a:extLst>
              <a:ext uri="{FF2B5EF4-FFF2-40B4-BE49-F238E27FC236}">
                <a16:creationId xmlns:a16="http://schemas.microsoft.com/office/drawing/2014/main" id="{ED0FC739-E3F5-49DA-B162-AD967F3ADAE0}"/>
              </a:ext>
            </a:extLst>
          </p:cNvPr>
          <p:cNvSpPr>
            <a:spLocks noGrp="1"/>
          </p:cNvSpPr>
          <p:nvPr/>
        </p:nvSpPr>
        <p:spPr>
          <a:xfrm>
            <a:off x="9032081" y="2114550"/>
            <a:ext cx="2550319" cy="1047750"/>
          </a:xfrm>
          <a:prstGeom prst="roundRect">
            <a:avLst>
              <a:gd name="adj" fmla="val 9091"/>
            </a:avLst>
          </a:prstGeom>
          <a:solidFill>
            <a:srgbClr val="E4F4ED"/>
          </a:solidFill>
          <a:ln w="11430">
            <a:solidFill>
              <a:srgbClr val="BBCBDE"/>
            </a:solidFill>
          </a:ln>
        </p:spPr>
        <p:txBody>
          <a:bodyPr lIns="95250" tIns="76200" rIns="95250" bIns="76200" anchor="ctr">
            <a:noAutofit/>
          </a:bodyPr>
          <a:lstStyle/>
          <a:p>
            <a:pPr algn="ctr">
              <a:defRPr sz="1950">
                <a:solidFill>
                  <a:srgbClr val="20344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>
                <a:solidFill>
                  <a:srgbClr val="20344F"/>
                </a:solidFill>
                <a:latin typeface="Microsoft YaHei"/>
                <a:ea typeface="Microsoft YaHei"/>
                <a:cs typeface="Microsoft YaHei"/>
              </a:rPr>
              <a:t>权重与 HHI</a:t>
            </a:r>
          </a:p>
          <a:p>
            <a:pPr algn="ctr">
              <a:defRPr sz="1950">
                <a:solidFill>
                  <a:srgbClr val="20344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>
                <a:solidFill>
                  <a:srgbClr val="20344F"/>
                </a:solidFill>
                <a:latin typeface="Microsoft YaHei"/>
                <a:ea typeface="Microsoft YaHei"/>
                <a:cs typeface="Microsoft YaHei"/>
              </a:rPr>
              <a:t>风险预算检查</a:t>
            </a:r>
          </a:p>
        </p:txBody>
      </p:sp>
      <p:cxnSp>
        <p:nvCxnSpPr>
          <p:cNvPr id="24" name="直接箭头连接符 23"/>
          <p:cNvCxnSpPr>
            <a:stCxn id="6" idx="3"/>
            <a:endCxn id="7" idx="1"/>
          </p:cNvCxnSpPr>
          <p:nvPr/>
        </p:nvCxnSpPr>
        <p:spPr>
          <a:xfrm>
            <a:off x="3159919" y="2638425"/>
            <a:ext cx="257175" cy="0"/>
          </a:xfrm>
          <a:prstGeom prst="straightConnector1">
            <a:avLst/>
          </a:prstGeom>
          <a:ln w="19050">
            <a:solidFill>
              <a:srgbClr val="6C829D"/>
            </a:solidFill>
            <a:headEnd type="triangle" w="sm" len="sm"/>
          </a:ln>
        </p:spPr>
      </p:cxnSp>
      <p:cxnSp>
        <p:nvCxnSpPr>
          <p:cNvPr id="25" name="直接箭头连接符 24"/>
          <p:cNvCxnSpPr>
            <a:stCxn id="7" idx="3"/>
            <a:endCxn id="8" idx="1"/>
          </p:cNvCxnSpPr>
          <p:nvPr/>
        </p:nvCxnSpPr>
        <p:spPr>
          <a:xfrm>
            <a:off x="5967413" y="2638425"/>
            <a:ext cx="257175" cy="0"/>
          </a:xfrm>
          <a:prstGeom prst="straightConnector1">
            <a:avLst/>
          </a:prstGeom>
          <a:ln w="19050">
            <a:solidFill>
              <a:srgbClr val="6C829D"/>
            </a:solidFill>
            <a:headEnd type="triangle" w="sm" len="sm"/>
          </a:ln>
        </p:spPr>
      </p:cxnSp>
      <p:cxnSp>
        <p:nvCxnSpPr>
          <p:cNvPr id="26" name="直接箭头连接符 25"/>
          <p:cNvCxnSpPr>
            <a:stCxn id="8" idx="3"/>
            <a:endCxn id="9" idx="1"/>
          </p:cNvCxnSpPr>
          <p:nvPr/>
        </p:nvCxnSpPr>
        <p:spPr>
          <a:xfrm>
            <a:off x="8774907" y="2638425"/>
            <a:ext cx="257174" cy="0"/>
          </a:xfrm>
          <a:prstGeom prst="straightConnector1">
            <a:avLst/>
          </a:prstGeom>
          <a:ln w="19050">
            <a:solidFill>
              <a:srgbClr val="6C829D"/>
            </a:solidFill>
            <a:headEnd type="triangle" w="sm" len="sm"/>
          </a:ln>
        </p:spPr>
      </p:cxnSp>
      <p:sp>
        <p:nvSpPr>
          <p:cNvPr id="13" name="text">
            <a:extLst>
              <a:ext uri="{FF2B5EF4-FFF2-40B4-BE49-F238E27FC236}">
                <a16:creationId xmlns:a16="http://schemas.microsoft.com/office/drawing/2014/main" id="{761A7285-F680-47EE-8FCF-BE40BDA3A576}"/>
              </a:ext>
            </a:extLst>
          </p:cNvPr>
          <p:cNvSpPr>
            <a:spLocks noGrp="1"/>
          </p:cNvSpPr>
          <p:nvPr/>
        </p:nvSpPr>
        <p:spPr>
          <a:xfrm>
            <a:off x="609600" y="3857625"/>
            <a:ext cx="10972800" cy="4762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l">
              <a:defRPr sz="2250" b="0">
                <a:solidFill>
                  <a:srgbClr val="2867B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0">
                <a:solidFill>
                  <a:srgbClr val="2867BF"/>
                </a:solidFill>
                <a:latin typeface="Microsoft YaHei"/>
                <a:ea typeface="Microsoft YaHei"/>
                <a:cs typeface="Microsoft YaHei"/>
              </a:rPr>
              <a:t>E(g) = Σ V(i) × a(i,g)       p(g) = E(g) / V × 100%</a:t>
            </a:r>
          </a:p>
        </p:txBody>
      </p:sp>
      <p:sp>
        <p:nvSpPr>
          <p:cNvPr id="14" name="text">
            <a:extLst>
              <a:ext uri="{FF2B5EF4-FFF2-40B4-BE49-F238E27FC236}">
                <a16:creationId xmlns:a16="http://schemas.microsoft.com/office/drawing/2014/main" id="{53575032-817A-4DAE-8861-28C48F9D4451}"/>
              </a:ext>
            </a:extLst>
          </p:cNvPr>
          <p:cNvSpPr>
            <a:spLocks noGrp="1"/>
          </p:cNvSpPr>
          <p:nvPr/>
        </p:nvSpPr>
        <p:spPr>
          <a:xfrm>
            <a:off x="609600" y="4543425"/>
            <a:ext cx="10972800" cy="4286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l">
              <a:defRPr sz="2175" b="0">
                <a:solidFill>
                  <a:srgbClr val="20344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0">
                <a:solidFill>
                  <a:srgbClr val="20344F"/>
                </a:solidFill>
                <a:latin typeface="Microsoft YaHei"/>
                <a:ea typeface="Microsoft YaHei"/>
                <a:cs typeface="Microsoft YaHei"/>
              </a:rPr>
              <a:t>HHI = Σ p(g)²       p(g) 使用百分比数值</a:t>
            </a:r>
          </a:p>
        </p:txBody>
      </p:sp>
    </p:spTree>
    <p:extLst>
      <p:ext uri="{BB962C8B-B14F-4D97-AF65-F5344CB8AC3E}">
        <p14:creationId xmlns:p14="http://schemas.microsoft.com/office/powerpoint/2010/main" val="1513163570"/>
      </p:ext>
    </p:extLst>
  </p:cSld>
  <p:clrMapOvr>
    <a:masterClrMapping/>
  </p:clrMapOvr>
  <p:transition>
    <p:fade thruBlk="1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6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460"/>
                            </p:stCondLst>
                            <p:childTnLst>
                              <p:par>
                                <p:cTn id="9" presetID="10" presetClass="entr" presetSubtype="0" fill="hold" grpId="0" nodeType="afterEffect">
                                  <p:stCondLst>
                                    <p:cond delay="6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4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920"/>
                            </p:stCondLst>
                            <p:childTnLst>
                              <p:par>
                                <p:cTn id="13" presetID="10" presetClass="entr" presetSubtype="0" fill="hold" grpId="0" nodeType="afterEffect">
                                  <p:stCondLst>
                                    <p:cond delay="6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4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1380"/>
                            </p:stCondLst>
                            <p:childTnLst>
                              <p:par>
                                <p:cTn id="17" presetID="10" presetClass="entr" presetSubtype="0" fill="hold" grpId="0" nodeType="afterEffect">
                                  <p:stCondLst>
                                    <p:cond delay="6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4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1840"/>
                            </p:stCondLst>
                            <p:childTnLst>
                              <p:par>
                                <p:cTn id="21" presetID="10" presetClass="entr" presetSubtype="0" fill="hold" grpId="0" nodeType="afterEffect">
                                  <p:stCondLst>
                                    <p:cond delay="6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4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2300"/>
                            </p:stCondLst>
                            <p:childTnLst>
                              <p:par>
                                <p:cTn id="25" presetID="10" presetClass="entr" presetSubtype="0" fill="hold" grpId="0" nodeType="afterEffect">
                                  <p:stCondLst>
                                    <p:cond delay="6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4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>
                            <p:stCondLst>
                              <p:cond delay="2760"/>
                            </p:stCondLst>
                            <p:childTnLst>
                              <p:par>
                                <p:cTn id="29" presetID="10" presetClass="entr" presetSubtype="0" fill="hold" nodeType="afterEffect">
                                  <p:stCondLst>
                                    <p:cond delay="6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4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2" fill="hold">
                            <p:stCondLst>
                              <p:cond delay="3220"/>
                            </p:stCondLst>
                            <p:childTnLst>
                              <p:par>
                                <p:cTn id="33" presetID="10" presetClass="entr" presetSubtype="0" fill="hold" nodeType="afterEffect">
                                  <p:stCondLst>
                                    <p:cond delay="6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4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6" fill="hold">
                            <p:stCondLst>
                              <p:cond delay="3680"/>
                            </p:stCondLst>
                            <p:childTnLst>
                              <p:par>
                                <p:cTn id="37" presetID="10" presetClass="entr" presetSubtype="0" fill="hold" nodeType="afterEffect">
                                  <p:stCondLst>
                                    <p:cond delay="6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4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0" fill="hold">
                            <p:stCondLst>
                              <p:cond delay="4140"/>
                            </p:stCondLst>
                            <p:childTnLst>
                              <p:par>
                                <p:cTn id="41" presetID="10" presetClass="entr" presetSubtype="0" fill="hold" grpId="0" nodeType="afterEffect">
                                  <p:stCondLst>
                                    <p:cond delay="6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4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4" fill="hold">
                            <p:stCondLst>
                              <p:cond delay="4600"/>
                            </p:stCondLst>
                            <p:childTnLst>
                              <p:par>
                                <p:cTn id="45" presetID="10" presetClass="entr" presetSubtype="0" fill="hold" grpId="0" nodeType="afterEffect">
                                  <p:stCondLst>
                                    <p:cond delay="6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4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8" fill="hold">
                            <p:stCondLst>
                              <p:cond delay="5060"/>
                            </p:stCondLst>
                            <p:childTnLst>
                              <p:par>
                                <p:cTn id="49" presetID="10" presetClass="entr" presetSubtype="0" fill="hold" grpId="0" nodeType="afterEffect">
                                  <p:stCondLst>
                                    <p:cond delay="6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1" dur="4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2" fill="hold">
                            <p:stCondLst>
                              <p:cond delay="5520"/>
                            </p:stCondLst>
                            <p:childTnLst>
                              <p:par>
                                <p:cTn id="53" presetID="10" presetClass="entr" presetSubtype="0" fill="hold" grpId="0" nodeType="afterEffect">
                                  <p:stCondLst>
                                    <p:cond delay="6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4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6" fill="hold">
                            <p:stCondLst>
                              <p:cond delay="5980"/>
                            </p:stCondLst>
                            <p:childTnLst>
                              <p:par>
                                <p:cTn id="57" presetID="10" presetClass="entr" presetSubtype="0" fill="hold" grpId="0" nodeType="afterEffect">
                                  <p:stCondLst>
                                    <p:cond delay="6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9" dur="4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/>
      <p:bldP spid="2" grpId="0"/>
      <p:bldP spid="3" grpId="0"/>
      <p:bldP spid="4" grpId="0"/>
      <p:bldP spid="5" grpId="0"/>
      <p:bldP spid="6" grpId="0" animBg="1"/>
      <p:bldP spid="7" grpId="0" animBg="1"/>
      <p:bldP spid="8" grpId="0" animBg="1"/>
      <p:bldP spid="9" grpId="0" animBg="1"/>
      <p:bldP spid="13" grpId="0"/>
      <p:bldP spid="14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slide-title">
            <a:extLst>
              <a:ext uri="{FF2B5EF4-FFF2-40B4-BE49-F238E27FC236}">
                <a16:creationId xmlns:a16="http://schemas.microsoft.com/office/drawing/2014/main" id="{560E4142-2026-43DF-BBD4-BDCDD384ED76}"/>
              </a:ext>
            </a:extLst>
          </p:cNvPr>
          <p:cNvSpPr>
            <a:spLocks noGrp="1"/>
          </p:cNvSpPr>
          <p:nvPr/>
        </p:nvSpPr>
        <p:spPr>
          <a:xfrm>
            <a:off x="609600" y="419100"/>
            <a:ext cx="10972800" cy="6096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l">
              <a:defRPr sz="3000" b="1">
                <a:solidFill>
                  <a:srgbClr val="20344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000" b="1">
                <a:solidFill>
                  <a:srgbClr val="20344F"/>
                </a:solidFill>
                <a:latin typeface="Microsoft YaHei"/>
                <a:ea typeface="Microsoft YaHei"/>
                <a:cs typeface="Microsoft YaHei"/>
              </a:rPr>
              <a:t>交易单位与现金约束的再平衡</a:t>
            </a:r>
          </a:p>
        </p:txBody>
      </p:sp>
      <p:sp>
        <p:nvSpPr>
          <p:cNvPr id="2" name="document-heading">
            <a:extLst>
              <a:ext uri="{FF2B5EF4-FFF2-40B4-BE49-F238E27FC236}">
                <a16:creationId xmlns:a16="http://schemas.microsoft.com/office/drawing/2014/main" id="{C5D67E12-0F88-43C1-BAA2-B9B7121BB4E1}"/>
              </a:ext>
            </a:extLst>
          </p:cNvPr>
          <p:cNvSpPr>
            <a:spLocks noGrp="1"/>
          </p:cNvSpPr>
          <p:nvPr/>
        </p:nvSpPr>
        <p:spPr>
          <a:xfrm>
            <a:off x="609600" y="1085850"/>
            <a:ext cx="10972800" cy="3238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l">
              <a:defRPr sz="1575" b="0">
                <a:solidFill>
                  <a:srgbClr val="566C8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566C83"/>
                </a:solidFill>
                <a:latin typeface="Microsoft YaHei"/>
                <a:ea typeface="Microsoft YaHei"/>
                <a:cs typeface="Microsoft YaHei"/>
              </a:rPr>
              <a:t>5.3.4 交易单位与现金约束下的再平衡</a:t>
            </a:r>
          </a:p>
        </p:txBody>
      </p:sp>
      <p:sp>
        <p:nvSpPr>
          <p:cNvPr id="3" name="figure-introduction">
            <a:extLst>
              <a:ext uri="{FF2B5EF4-FFF2-40B4-BE49-F238E27FC236}">
                <a16:creationId xmlns:a16="http://schemas.microsoft.com/office/drawing/2014/main" id="{8EF0CC74-0F2C-45FC-9051-55E88EA9F296}"/>
              </a:ext>
            </a:extLst>
          </p:cNvPr>
          <p:cNvSpPr>
            <a:spLocks noGrp="1"/>
          </p:cNvSpPr>
          <p:nvPr/>
        </p:nvSpPr>
        <p:spPr>
          <a:xfrm>
            <a:off x="609600" y="5524500"/>
            <a:ext cx="10972800" cy="8382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l">
              <a:defRPr sz="1725" b="0">
                <a:solidFill>
                  <a:srgbClr val="566C8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566C83"/>
                </a:solidFill>
                <a:latin typeface="Microsoft YaHei"/>
                <a:ea typeface="Microsoft YaHei"/>
                <a:cs typeface="Microsoft YaHei"/>
              </a:rPr>
              <a:t>目标权重转换为金额与数量，卖出受持仓约束并扣除费用，买入受现金预留和交易单位约束。程序更新现金后重新计算换手率、组合暴露与风险，输出实际测算数量。</a:t>
            </a:r>
          </a:p>
        </p:txBody>
      </p:sp>
      <p:sp>
        <p:nvSpPr>
          <p:cNvPr id="4" name="footer">
            <a:extLst>
              <a:ext uri="{FF2B5EF4-FFF2-40B4-BE49-F238E27FC236}">
                <a16:creationId xmlns:a16="http://schemas.microsoft.com/office/drawing/2014/main" id="{56B32509-AEAF-48FC-91CA-9938D7B08188}"/>
              </a:ext>
            </a:extLst>
          </p:cNvPr>
          <p:cNvSpPr>
            <a:spLocks noGrp="1"/>
          </p:cNvSpPr>
          <p:nvPr/>
        </p:nvSpPr>
        <p:spPr>
          <a:xfrm>
            <a:off x="609600" y="6477000"/>
            <a:ext cx="9144000" cy="2381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l">
              <a:defRPr sz="1275" b="0">
                <a:solidFill>
                  <a:srgbClr val="566C8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566C83"/>
                </a:solidFill>
                <a:latin typeface="Microsoft YaHei"/>
                <a:ea typeface="Microsoft YaHei"/>
                <a:cs typeface="Microsoft YaHei"/>
              </a:rPr>
              <a:t>Prism · 系统与核心技术</a:t>
            </a:r>
          </a:p>
        </p:txBody>
      </p:sp>
      <p:sp>
        <p:nvSpPr>
          <p:cNvPr id="5" name="page-number">
            <a:extLst>
              <a:ext uri="{FF2B5EF4-FFF2-40B4-BE49-F238E27FC236}">
                <a16:creationId xmlns:a16="http://schemas.microsoft.com/office/drawing/2014/main" id="{EB01F9F8-73F6-4D29-94FB-DD7EE18B148B}"/>
              </a:ext>
            </a:extLst>
          </p:cNvPr>
          <p:cNvSpPr>
            <a:spLocks noGrp="1"/>
          </p:cNvSpPr>
          <p:nvPr/>
        </p:nvSpPr>
        <p:spPr>
          <a:xfrm>
            <a:off x="11049000" y="6477000"/>
            <a:ext cx="523875" cy="2381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r">
              <a:defRPr sz="1275" b="0">
                <a:solidFill>
                  <a:srgbClr val="566C8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566C83"/>
                </a:solidFill>
                <a:latin typeface="Microsoft YaHei"/>
                <a:ea typeface="Microsoft YaHei"/>
                <a:cs typeface="Microsoft YaHei"/>
              </a:rPr>
              <a:t>9</a:t>
            </a:r>
          </a:p>
        </p:txBody>
      </p:sp>
      <p:sp>
        <p:nvSpPr>
          <p:cNvPr id="6" name="diagram-node">
            <a:extLst>
              <a:ext uri="{FF2B5EF4-FFF2-40B4-BE49-F238E27FC236}">
                <a16:creationId xmlns:a16="http://schemas.microsoft.com/office/drawing/2014/main" id="{A9237132-6B3F-41CF-BD59-623DA223249C}"/>
              </a:ext>
            </a:extLst>
          </p:cNvPr>
          <p:cNvSpPr>
            <a:spLocks noGrp="1"/>
          </p:cNvSpPr>
          <p:nvPr/>
        </p:nvSpPr>
        <p:spPr>
          <a:xfrm>
            <a:off x="609600" y="2047875"/>
            <a:ext cx="2550319" cy="1047750"/>
          </a:xfrm>
          <a:prstGeom prst="roundRect">
            <a:avLst>
              <a:gd name="adj" fmla="val 9091"/>
            </a:avLst>
          </a:prstGeom>
          <a:solidFill>
            <a:srgbClr val="FFF0DF"/>
          </a:solidFill>
          <a:ln w="11430">
            <a:solidFill>
              <a:srgbClr val="BBCBDE"/>
            </a:solidFill>
          </a:ln>
        </p:spPr>
        <p:txBody>
          <a:bodyPr lIns="95250" tIns="76200" rIns="95250" bIns="76200" anchor="ctr">
            <a:noAutofit/>
          </a:bodyPr>
          <a:lstStyle/>
          <a:p>
            <a:pPr algn="ctr">
              <a:defRPr sz="1950">
                <a:solidFill>
                  <a:srgbClr val="20344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>
                <a:solidFill>
                  <a:srgbClr val="20344F"/>
                </a:solidFill>
                <a:latin typeface="Microsoft YaHei"/>
                <a:ea typeface="Microsoft YaHei"/>
                <a:cs typeface="Microsoft YaHei"/>
              </a:rPr>
              <a:t>目标权重</a:t>
            </a:r>
          </a:p>
          <a:p>
            <a:pPr algn="ctr">
              <a:defRPr sz="1950">
                <a:solidFill>
                  <a:srgbClr val="20344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>
                <a:solidFill>
                  <a:srgbClr val="20344F"/>
                </a:solidFill>
                <a:latin typeface="Microsoft YaHei"/>
                <a:ea typeface="Microsoft YaHei"/>
                <a:cs typeface="Microsoft YaHei"/>
              </a:rPr>
              <a:t>金额变化</a:t>
            </a:r>
          </a:p>
        </p:txBody>
      </p:sp>
      <p:sp>
        <p:nvSpPr>
          <p:cNvPr id="7" name="diagram-node">
            <a:extLst>
              <a:ext uri="{FF2B5EF4-FFF2-40B4-BE49-F238E27FC236}">
                <a16:creationId xmlns:a16="http://schemas.microsoft.com/office/drawing/2014/main" id="{D0BC7D86-6A10-4578-BEE8-174AF41047F9}"/>
              </a:ext>
            </a:extLst>
          </p:cNvPr>
          <p:cNvSpPr>
            <a:spLocks noGrp="1"/>
          </p:cNvSpPr>
          <p:nvPr/>
        </p:nvSpPr>
        <p:spPr>
          <a:xfrm>
            <a:off x="3417094" y="2047875"/>
            <a:ext cx="2550319" cy="1047750"/>
          </a:xfrm>
          <a:prstGeom prst="roundRect">
            <a:avLst>
              <a:gd name="adj" fmla="val 9091"/>
            </a:avLst>
          </a:prstGeom>
          <a:solidFill>
            <a:srgbClr val="FFF0DF"/>
          </a:solidFill>
          <a:ln w="11430">
            <a:solidFill>
              <a:srgbClr val="BBCBDE"/>
            </a:solidFill>
          </a:ln>
        </p:spPr>
        <p:txBody>
          <a:bodyPr lIns="95250" tIns="76200" rIns="95250" bIns="76200" anchor="ctr">
            <a:noAutofit/>
          </a:bodyPr>
          <a:lstStyle/>
          <a:p>
            <a:pPr algn="ctr">
              <a:defRPr sz="1950">
                <a:solidFill>
                  <a:srgbClr val="20344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>
                <a:solidFill>
                  <a:srgbClr val="20344F"/>
                </a:solidFill>
                <a:latin typeface="Microsoft YaHei"/>
                <a:ea typeface="Microsoft YaHei"/>
                <a:cs typeface="Microsoft YaHei"/>
              </a:rPr>
              <a:t>卖出数量</a:t>
            </a:r>
          </a:p>
          <a:p>
            <a:pPr algn="ctr">
              <a:defRPr sz="1950">
                <a:solidFill>
                  <a:srgbClr val="20344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>
                <a:solidFill>
                  <a:srgbClr val="20344F"/>
                </a:solidFill>
                <a:latin typeface="Microsoft YaHei"/>
                <a:ea typeface="Microsoft YaHei"/>
                <a:cs typeface="Microsoft YaHei"/>
              </a:rPr>
              <a:t>持仓与交易单位</a:t>
            </a:r>
          </a:p>
        </p:txBody>
      </p:sp>
      <p:sp>
        <p:nvSpPr>
          <p:cNvPr id="8" name="diagram-node">
            <a:extLst>
              <a:ext uri="{FF2B5EF4-FFF2-40B4-BE49-F238E27FC236}">
                <a16:creationId xmlns:a16="http://schemas.microsoft.com/office/drawing/2014/main" id="{F1BCC129-0136-445B-8DF1-F14D9FC219E3}"/>
              </a:ext>
            </a:extLst>
          </p:cNvPr>
          <p:cNvSpPr>
            <a:spLocks noGrp="1"/>
          </p:cNvSpPr>
          <p:nvPr/>
        </p:nvSpPr>
        <p:spPr>
          <a:xfrm>
            <a:off x="6224588" y="2047875"/>
            <a:ext cx="2550319" cy="1047750"/>
          </a:xfrm>
          <a:prstGeom prst="roundRect">
            <a:avLst>
              <a:gd name="adj" fmla="val 9091"/>
            </a:avLst>
          </a:prstGeom>
          <a:solidFill>
            <a:srgbClr val="FFF0DF"/>
          </a:solidFill>
          <a:ln w="11430">
            <a:solidFill>
              <a:srgbClr val="BBCBDE"/>
            </a:solidFill>
          </a:ln>
        </p:spPr>
        <p:txBody>
          <a:bodyPr lIns="95250" tIns="76200" rIns="95250" bIns="76200" anchor="ctr">
            <a:noAutofit/>
          </a:bodyPr>
          <a:lstStyle/>
          <a:p>
            <a:pPr algn="ctr">
              <a:defRPr sz="1950">
                <a:solidFill>
                  <a:srgbClr val="20344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>
                <a:solidFill>
                  <a:srgbClr val="20344F"/>
                </a:solidFill>
                <a:latin typeface="Microsoft YaHei"/>
                <a:ea typeface="Microsoft YaHei"/>
                <a:cs typeface="Microsoft YaHei"/>
              </a:rPr>
              <a:t>扣除费用</a:t>
            </a:r>
          </a:p>
          <a:p>
            <a:pPr algn="ctr">
              <a:defRPr sz="1950">
                <a:solidFill>
                  <a:srgbClr val="20344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>
                <a:solidFill>
                  <a:srgbClr val="20344F"/>
                </a:solidFill>
                <a:latin typeface="Microsoft YaHei"/>
                <a:ea typeface="Microsoft YaHei"/>
                <a:cs typeface="Microsoft YaHei"/>
              </a:rPr>
              <a:t>更新可用现金</a:t>
            </a:r>
          </a:p>
        </p:txBody>
      </p:sp>
      <p:sp>
        <p:nvSpPr>
          <p:cNvPr id="9" name="diagram-node">
            <a:extLst>
              <a:ext uri="{FF2B5EF4-FFF2-40B4-BE49-F238E27FC236}">
                <a16:creationId xmlns:a16="http://schemas.microsoft.com/office/drawing/2014/main" id="{8E6F0168-B31F-4B7E-A23D-8DF69D9E4E09}"/>
              </a:ext>
            </a:extLst>
          </p:cNvPr>
          <p:cNvSpPr>
            <a:spLocks noGrp="1"/>
          </p:cNvSpPr>
          <p:nvPr/>
        </p:nvSpPr>
        <p:spPr>
          <a:xfrm>
            <a:off x="9032081" y="2047875"/>
            <a:ext cx="2550319" cy="1047750"/>
          </a:xfrm>
          <a:prstGeom prst="roundRect">
            <a:avLst>
              <a:gd name="adj" fmla="val 9091"/>
            </a:avLst>
          </a:prstGeom>
          <a:solidFill>
            <a:srgbClr val="FFF0DF"/>
          </a:solidFill>
          <a:ln w="11430">
            <a:solidFill>
              <a:srgbClr val="BBCBDE"/>
            </a:solidFill>
          </a:ln>
        </p:spPr>
        <p:txBody>
          <a:bodyPr lIns="95250" tIns="76200" rIns="95250" bIns="76200" anchor="ctr">
            <a:noAutofit/>
          </a:bodyPr>
          <a:lstStyle/>
          <a:p>
            <a:pPr algn="ctr">
              <a:defRPr sz="1950">
                <a:solidFill>
                  <a:srgbClr val="20344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>
                <a:solidFill>
                  <a:srgbClr val="20344F"/>
                </a:solidFill>
                <a:latin typeface="Microsoft YaHei"/>
                <a:ea typeface="Microsoft YaHei"/>
                <a:cs typeface="Microsoft YaHei"/>
              </a:rPr>
              <a:t>买入二分查找</a:t>
            </a:r>
          </a:p>
          <a:p>
            <a:pPr algn="ctr">
              <a:defRPr sz="1950">
                <a:solidFill>
                  <a:srgbClr val="20344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>
                <a:solidFill>
                  <a:srgbClr val="20344F"/>
                </a:solidFill>
                <a:latin typeface="Microsoft YaHei"/>
                <a:ea typeface="Microsoft YaHei"/>
                <a:cs typeface="Microsoft YaHei"/>
              </a:rPr>
              <a:t>最大可负担手数</a:t>
            </a:r>
          </a:p>
        </p:txBody>
      </p:sp>
      <p:cxnSp>
        <p:nvCxnSpPr>
          <p:cNvPr id="29" name="直接箭头连接符 28"/>
          <p:cNvCxnSpPr>
            <a:stCxn id="6" idx="3"/>
            <a:endCxn id="7" idx="1"/>
          </p:cNvCxnSpPr>
          <p:nvPr/>
        </p:nvCxnSpPr>
        <p:spPr>
          <a:xfrm>
            <a:off x="3159919" y="2571750"/>
            <a:ext cx="257175" cy="0"/>
          </a:xfrm>
          <a:prstGeom prst="straightConnector1">
            <a:avLst/>
          </a:prstGeom>
          <a:ln w="19050">
            <a:solidFill>
              <a:srgbClr val="6C829D"/>
            </a:solidFill>
            <a:headEnd type="triangle" w="sm" len="sm"/>
          </a:ln>
        </p:spPr>
      </p:cxnSp>
      <p:cxnSp>
        <p:nvCxnSpPr>
          <p:cNvPr id="30" name="直接箭头连接符 29"/>
          <p:cNvCxnSpPr>
            <a:stCxn id="7" idx="3"/>
            <a:endCxn id="8" idx="1"/>
          </p:cNvCxnSpPr>
          <p:nvPr/>
        </p:nvCxnSpPr>
        <p:spPr>
          <a:xfrm>
            <a:off x="5967413" y="2571750"/>
            <a:ext cx="257175" cy="0"/>
          </a:xfrm>
          <a:prstGeom prst="straightConnector1">
            <a:avLst/>
          </a:prstGeom>
          <a:ln w="19050">
            <a:solidFill>
              <a:srgbClr val="6C829D"/>
            </a:solidFill>
            <a:headEnd type="triangle" w="sm" len="sm"/>
          </a:ln>
        </p:spPr>
      </p:cxnSp>
      <p:cxnSp>
        <p:nvCxnSpPr>
          <p:cNvPr id="31" name="直接箭头连接符 30"/>
          <p:cNvCxnSpPr>
            <a:stCxn id="8" idx="3"/>
            <a:endCxn id="9" idx="1"/>
          </p:cNvCxnSpPr>
          <p:nvPr/>
        </p:nvCxnSpPr>
        <p:spPr>
          <a:xfrm>
            <a:off x="8774907" y="2571750"/>
            <a:ext cx="257174" cy="0"/>
          </a:xfrm>
          <a:prstGeom prst="straightConnector1">
            <a:avLst/>
          </a:prstGeom>
          <a:ln w="19050">
            <a:solidFill>
              <a:srgbClr val="6C829D"/>
            </a:solidFill>
            <a:headEnd type="triangle" w="sm" len="sm"/>
          </a:ln>
        </p:spPr>
      </p:cxnSp>
      <p:sp>
        <p:nvSpPr>
          <p:cNvPr id="13" name="diagram-node">
            <a:extLst>
              <a:ext uri="{FF2B5EF4-FFF2-40B4-BE49-F238E27FC236}">
                <a16:creationId xmlns:a16="http://schemas.microsoft.com/office/drawing/2014/main" id="{297CD7AC-55C9-4E66-9C07-8214685E2FF2}"/>
              </a:ext>
            </a:extLst>
          </p:cNvPr>
          <p:cNvSpPr>
            <a:spLocks noGrp="1"/>
          </p:cNvSpPr>
          <p:nvPr/>
        </p:nvSpPr>
        <p:spPr>
          <a:xfrm>
            <a:off x="609600" y="3876675"/>
            <a:ext cx="2550319" cy="1047750"/>
          </a:xfrm>
          <a:prstGeom prst="roundRect">
            <a:avLst>
              <a:gd name="adj" fmla="val 9091"/>
            </a:avLst>
          </a:prstGeom>
          <a:solidFill>
            <a:srgbClr val="E4F4ED"/>
          </a:solidFill>
          <a:ln w="11430">
            <a:solidFill>
              <a:srgbClr val="BBCBDE"/>
            </a:solidFill>
          </a:ln>
        </p:spPr>
        <p:txBody>
          <a:bodyPr lIns="95250" tIns="76200" rIns="95250" bIns="76200" anchor="ctr">
            <a:noAutofit/>
          </a:bodyPr>
          <a:lstStyle/>
          <a:p>
            <a:pPr algn="ctr">
              <a:defRPr sz="1950">
                <a:solidFill>
                  <a:srgbClr val="20344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>
                <a:solidFill>
                  <a:srgbClr val="20344F"/>
                </a:solidFill>
                <a:latin typeface="Microsoft YaHei"/>
                <a:ea typeface="Microsoft YaHei"/>
                <a:cs typeface="Microsoft YaHei"/>
              </a:rPr>
              <a:t>shares · 成交金额</a:t>
            </a:r>
          </a:p>
        </p:txBody>
      </p:sp>
      <p:sp>
        <p:nvSpPr>
          <p:cNvPr id="14" name="diagram-node">
            <a:extLst>
              <a:ext uri="{FF2B5EF4-FFF2-40B4-BE49-F238E27FC236}">
                <a16:creationId xmlns:a16="http://schemas.microsoft.com/office/drawing/2014/main" id="{94B481BC-C5E3-4B92-B602-1FDB4979D005}"/>
              </a:ext>
            </a:extLst>
          </p:cNvPr>
          <p:cNvSpPr>
            <a:spLocks noGrp="1"/>
          </p:cNvSpPr>
          <p:nvPr/>
        </p:nvSpPr>
        <p:spPr>
          <a:xfrm>
            <a:off x="3417094" y="3876675"/>
            <a:ext cx="2550319" cy="1047750"/>
          </a:xfrm>
          <a:prstGeom prst="roundRect">
            <a:avLst>
              <a:gd name="adj" fmla="val 9091"/>
            </a:avLst>
          </a:prstGeom>
          <a:solidFill>
            <a:srgbClr val="E4F4ED"/>
          </a:solidFill>
          <a:ln w="11430">
            <a:solidFill>
              <a:srgbClr val="BBCBDE"/>
            </a:solidFill>
          </a:ln>
        </p:spPr>
        <p:txBody>
          <a:bodyPr lIns="95250" tIns="76200" rIns="95250" bIns="76200" anchor="ctr">
            <a:noAutofit/>
          </a:bodyPr>
          <a:lstStyle/>
          <a:p>
            <a:pPr algn="ctr">
              <a:defRPr sz="1950">
                <a:solidFill>
                  <a:srgbClr val="20344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>
                <a:solidFill>
                  <a:srgbClr val="20344F"/>
                </a:solidFill>
                <a:latin typeface="Microsoft YaHei"/>
                <a:ea typeface="Microsoft YaHei"/>
                <a:cs typeface="Microsoft YaHei"/>
              </a:rPr>
              <a:t>total_fees_cny</a:t>
            </a:r>
          </a:p>
        </p:txBody>
      </p:sp>
      <p:sp>
        <p:nvSpPr>
          <p:cNvPr id="15" name="diagram-node">
            <a:extLst>
              <a:ext uri="{FF2B5EF4-FFF2-40B4-BE49-F238E27FC236}">
                <a16:creationId xmlns:a16="http://schemas.microsoft.com/office/drawing/2014/main" id="{BDB8ED47-6E10-437D-A173-54161DFADBF2}"/>
              </a:ext>
            </a:extLst>
          </p:cNvPr>
          <p:cNvSpPr>
            <a:spLocks noGrp="1"/>
          </p:cNvSpPr>
          <p:nvPr/>
        </p:nvSpPr>
        <p:spPr>
          <a:xfrm>
            <a:off x="6224588" y="3876675"/>
            <a:ext cx="2550319" cy="1047750"/>
          </a:xfrm>
          <a:prstGeom prst="roundRect">
            <a:avLst>
              <a:gd name="adj" fmla="val 9091"/>
            </a:avLst>
          </a:prstGeom>
          <a:solidFill>
            <a:srgbClr val="E4F4ED"/>
          </a:solidFill>
          <a:ln w="11430">
            <a:solidFill>
              <a:srgbClr val="BBCBDE"/>
            </a:solidFill>
          </a:ln>
        </p:spPr>
        <p:txBody>
          <a:bodyPr lIns="95250" tIns="76200" rIns="95250" bIns="76200" anchor="ctr">
            <a:noAutofit/>
          </a:bodyPr>
          <a:lstStyle/>
          <a:p>
            <a:pPr algn="ctr">
              <a:defRPr sz="1950">
                <a:solidFill>
                  <a:srgbClr val="20344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>
                <a:solidFill>
                  <a:srgbClr val="20344F"/>
                </a:solidFill>
                <a:latin typeface="Microsoft YaHei"/>
                <a:ea typeface="Microsoft YaHei"/>
                <a:cs typeface="Microsoft YaHei"/>
              </a:rPr>
              <a:t>cash_after_cny</a:t>
            </a:r>
          </a:p>
        </p:txBody>
      </p:sp>
      <p:sp>
        <p:nvSpPr>
          <p:cNvPr id="16" name="diagram-node">
            <a:extLst>
              <a:ext uri="{FF2B5EF4-FFF2-40B4-BE49-F238E27FC236}">
                <a16:creationId xmlns:a16="http://schemas.microsoft.com/office/drawing/2014/main" id="{3274A57D-0927-46EE-90AF-893A8F1B7F55}"/>
              </a:ext>
            </a:extLst>
          </p:cNvPr>
          <p:cNvSpPr>
            <a:spLocks noGrp="1"/>
          </p:cNvSpPr>
          <p:nvPr/>
        </p:nvSpPr>
        <p:spPr>
          <a:xfrm>
            <a:off x="9032081" y="3876675"/>
            <a:ext cx="2550319" cy="1047750"/>
          </a:xfrm>
          <a:prstGeom prst="roundRect">
            <a:avLst>
              <a:gd name="adj" fmla="val 9091"/>
            </a:avLst>
          </a:prstGeom>
          <a:solidFill>
            <a:srgbClr val="E4F4ED"/>
          </a:solidFill>
          <a:ln w="11430">
            <a:solidFill>
              <a:srgbClr val="BBCBDE"/>
            </a:solidFill>
          </a:ln>
        </p:spPr>
        <p:txBody>
          <a:bodyPr lIns="95250" tIns="76200" rIns="95250" bIns="76200" anchor="ctr">
            <a:noAutofit/>
          </a:bodyPr>
          <a:lstStyle/>
          <a:p>
            <a:pPr algn="ctr">
              <a:defRPr sz="1950">
                <a:solidFill>
                  <a:srgbClr val="20344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>
                <a:solidFill>
                  <a:srgbClr val="20344F"/>
                </a:solidFill>
                <a:latin typeface="Microsoft YaHei"/>
                <a:ea typeface="Microsoft YaHei"/>
                <a:cs typeface="Microsoft YaHei"/>
              </a:rPr>
              <a:t>交易后体检</a:t>
            </a:r>
          </a:p>
        </p:txBody>
      </p:sp>
      <p:cxnSp>
        <p:nvCxnSpPr>
          <p:cNvPr id="36" name="直接箭头连接符 35"/>
          <p:cNvCxnSpPr>
            <a:stCxn id="13" idx="3"/>
            <a:endCxn id="14" idx="1"/>
          </p:cNvCxnSpPr>
          <p:nvPr/>
        </p:nvCxnSpPr>
        <p:spPr>
          <a:xfrm>
            <a:off x="3159919" y="4400550"/>
            <a:ext cx="257175" cy="0"/>
          </a:xfrm>
          <a:prstGeom prst="straightConnector1">
            <a:avLst/>
          </a:prstGeom>
          <a:ln w="19050">
            <a:solidFill>
              <a:srgbClr val="6C829D"/>
            </a:solidFill>
            <a:headEnd type="triangle" w="sm" len="sm"/>
          </a:ln>
        </p:spPr>
      </p:cxnSp>
      <p:cxnSp>
        <p:nvCxnSpPr>
          <p:cNvPr id="37" name="直接箭头连接符 36"/>
          <p:cNvCxnSpPr>
            <a:stCxn id="14" idx="3"/>
            <a:endCxn id="15" idx="1"/>
          </p:cNvCxnSpPr>
          <p:nvPr/>
        </p:nvCxnSpPr>
        <p:spPr>
          <a:xfrm>
            <a:off x="5967413" y="4400550"/>
            <a:ext cx="257175" cy="0"/>
          </a:xfrm>
          <a:prstGeom prst="straightConnector1">
            <a:avLst/>
          </a:prstGeom>
          <a:ln w="19050">
            <a:solidFill>
              <a:srgbClr val="6C829D"/>
            </a:solidFill>
            <a:headEnd type="triangle" w="sm" len="sm"/>
          </a:ln>
        </p:spPr>
      </p:cxnSp>
      <p:cxnSp>
        <p:nvCxnSpPr>
          <p:cNvPr id="38" name="直接箭头连接符 37"/>
          <p:cNvCxnSpPr>
            <a:stCxn id="15" idx="3"/>
            <a:endCxn id="16" idx="1"/>
          </p:cNvCxnSpPr>
          <p:nvPr/>
        </p:nvCxnSpPr>
        <p:spPr>
          <a:xfrm>
            <a:off x="8774907" y="4400550"/>
            <a:ext cx="257174" cy="0"/>
          </a:xfrm>
          <a:prstGeom prst="straightConnector1">
            <a:avLst/>
          </a:prstGeom>
          <a:ln w="19050">
            <a:solidFill>
              <a:srgbClr val="6C829D"/>
            </a:solidFill>
            <a:headEnd type="triangle" w="sm" len="sm"/>
          </a:ln>
        </p:spPr>
      </p:cxnSp>
    </p:spTree>
    <p:extLst>
      <p:ext uri="{BB962C8B-B14F-4D97-AF65-F5344CB8AC3E}">
        <p14:creationId xmlns:p14="http://schemas.microsoft.com/office/powerpoint/2010/main" val="1371570829"/>
      </p:ext>
    </p:extLst>
  </p:cSld>
  <p:clrMapOvr>
    <a:masterClrMapping/>
  </p:clrMapOvr>
  <p:transition>
    <p:fade thruBlk="1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6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460"/>
                            </p:stCondLst>
                            <p:childTnLst>
                              <p:par>
                                <p:cTn id="9" presetID="10" presetClass="entr" presetSubtype="0" fill="hold" grpId="0" nodeType="afterEffect">
                                  <p:stCondLst>
                                    <p:cond delay="6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4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920"/>
                            </p:stCondLst>
                            <p:childTnLst>
                              <p:par>
                                <p:cTn id="13" presetID="10" presetClass="entr" presetSubtype="0" fill="hold" grpId="0" nodeType="afterEffect">
                                  <p:stCondLst>
                                    <p:cond delay="6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4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1380"/>
                            </p:stCondLst>
                            <p:childTnLst>
                              <p:par>
                                <p:cTn id="17" presetID="10" presetClass="entr" presetSubtype="0" fill="hold" grpId="0" nodeType="afterEffect">
                                  <p:stCondLst>
                                    <p:cond delay="6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4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1840"/>
                            </p:stCondLst>
                            <p:childTnLst>
                              <p:par>
                                <p:cTn id="21" presetID="10" presetClass="entr" presetSubtype="0" fill="hold" grpId="0" nodeType="afterEffect">
                                  <p:stCondLst>
                                    <p:cond delay="6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4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2300"/>
                            </p:stCondLst>
                            <p:childTnLst>
                              <p:par>
                                <p:cTn id="25" presetID="10" presetClass="entr" presetSubtype="0" fill="hold" grpId="0" nodeType="afterEffect">
                                  <p:stCondLst>
                                    <p:cond delay="6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4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>
                            <p:stCondLst>
                              <p:cond delay="2760"/>
                            </p:stCondLst>
                            <p:childTnLst>
                              <p:par>
                                <p:cTn id="29" presetID="10" presetClass="entr" presetSubtype="0" fill="hold" nodeType="afterEffect">
                                  <p:stCondLst>
                                    <p:cond delay="6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4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2" fill="hold">
                            <p:stCondLst>
                              <p:cond delay="3220"/>
                            </p:stCondLst>
                            <p:childTnLst>
                              <p:par>
                                <p:cTn id="33" presetID="10" presetClass="entr" presetSubtype="0" fill="hold" nodeType="afterEffect">
                                  <p:stCondLst>
                                    <p:cond delay="6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4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6" fill="hold">
                            <p:stCondLst>
                              <p:cond delay="3680"/>
                            </p:stCondLst>
                            <p:childTnLst>
                              <p:par>
                                <p:cTn id="37" presetID="10" presetClass="entr" presetSubtype="0" fill="hold" nodeType="afterEffect">
                                  <p:stCondLst>
                                    <p:cond delay="6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4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0" fill="hold">
                            <p:stCondLst>
                              <p:cond delay="4140"/>
                            </p:stCondLst>
                            <p:childTnLst>
                              <p:par>
                                <p:cTn id="41" presetID="10" presetClass="entr" presetSubtype="0" fill="hold" grpId="0" nodeType="afterEffect">
                                  <p:stCondLst>
                                    <p:cond delay="6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4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4" fill="hold">
                            <p:stCondLst>
                              <p:cond delay="4600"/>
                            </p:stCondLst>
                            <p:childTnLst>
                              <p:par>
                                <p:cTn id="45" presetID="10" presetClass="entr" presetSubtype="0" fill="hold" grpId="0" nodeType="afterEffect">
                                  <p:stCondLst>
                                    <p:cond delay="6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4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8" fill="hold">
                            <p:stCondLst>
                              <p:cond delay="5060"/>
                            </p:stCondLst>
                            <p:childTnLst>
                              <p:par>
                                <p:cTn id="49" presetID="10" presetClass="entr" presetSubtype="0" fill="hold" grpId="0" nodeType="afterEffect">
                                  <p:stCondLst>
                                    <p:cond delay="6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1" dur="4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2" fill="hold">
                            <p:stCondLst>
                              <p:cond delay="5520"/>
                            </p:stCondLst>
                            <p:childTnLst>
                              <p:par>
                                <p:cTn id="53" presetID="10" presetClass="entr" presetSubtype="0" fill="hold" grpId="0" nodeType="afterEffect">
                                  <p:stCondLst>
                                    <p:cond delay="6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4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6" fill="hold">
                            <p:stCondLst>
                              <p:cond delay="5980"/>
                            </p:stCondLst>
                            <p:childTnLst>
                              <p:par>
                                <p:cTn id="57" presetID="10" presetClass="entr" presetSubtype="0" fill="hold" nodeType="afterEffect">
                                  <p:stCondLst>
                                    <p:cond delay="6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9" dur="4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0" fill="hold">
                            <p:stCondLst>
                              <p:cond delay="6440"/>
                            </p:stCondLst>
                            <p:childTnLst>
                              <p:par>
                                <p:cTn id="61" presetID="10" presetClass="entr" presetSubtype="0" fill="hold" nodeType="afterEffect">
                                  <p:stCondLst>
                                    <p:cond delay="6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3" dur="4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4" fill="hold">
                            <p:stCondLst>
                              <p:cond delay="6900"/>
                            </p:stCondLst>
                            <p:childTnLst>
                              <p:par>
                                <p:cTn id="65" presetID="10" presetClass="entr" presetSubtype="0" fill="hold" nodeType="afterEffect">
                                  <p:stCondLst>
                                    <p:cond delay="6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4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8" fill="hold">
                            <p:stCondLst>
                              <p:cond delay="7360"/>
                            </p:stCondLst>
                            <p:childTnLst>
                              <p:par>
                                <p:cTn id="69" presetID="10" presetClass="entr" presetSubtype="0" fill="hold" grpId="0" nodeType="afterEffect">
                                  <p:stCondLst>
                                    <p:cond delay="6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1" dur="4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2" fill="hold">
                            <p:stCondLst>
                              <p:cond delay="7820"/>
                            </p:stCondLst>
                            <p:childTnLst>
                              <p:par>
                                <p:cTn id="73" presetID="10" presetClass="entr" presetSubtype="0" fill="hold" grpId="0" nodeType="afterEffect">
                                  <p:stCondLst>
                                    <p:cond delay="6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5" dur="4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6" fill="hold">
                            <p:stCondLst>
                              <p:cond delay="8280"/>
                            </p:stCondLst>
                            <p:childTnLst>
                              <p:par>
                                <p:cTn id="77" presetID="10" presetClass="entr" presetSubtype="0" fill="hold" grpId="0" nodeType="afterEffect">
                                  <p:stCondLst>
                                    <p:cond delay="6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9" dur="4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0" grpId="0"/>
      <p:bldP spid="2" grpId="0"/>
      <p:bldP spid="3" grpId="0"/>
      <p:bldP spid="4" grpId="0"/>
      <p:bldP spid="5" grpId="0"/>
      <p:bldP spid="6" grpId="0" animBg="1"/>
      <p:bldP spid="7" grpId="0" animBg="1"/>
      <p:bldP spid="8" grpId="0" animBg="1"/>
      <p:bldP spid="9" grpId="0" animBg="1"/>
      <p:bldP spid="13" grpId="0" animBg="1"/>
      <p:bldP spid="14" grpId="0" animBg="1"/>
      <p:bldP spid="15" grpId="0" animBg="1"/>
      <p:bldP spid="16" grpId="0" animBg="1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slide-title">
            <a:extLst>
              <a:ext uri="{FF2B5EF4-FFF2-40B4-BE49-F238E27FC236}">
                <a16:creationId xmlns:a16="http://schemas.microsoft.com/office/drawing/2014/main" id="{B5F9DD75-6B62-46DC-B86E-9D1BF7C370FE}"/>
              </a:ext>
            </a:extLst>
          </p:cNvPr>
          <p:cNvSpPr>
            <a:spLocks noGrp="1"/>
          </p:cNvSpPr>
          <p:nvPr/>
        </p:nvSpPr>
        <p:spPr>
          <a:xfrm>
            <a:off x="609600" y="419100"/>
            <a:ext cx="10972800" cy="6096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l">
              <a:defRPr sz="3000" b="1">
                <a:solidFill>
                  <a:srgbClr val="20344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000" b="1">
                <a:solidFill>
                  <a:srgbClr val="20344F"/>
                </a:solidFill>
                <a:latin typeface="Microsoft YaHei"/>
                <a:ea typeface="Microsoft YaHei"/>
                <a:cs typeface="Microsoft YaHei"/>
              </a:rPr>
              <a:t>专业研究依赖执行</a:t>
            </a:r>
          </a:p>
        </p:txBody>
      </p:sp>
      <p:sp>
        <p:nvSpPr>
          <p:cNvPr id="2" name="document-heading">
            <a:extLst>
              <a:ext uri="{FF2B5EF4-FFF2-40B4-BE49-F238E27FC236}">
                <a16:creationId xmlns:a16="http://schemas.microsoft.com/office/drawing/2014/main" id="{C9DD514F-7E5F-4B27-B578-A530F43D75B2}"/>
              </a:ext>
            </a:extLst>
          </p:cNvPr>
          <p:cNvSpPr>
            <a:spLocks noGrp="1"/>
          </p:cNvSpPr>
          <p:nvPr/>
        </p:nvSpPr>
        <p:spPr>
          <a:xfrm>
            <a:off x="609600" y="1085850"/>
            <a:ext cx="10972800" cy="3238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l">
              <a:defRPr sz="1575" b="0">
                <a:solidFill>
                  <a:srgbClr val="566C8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566C83"/>
                </a:solidFill>
                <a:latin typeface="Microsoft YaHei"/>
                <a:ea typeface="Microsoft YaHei"/>
                <a:cs typeface="Microsoft YaHei"/>
              </a:rPr>
              <a:t>5.3.5 专业研究协作</a:t>
            </a:r>
          </a:p>
        </p:txBody>
      </p:sp>
      <p:sp>
        <p:nvSpPr>
          <p:cNvPr id="3" name="figure-introduction">
            <a:extLst>
              <a:ext uri="{FF2B5EF4-FFF2-40B4-BE49-F238E27FC236}">
                <a16:creationId xmlns:a16="http://schemas.microsoft.com/office/drawing/2014/main" id="{331B3132-C51C-456B-9F03-7B28DA0E8961}"/>
              </a:ext>
            </a:extLst>
          </p:cNvPr>
          <p:cNvSpPr>
            <a:spLocks noGrp="1"/>
          </p:cNvSpPr>
          <p:nvPr/>
        </p:nvSpPr>
        <p:spPr>
          <a:xfrm>
            <a:off x="609600" y="5524500"/>
            <a:ext cx="10972800" cy="8382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l">
              <a:defRPr sz="1725" b="0">
                <a:solidFill>
                  <a:srgbClr val="566C8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566C83"/>
                </a:solidFill>
                <a:latin typeface="Microsoft YaHei"/>
                <a:ea typeface="Microsoft YaHei"/>
                <a:cs typeface="Microsoft YaHei"/>
              </a:rPr>
              <a:t>研究计划声明依赖、必需字段和时间预算。满足依赖的节点并行运行，结果保留状态与引用；未完成条件影响整体结果和下游建议资格。专业处理入口覆盖市场、行业、证券、基金及可转债。</a:t>
            </a:r>
          </a:p>
        </p:txBody>
      </p:sp>
      <p:sp>
        <p:nvSpPr>
          <p:cNvPr id="4" name="footer">
            <a:extLst>
              <a:ext uri="{FF2B5EF4-FFF2-40B4-BE49-F238E27FC236}">
                <a16:creationId xmlns:a16="http://schemas.microsoft.com/office/drawing/2014/main" id="{4934A7A9-0CED-4D9E-AEE8-ABC9D5C5B767}"/>
              </a:ext>
            </a:extLst>
          </p:cNvPr>
          <p:cNvSpPr>
            <a:spLocks noGrp="1"/>
          </p:cNvSpPr>
          <p:nvPr/>
        </p:nvSpPr>
        <p:spPr>
          <a:xfrm>
            <a:off x="609600" y="6477000"/>
            <a:ext cx="9144000" cy="2381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l">
              <a:defRPr sz="1275" b="0">
                <a:solidFill>
                  <a:srgbClr val="566C8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566C83"/>
                </a:solidFill>
                <a:latin typeface="Microsoft YaHei"/>
                <a:ea typeface="Microsoft YaHei"/>
                <a:cs typeface="Microsoft YaHei"/>
              </a:rPr>
              <a:t>Prism · 系统与核心技术</a:t>
            </a:r>
          </a:p>
        </p:txBody>
      </p:sp>
      <p:sp>
        <p:nvSpPr>
          <p:cNvPr id="5" name="page-number">
            <a:extLst>
              <a:ext uri="{FF2B5EF4-FFF2-40B4-BE49-F238E27FC236}">
                <a16:creationId xmlns:a16="http://schemas.microsoft.com/office/drawing/2014/main" id="{E3AAB7E7-091C-4703-AB90-6A11AF9E1CE2}"/>
              </a:ext>
            </a:extLst>
          </p:cNvPr>
          <p:cNvSpPr>
            <a:spLocks noGrp="1"/>
          </p:cNvSpPr>
          <p:nvPr/>
        </p:nvSpPr>
        <p:spPr>
          <a:xfrm>
            <a:off x="11049000" y="6477000"/>
            <a:ext cx="523875" cy="2381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r">
              <a:defRPr sz="1275" b="0">
                <a:solidFill>
                  <a:srgbClr val="566C8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566C83"/>
                </a:solidFill>
                <a:latin typeface="Microsoft YaHei"/>
                <a:ea typeface="Microsoft YaHei"/>
                <a:cs typeface="Microsoft YaHei"/>
              </a:rPr>
              <a:t>10</a:t>
            </a:r>
          </a:p>
        </p:txBody>
      </p:sp>
      <p:sp>
        <p:nvSpPr>
          <p:cNvPr id="6" name="diagram-node">
            <a:extLst>
              <a:ext uri="{FF2B5EF4-FFF2-40B4-BE49-F238E27FC236}">
                <a16:creationId xmlns:a16="http://schemas.microsoft.com/office/drawing/2014/main" id="{6F970204-81CF-4A51-B35C-F21F64C55A4D}"/>
              </a:ext>
            </a:extLst>
          </p:cNvPr>
          <p:cNvSpPr>
            <a:spLocks noGrp="1"/>
          </p:cNvSpPr>
          <p:nvPr/>
        </p:nvSpPr>
        <p:spPr>
          <a:xfrm>
            <a:off x="609600" y="2495550"/>
            <a:ext cx="2286000" cy="1095375"/>
          </a:xfrm>
          <a:prstGeom prst="roundRect">
            <a:avLst>
              <a:gd name="adj" fmla="val 8696"/>
            </a:avLst>
          </a:prstGeom>
          <a:solidFill>
            <a:srgbClr val="E7EFFF"/>
          </a:solidFill>
          <a:ln w="11430">
            <a:solidFill>
              <a:srgbClr val="BBCBDE"/>
            </a:solidFill>
          </a:ln>
        </p:spPr>
        <p:txBody>
          <a:bodyPr lIns="95250" tIns="76200" rIns="95250" bIns="76200" anchor="ctr">
            <a:noAutofit/>
          </a:bodyPr>
          <a:lstStyle/>
          <a:p>
            <a:pPr algn="ctr">
              <a:defRPr sz="1875">
                <a:solidFill>
                  <a:srgbClr val="20344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>
                <a:solidFill>
                  <a:srgbClr val="20344F"/>
                </a:solidFill>
                <a:latin typeface="Microsoft YaHei"/>
                <a:ea typeface="Microsoft YaHei"/>
                <a:cs typeface="Microsoft YaHei"/>
              </a:rPr>
              <a:t>研究计划</a:t>
            </a:r>
          </a:p>
          <a:p>
            <a:pPr algn="ctr">
              <a:defRPr sz="1875">
                <a:solidFill>
                  <a:srgbClr val="20344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>
                <a:solidFill>
                  <a:srgbClr val="20344F"/>
                </a:solidFill>
                <a:latin typeface="Microsoft YaHei"/>
                <a:ea typeface="Microsoft YaHei"/>
                <a:cs typeface="Microsoft YaHei"/>
              </a:rPr>
              <a:t>依赖与时间预算</a:t>
            </a:r>
          </a:p>
        </p:txBody>
      </p:sp>
      <p:sp>
        <p:nvSpPr>
          <p:cNvPr id="7" name="diagram-node">
            <a:extLst>
              <a:ext uri="{FF2B5EF4-FFF2-40B4-BE49-F238E27FC236}">
                <a16:creationId xmlns:a16="http://schemas.microsoft.com/office/drawing/2014/main" id="{EA9A4D22-2766-4A4E-A08F-2676B8AE8FCD}"/>
              </a:ext>
            </a:extLst>
          </p:cNvPr>
          <p:cNvSpPr>
            <a:spLocks noGrp="1"/>
          </p:cNvSpPr>
          <p:nvPr/>
        </p:nvSpPr>
        <p:spPr>
          <a:xfrm>
            <a:off x="3638550" y="1714500"/>
            <a:ext cx="2381250" cy="904875"/>
          </a:xfrm>
          <a:prstGeom prst="roundRect">
            <a:avLst>
              <a:gd name="adj" fmla="val 10526"/>
            </a:avLst>
          </a:prstGeom>
          <a:solidFill>
            <a:srgbClr val="E7EFFF"/>
          </a:solidFill>
          <a:ln w="11430">
            <a:solidFill>
              <a:srgbClr val="BBCBDE"/>
            </a:solidFill>
          </a:ln>
        </p:spPr>
        <p:txBody>
          <a:bodyPr lIns="95250" tIns="76200" rIns="95250" bIns="76200" anchor="ctr">
            <a:noAutofit/>
          </a:bodyPr>
          <a:lstStyle/>
          <a:p>
            <a:pPr algn="ctr">
              <a:defRPr sz="1875">
                <a:solidFill>
                  <a:srgbClr val="20344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>
                <a:solidFill>
                  <a:srgbClr val="20344F"/>
                </a:solidFill>
                <a:latin typeface="Microsoft YaHei"/>
                <a:ea typeface="Microsoft YaHei"/>
                <a:cs typeface="Microsoft YaHei"/>
              </a:rPr>
              <a:t>宏观研究</a:t>
            </a:r>
          </a:p>
          <a:p>
            <a:pPr algn="ctr">
              <a:defRPr sz="1875">
                <a:solidFill>
                  <a:srgbClr val="20344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>
                <a:solidFill>
                  <a:srgbClr val="20344F"/>
                </a:solidFill>
                <a:latin typeface="Microsoft YaHei"/>
                <a:ea typeface="Microsoft YaHei"/>
                <a:cs typeface="Microsoft YaHei"/>
              </a:rPr>
              <a:t>Provider 请求</a:t>
            </a:r>
          </a:p>
        </p:txBody>
      </p:sp>
      <p:sp>
        <p:nvSpPr>
          <p:cNvPr id="8" name="diagram-node">
            <a:extLst>
              <a:ext uri="{FF2B5EF4-FFF2-40B4-BE49-F238E27FC236}">
                <a16:creationId xmlns:a16="http://schemas.microsoft.com/office/drawing/2014/main" id="{4633BD70-2C9B-4FFF-944F-9ECCC484BAF1}"/>
              </a:ext>
            </a:extLst>
          </p:cNvPr>
          <p:cNvSpPr>
            <a:spLocks noGrp="1"/>
          </p:cNvSpPr>
          <p:nvPr/>
        </p:nvSpPr>
        <p:spPr>
          <a:xfrm>
            <a:off x="3638550" y="3667125"/>
            <a:ext cx="2381250" cy="904875"/>
          </a:xfrm>
          <a:prstGeom prst="roundRect">
            <a:avLst>
              <a:gd name="adj" fmla="val 10526"/>
            </a:avLst>
          </a:prstGeom>
          <a:solidFill>
            <a:srgbClr val="E7EFFF"/>
          </a:solidFill>
          <a:ln w="11430">
            <a:solidFill>
              <a:srgbClr val="BBCBDE"/>
            </a:solidFill>
          </a:ln>
        </p:spPr>
        <p:txBody>
          <a:bodyPr lIns="95250" tIns="76200" rIns="95250" bIns="76200" anchor="ctr">
            <a:noAutofit/>
          </a:bodyPr>
          <a:lstStyle/>
          <a:p>
            <a:pPr algn="ctr">
              <a:defRPr sz="1875">
                <a:solidFill>
                  <a:srgbClr val="20344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>
                <a:solidFill>
                  <a:srgbClr val="20344F"/>
                </a:solidFill>
                <a:latin typeface="Microsoft YaHei"/>
                <a:ea typeface="Microsoft YaHei"/>
                <a:cs typeface="Microsoft YaHei"/>
              </a:rPr>
              <a:t>行业研究</a:t>
            </a:r>
          </a:p>
          <a:p>
            <a:pPr algn="ctr">
              <a:defRPr sz="1875">
                <a:solidFill>
                  <a:srgbClr val="20344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>
                <a:solidFill>
                  <a:srgbClr val="20344F"/>
                </a:solidFill>
                <a:latin typeface="Microsoft YaHei"/>
                <a:ea typeface="Microsoft YaHei"/>
                <a:cs typeface="Microsoft YaHei"/>
              </a:rPr>
              <a:t>Provider 请求</a:t>
            </a:r>
          </a:p>
        </p:txBody>
      </p:sp>
      <p:sp>
        <p:nvSpPr>
          <p:cNvPr id="9" name="diagram-node">
            <a:extLst>
              <a:ext uri="{FF2B5EF4-FFF2-40B4-BE49-F238E27FC236}">
                <a16:creationId xmlns:a16="http://schemas.microsoft.com/office/drawing/2014/main" id="{B733ADDF-68E9-4CE8-9CB9-80D528AA35AD}"/>
              </a:ext>
            </a:extLst>
          </p:cNvPr>
          <p:cNvSpPr>
            <a:spLocks noGrp="1"/>
          </p:cNvSpPr>
          <p:nvPr/>
        </p:nvSpPr>
        <p:spPr>
          <a:xfrm>
            <a:off x="6934200" y="2495550"/>
            <a:ext cx="2571750" cy="1095375"/>
          </a:xfrm>
          <a:prstGeom prst="roundRect">
            <a:avLst>
              <a:gd name="adj" fmla="val 8696"/>
            </a:avLst>
          </a:prstGeom>
          <a:solidFill>
            <a:srgbClr val="E7EFFF"/>
          </a:solidFill>
          <a:ln w="11430">
            <a:solidFill>
              <a:srgbClr val="BBCBDE"/>
            </a:solidFill>
          </a:ln>
        </p:spPr>
        <p:txBody>
          <a:bodyPr lIns="95250" tIns="76200" rIns="95250" bIns="76200" anchor="ctr">
            <a:noAutofit/>
          </a:bodyPr>
          <a:lstStyle/>
          <a:p>
            <a:pPr algn="ctr">
              <a:defRPr sz="1875">
                <a:solidFill>
                  <a:srgbClr val="20344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>
                <a:solidFill>
                  <a:srgbClr val="20344F"/>
                </a:solidFill>
                <a:latin typeface="Microsoft YaHei"/>
                <a:ea typeface="Microsoft YaHei"/>
                <a:cs typeface="Microsoft YaHei"/>
              </a:rPr>
              <a:t>个股 / 基金研究</a:t>
            </a:r>
          </a:p>
          <a:p>
            <a:pPr algn="ctr">
              <a:defRPr sz="1875">
                <a:solidFill>
                  <a:srgbClr val="20344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>
                <a:solidFill>
                  <a:srgbClr val="20344F"/>
                </a:solidFill>
                <a:latin typeface="Microsoft YaHei"/>
                <a:ea typeface="Microsoft YaHei"/>
                <a:cs typeface="Microsoft YaHei"/>
              </a:rPr>
              <a:t>结构化结果</a:t>
            </a:r>
          </a:p>
        </p:txBody>
      </p:sp>
      <p:sp>
        <p:nvSpPr>
          <p:cNvPr id="10" name="diagram-node">
            <a:extLst>
              <a:ext uri="{FF2B5EF4-FFF2-40B4-BE49-F238E27FC236}">
                <a16:creationId xmlns:a16="http://schemas.microsoft.com/office/drawing/2014/main" id="{C9F14EFB-4BAB-47E3-9FD5-FE14CF575B4B}"/>
              </a:ext>
            </a:extLst>
          </p:cNvPr>
          <p:cNvSpPr>
            <a:spLocks noGrp="1"/>
          </p:cNvSpPr>
          <p:nvPr/>
        </p:nvSpPr>
        <p:spPr>
          <a:xfrm>
            <a:off x="10039350" y="2495550"/>
            <a:ext cx="1619250" cy="1095375"/>
          </a:xfrm>
          <a:prstGeom prst="roundRect">
            <a:avLst>
              <a:gd name="adj" fmla="val 8696"/>
            </a:avLst>
          </a:prstGeom>
          <a:solidFill>
            <a:srgbClr val="E4F4ED"/>
          </a:solidFill>
          <a:ln w="11430">
            <a:solidFill>
              <a:srgbClr val="BBCBDE"/>
            </a:solidFill>
          </a:ln>
        </p:spPr>
        <p:txBody>
          <a:bodyPr lIns="95250" tIns="76200" rIns="95250" bIns="76200" anchor="ctr">
            <a:noAutofit/>
          </a:bodyPr>
          <a:lstStyle/>
          <a:p>
            <a:pPr algn="ctr">
              <a:defRPr sz="1800">
                <a:solidFill>
                  <a:srgbClr val="20344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>
                <a:solidFill>
                  <a:srgbClr val="20344F"/>
                </a:solidFill>
                <a:latin typeface="Microsoft YaHei"/>
                <a:ea typeface="Microsoft YaHei"/>
                <a:cs typeface="Microsoft YaHei"/>
              </a:rPr>
              <a:t>结果汇集</a:t>
            </a:r>
          </a:p>
          <a:p>
            <a:pPr algn="ctr">
              <a:defRPr sz="1800">
                <a:solidFill>
                  <a:srgbClr val="20344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>
                <a:solidFill>
                  <a:srgbClr val="20344F"/>
                </a:solidFill>
                <a:latin typeface="Microsoft YaHei"/>
                <a:ea typeface="Microsoft YaHei"/>
                <a:cs typeface="Microsoft YaHei"/>
              </a:rPr>
              <a:t>状态与引用</a:t>
            </a:r>
          </a:p>
        </p:txBody>
      </p:sp>
      <p:cxnSp>
        <p:nvCxnSpPr>
          <p:cNvPr id="27" name="直接箭头连接符 26"/>
          <p:cNvCxnSpPr>
            <a:stCxn id="6" idx="3"/>
            <a:endCxn id="7" idx="1"/>
          </p:cNvCxnSpPr>
          <p:nvPr/>
        </p:nvCxnSpPr>
        <p:spPr>
          <a:xfrm flipV="1">
            <a:off x="2895600" y="2166938"/>
            <a:ext cx="742950" cy="876300"/>
          </a:xfrm>
          <a:prstGeom prst="straightConnector1">
            <a:avLst/>
          </a:prstGeom>
          <a:ln w="19050">
            <a:solidFill>
              <a:srgbClr val="6C829D"/>
            </a:solidFill>
            <a:headEnd type="triangle" w="sm" len="sm"/>
          </a:ln>
        </p:spPr>
      </p:cxnSp>
      <p:cxnSp>
        <p:nvCxnSpPr>
          <p:cNvPr id="28" name="直接箭头连接符 27"/>
          <p:cNvCxnSpPr>
            <a:stCxn id="6" idx="3"/>
            <a:endCxn id="8" idx="1"/>
          </p:cNvCxnSpPr>
          <p:nvPr/>
        </p:nvCxnSpPr>
        <p:spPr>
          <a:xfrm>
            <a:off x="2895600" y="3043238"/>
            <a:ext cx="742950" cy="1076325"/>
          </a:xfrm>
          <a:prstGeom prst="straightConnector1">
            <a:avLst/>
          </a:prstGeom>
          <a:ln w="19050">
            <a:solidFill>
              <a:srgbClr val="6C829D"/>
            </a:solidFill>
            <a:headEnd type="triangle" w="sm" len="sm"/>
          </a:ln>
        </p:spPr>
      </p:cxnSp>
      <p:cxnSp>
        <p:nvCxnSpPr>
          <p:cNvPr id="29" name="直接箭头连接符 28"/>
          <p:cNvCxnSpPr>
            <a:stCxn id="7" idx="3"/>
            <a:endCxn id="9" idx="1"/>
          </p:cNvCxnSpPr>
          <p:nvPr/>
        </p:nvCxnSpPr>
        <p:spPr>
          <a:xfrm>
            <a:off x="6019800" y="2166938"/>
            <a:ext cx="914400" cy="876300"/>
          </a:xfrm>
          <a:prstGeom prst="straightConnector1">
            <a:avLst/>
          </a:prstGeom>
          <a:ln w="19050">
            <a:solidFill>
              <a:srgbClr val="6C829D"/>
            </a:solidFill>
            <a:headEnd type="triangle" w="sm" len="sm"/>
          </a:ln>
        </p:spPr>
      </p:cxnSp>
      <p:cxnSp>
        <p:nvCxnSpPr>
          <p:cNvPr id="30" name="直接箭头连接符 29"/>
          <p:cNvCxnSpPr>
            <a:stCxn id="8" idx="3"/>
            <a:endCxn id="9" idx="1"/>
          </p:cNvCxnSpPr>
          <p:nvPr/>
        </p:nvCxnSpPr>
        <p:spPr>
          <a:xfrm flipV="1">
            <a:off x="6019800" y="3043238"/>
            <a:ext cx="914400" cy="1076325"/>
          </a:xfrm>
          <a:prstGeom prst="straightConnector1">
            <a:avLst/>
          </a:prstGeom>
          <a:ln w="19050">
            <a:solidFill>
              <a:srgbClr val="6C829D"/>
            </a:solidFill>
            <a:headEnd type="triangle" w="sm" len="sm"/>
          </a:ln>
        </p:spPr>
      </p:cxnSp>
      <p:cxnSp>
        <p:nvCxnSpPr>
          <p:cNvPr id="31" name="直接箭头连接符 30"/>
          <p:cNvCxnSpPr>
            <a:stCxn id="9" idx="3"/>
            <a:endCxn id="10" idx="1"/>
          </p:cNvCxnSpPr>
          <p:nvPr/>
        </p:nvCxnSpPr>
        <p:spPr>
          <a:xfrm>
            <a:off x="9505950" y="3043238"/>
            <a:ext cx="533400" cy="0"/>
          </a:xfrm>
          <a:prstGeom prst="straightConnector1">
            <a:avLst/>
          </a:prstGeom>
          <a:ln w="19050">
            <a:solidFill>
              <a:srgbClr val="6C829D"/>
            </a:solidFill>
            <a:headEnd type="triangle" w="sm" len="sm"/>
          </a:ln>
        </p:spPr>
      </p:cxnSp>
      <p:sp>
        <p:nvSpPr>
          <p:cNvPr id="16" name="text">
            <a:extLst>
              <a:ext uri="{FF2B5EF4-FFF2-40B4-BE49-F238E27FC236}">
                <a16:creationId xmlns:a16="http://schemas.microsoft.com/office/drawing/2014/main" id="{D414EC1F-22A4-4960-9AC7-61CF885E9D9D}"/>
              </a:ext>
            </a:extLst>
          </p:cNvPr>
          <p:cNvSpPr>
            <a:spLocks noGrp="1"/>
          </p:cNvSpPr>
          <p:nvPr/>
        </p:nvSpPr>
        <p:spPr>
          <a:xfrm>
            <a:off x="609600" y="4819650"/>
            <a:ext cx="10972800" cy="3714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l">
              <a:defRPr sz="1875" b="0">
                <a:solidFill>
                  <a:srgbClr val="2867B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2867BF"/>
                </a:solidFill>
                <a:latin typeface="Microsoft YaHei"/>
                <a:ea typeface="Microsoft YaHei"/>
                <a:cs typeface="Microsoft YaHei"/>
              </a:rPr>
              <a:t>依赖示意；具体连接由当前 WorkflowDefinition 决定 · asyncio.gather</a:t>
            </a:r>
          </a:p>
        </p:txBody>
      </p:sp>
    </p:spTree>
    <p:extLst>
      <p:ext uri="{BB962C8B-B14F-4D97-AF65-F5344CB8AC3E}">
        <p14:creationId xmlns:p14="http://schemas.microsoft.com/office/powerpoint/2010/main" val="195442999"/>
      </p:ext>
    </p:extLst>
  </p:cSld>
  <p:clrMapOvr>
    <a:masterClrMapping/>
  </p:clrMapOvr>
  <p:transition>
    <p:fade thruBlk="1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6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460"/>
                            </p:stCondLst>
                            <p:childTnLst>
                              <p:par>
                                <p:cTn id="9" presetID="10" presetClass="entr" presetSubtype="0" fill="hold" grpId="0" nodeType="afterEffect">
                                  <p:stCondLst>
                                    <p:cond delay="6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4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920"/>
                            </p:stCondLst>
                            <p:childTnLst>
                              <p:par>
                                <p:cTn id="13" presetID="10" presetClass="entr" presetSubtype="0" fill="hold" grpId="0" nodeType="afterEffect">
                                  <p:stCondLst>
                                    <p:cond delay="6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4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1380"/>
                            </p:stCondLst>
                            <p:childTnLst>
                              <p:par>
                                <p:cTn id="17" presetID="10" presetClass="entr" presetSubtype="0" fill="hold" nodeType="afterEffect">
                                  <p:stCondLst>
                                    <p:cond delay="6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4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1840"/>
                            </p:stCondLst>
                            <p:childTnLst>
                              <p:par>
                                <p:cTn id="21" presetID="10" presetClass="entr" presetSubtype="0" fill="hold" nodeType="afterEffect">
                                  <p:stCondLst>
                                    <p:cond delay="6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4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2300"/>
                            </p:stCondLst>
                            <p:childTnLst>
                              <p:par>
                                <p:cTn id="25" presetID="10" presetClass="entr" presetSubtype="0" fill="hold" grpId="0" nodeType="afterEffect">
                                  <p:stCondLst>
                                    <p:cond delay="6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4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>
                            <p:stCondLst>
                              <p:cond delay="2760"/>
                            </p:stCondLst>
                            <p:childTnLst>
                              <p:par>
                                <p:cTn id="29" presetID="10" presetClass="entr" presetSubtype="0" fill="hold" grpId="0" nodeType="afterEffect">
                                  <p:stCondLst>
                                    <p:cond delay="6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4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2" fill="hold">
                            <p:stCondLst>
                              <p:cond delay="3220"/>
                            </p:stCondLst>
                            <p:childTnLst>
                              <p:par>
                                <p:cTn id="33" presetID="10" presetClass="entr" presetSubtype="0" fill="hold" grpId="0" nodeType="afterEffect">
                                  <p:stCondLst>
                                    <p:cond delay="6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4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6" fill="hold">
                            <p:stCondLst>
                              <p:cond delay="3680"/>
                            </p:stCondLst>
                            <p:childTnLst>
                              <p:par>
                                <p:cTn id="37" presetID="10" presetClass="entr" presetSubtype="0" fill="hold" nodeType="afterEffect">
                                  <p:stCondLst>
                                    <p:cond delay="6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4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0" fill="hold">
                            <p:stCondLst>
                              <p:cond delay="4140"/>
                            </p:stCondLst>
                            <p:childTnLst>
                              <p:par>
                                <p:cTn id="41" presetID="10" presetClass="entr" presetSubtype="0" fill="hold" nodeType="afterEffect">
                                  <p:stCondLst>
                                    <p:cond delay="6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4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4" fill="hold">
                            <p:stCondLst>
                              <p:cond delay="4600"/>
                            </p:stCondLst>
                            <p:childTnLst>
                              <p:par>
                                <p:cTn id="45" presetID="10" presetClass="entr" presetSubtype="0" fill="hold" nodeType="afterEffect">
                                  <p:stCondLst>
                                    <p:cond delay="6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4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8" fill="hold">
                            <p:stCondLst>
                              <p:cond delay="5060"/>
                            </p:stCondLst>
                            <p:childTnLst>
                              <p:par>
                                <p:cTn id="49" presetID="10" presetClass="entr" presetSubtype="0" fill="hold" grpId="0" nodeType="afterEffect">
                                  <p:stCondLst>
                                    <p:cond delay="6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1" dur="4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2" fill="hold">
                            <p:stCondLst>
                              <p:cond delay="5520"/>
                            </p:stCondLst>
                            <p:childTnLst>
                              <p:par>
                                <p:cTn id="53" presetID="10" presetClass="entr" presetSubtype="0" fill="hold" grpId="0" nodeType="afterEffect">
                                  <p:stCondLst>
                                    <p:cond delay="6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4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6" fill="hold">
                            <p:stCondLst>
                              <p:cond delay="5980"/>
                            </p:stCondLst>
                            <p:childTnLst>
                              <p:par>
                                <p:cTn id="57" presetID="10" presetClass="entr" presetSubtype="0" fill="hold" grpId="0" nodeType="afterEffect">
                                  <p:stCondLst>
                                    <p:cond delay="6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9" dur="4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0" fill="hold">
                            <p:stCondLst>
                              <p:cond delay="6440"/>
                            </p:stCondLst>
                            <p:childTnLst>
                              <p:par>
                                <p:cTn id="61" presetID="10" presetClass="entr" presetSubtype="0" fill="hold" grpId="0" nodeType="afterEffect">
                                  <p:stCondLst>
                                    <p:cond delay="6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3" dur="4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4" fill="hold">
                            <p:stCondLst>
                              <p:cond delay="6900"/>
                            </p:stCondLst>
                            <p:childTnLst>
                              <p:par>
                                <p:cTn id="65" presetID="10" presetClass="entr" presetSubtype="0" fill="hold" grpId="0" nodeType="afterEffect">
                                  <p:stCondLst>
                                    <p:cond delay="6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4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/>
      <p:bldP spid="2" grpId="0"/>
      <p:bldP spid="3" grpId="0"/>
      <p:bldP spid="4" grpId="0"/>
      <p:bldP spid="5" grpId="0"/>
      <p:bldP spid="6" grpId="0" animBg="1"/>
      <p:bldP spid="7" grpId="0" animBg="1"/>
      <p:bldP spid="8" grpId="0" animBg="1"/>
      <p:bldP spid="9" grpId="0" animBg="1"/>
      <p:bldP spid="10" grpId="0" animBg="1"/>
      <p:bldP spid="16" grpId="0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slide-title">
            <a:extLst>
              <a:ext uri="{FF2B5EF4-FFF2-40B4-BE49-F238E27FC236}">
                <a16:creationId xmlns:a16="http://schemas.microsoft.com/office/drawing/2014/main" id="{64DCCE92-15CC-4B50-869E-131E4EA69203}"/>
              </a:ext>
            </a:extLst>
          </p:cNvPr>
          <p:cNvSpPr>
            <a:spLocks noGrp="1"/>
          </p:cNvSpPr>
          <p:nvPr/>
        </p:nvSpPr>
        <p:spPr>
          <a:xfrm>
            <a:off x="609600" y="419100"/>
            <a:ext cx="10972800" cy="6096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l">
              <a:defRPr sz="3000" b="1">
                <a:solidFill>
                  <a:srgbClr val="20344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000" b="1">
                <a:solidFill>
                  <a:srgbClr val="20344F"/>
                </a:solidFill>
                <a:latin typeface="Microsoft YaHei"/>
                <a:ea typeface="Microsoft YaHei"/>
                <a:cs typeface="Microsoft YaHei"/>
              </a:rPr>
              <a:t>风险与合规双重审查</a:t>
            </a:r>
          </a:p>
        </p:txBody>
      </p:sp>
      <p:sp>
        <p:nvSpPr>
          <p:cNvPr id="2" name="document-heading">
            <a:extLst>
              <a:ext uri="{FF2B5EF4-FFF2-40B4-BE49-F238E27FC236}">
                <a16:creationId xmlns:a16="http://schemas.microsoft.com/office/drawing/2014/main" id="{4F6817AB-3EC4-42B8-8405-70C66C46FE9F}"/>
              </a:ext>
            </a:extLst>
          </p:cNvPr>
          <p:cNvSpPr>
            <a:spLocks noGrp="1"/>
          </p:cNvSpPr>
          <p:nvPr/>
        </p:nvSpPr>
        <p:spPr>
          <a:xfrm>
            <a:off x="609600" y="1085850"/>
            <a:ext cx="10972800" cy="3238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l">
              <a:defRPr sz="1575" b="0">
                <a:solidFill>
                  <a:srgbClr val="566C8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566C83"/>
                </a:solidFill>
                <a:latin typeface="Microsoft YaHei"/>
                <a:ea typeface="Microsoft YaHei"/>
                <a:cs typeface="Microsoft YaHei"/>
              </a:rPr>
              <a:t>5.3.6 风险与合规双重审查</a:t>
            </a:r>
          </a:p>
        </p:txBody>
      </p:sp>
      <p:sp>
        <p:nvSpPr>
          <p:cNvPr id="3" name="figure-introduction">
            <a:extLst>
              <a:ext uri="{FF2B5EF4-FFF2-40B4-BE49-F238E27FC236}">
                <a16:creationId xmlns:a16="http://schemas.microsoft.com/office/drawing/2014/main" id="{E728C084-995C-4D36-9B72-BA1573C9D250}"/>
              </a:ext>
            </a:extLst>
          </p:cNvPr>
          <p:cNvSpPr>
            <a:spLocks noGrp="1"/>
          </p:cNvSpPr>
          <p:nvPr/>
        </p:nvSpPr>
        <p:spPr>
          <a:xfrm>
            <a:off x="609600" y="5524500"/>
            <a:ext cx="10972800" cy="8382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l">
              <a:defRPr sz="1725" b="0">
                <a:solidFill>
                  <a:srgbClr val="566C8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566C83"/>
                </a:solidFill>
                <a:latin typeface="Microsoft YaHei"/>
                <a:ea typeface="Microsoft YaHei"/>
                <a:cs typeface="Microsoft YaHei"/>
              </a:rPr>
              <a:t>风险与合规分别检查其职责内的输入。整体状态按 BLOCKED、REVIEW_REQUIRED、PASS 的顺序聚合，只有双方 PASS 才取得建议资格；建议组合器继续核对输入绑定和引用。</a:t>
            </a:r>
          </a:p>
        </p:txBody>
      </p:sp>
      <p:sp>
        <p:nvSpPr>
          <p:cNvPr id="4" name="footer">
            <a:extLst>
              <a:ext uri="{FF2B5EF4-FFF2-40B4-BE49-F238E27FC236}">
                <a16:creationId xmlns:a16="http://schemas.microsoft.com/office/drawing/2014/main" id="{FE3FD0F7-9F6F-42A1-8F81-DE0419920F1A}"/>
              </a:ext>
            </a:extLst>
          </p:cNvPr>
          <p:cNvSpPr>
            <a:spLocks noGrp="1"/>
          </p:cNvSpPr>
          <p:nvPr/>
        </p:nvSpPr>
        <p:spPr>
          <a:xfrm>
            <a:off x="609600" y="6477000"/>
            <a:ext cx="9144000" cy="2381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l">
              <a:defRPr sz="1275" b="0">
                <a:solidFill>
                  <a:srgbClr val="566C8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566C83"/>
                </a:solidFill>
                <a:latin typeface="Microsoft YaHei"/>
                <a:ea typeface="Microsoft YaHei"/>
                <a:cs typeface="Microsoft YaHei"/>
              </a:rPr>
              <a:t>Prism · 系统与核心技术</a:t>
            </a:r>
          </a:p>
        </p:txBody>
      </p:sp>
      <p:sp>
        <p:nvSpPr>
          <p:cNvPr id="5" name="page-number">
            <a:extLst>
              <a:ext uri="{FF2B5EF4-FFF2-40B4-BE49-F238E27FC236}">
                <a16:creationId xmlns:a16="http://schemas.microsoft.com/office/drawing/2014/main" id="{C4B6C259-FC48-4277-85BB-7ACD9AC60412}"/>
              </a:ext>
            </a:extLst>
          </p:cNvPr>
          <p:cNvSpPr>
            <a:spLocks noGrp="1"/>
          </p:cNvSpPr>
          <p:nvPr/>
        </p:nvSpPr>
        <p:spPr>
          <a:xfrm>
            <a:off x="11049000" y="6477000"/>
            <a:ext cx="523875" cy="2381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r">
              <a:defRPr sz="1275" b="0">
                <a:solidFill>
                  <a:srgbClr val="566C8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566C83"/>
                </a:solidFill>
                <a:latin typeface="Microsoft YaHei"/>
                <a:ea typeface="Microsoft YaHei"/>
                <a:cs typeface="Microsoft YaHei"/>
              </a:rPr>
              <a:t>11</a:t>
            </a:r>
          </a:p>
        </p:txBody>
      </p:sp>
      <p:sp>
        <p:nvSpPr>
          <p:cNvPr id="6" name="diagram-node">
            <a:extLst>
              <a:ext uri="{FF2B5EF4-FFF2-40B4-BE49-F238E27FC236}">
                <a16:creationId xmlns:a16="http://schemas.microsoft.com/office/drawing/2014/main" id="{BA75DBE8-6C0E-4645-B295-433FC91F34C7}"/>
              </a:ext>
            </a:extLst>
          </p:cNvPr>
          <p:cNvSpPr>
            <a:spLocks noGrp="1"/>
          </p:cNvSpPr>
          <p:nvPr/>
        </p:nvSpPr>
        <p:spPr>
          <a:xfrm>
            <a:off x="609600" y="2514600"/>
            <a:ext cx="2809875" cy="1143000"/>
          </a:xfrm>
          <a:prstGeom prst="roundRect">
            <a:avLst>
              <a:gd name="adj" fmla="val 8333"/>
            </a:avLst>
          </a:prstGeom>
          <a:solidFill>
            <a:srgbClr val="E7EFFF"/>
          </a:solidFill>
          <a:ln w="11430">
            <a:solidFill>
              <a:srgbClr val="BBCBDE"/>
            </a:solidFill>
          </a:ln>
        </p:spPr>
        <p:txBody>
          <a:bodyPr lIns="95250" tIns="76200" rIns="95250" bIns="76200" anchor="ctr">
            <a:noAutofit/>
          </a:bodyPr>
          <a:lstStyle/>
          <a:p>
            <a:pPr algn="ctr">
              <a:defRPr sz="1875">
                <a:solidFill>
                  <a:srgbClr val="20344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>
                <a:solidFill>
                  <a:srgbClr val="20344F"/>
                </a:solidFill>
                <a:latin typeface="Microsoft YaHei"/>
                <a:ea typeface="Microsoft YaHei"/>
                <a:cs typeface="Microsoft YaHei"/>
              </a:rPr>
              <a:t>画像 · 研究证据</a:t>
            </a:r>
          </a:p>
          <a:p>
            <a:pPr algn="ctr">
              <a:defRPr sz="1875">
                <a:solidFill>
                  <a:srgbClr val="20344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>
                <a:solidFill>
                  <a:srgbClr val="20344F"/>
                </a:solidFill>
                <a:latin typeface="Microsoft YaHei"/>
                <a:ea typeface="Microsoft YaHei"/>
                <a:cs typeface="Microsoft YaHei"/>
              </a:rPr>
              <a:t>预算 · 配置 · 候选文本</a:t>
            </a:r>
          </a:p>
        </p:txBody>
      </p:sp>
      <p:sp>
        <p:nvSpPr>
          <p:cNvPr id="7" name="diagram-node">
            <a:extLst>
              <a:ext uri="{FF2B5EF4-FFF2-40B4-BE49-F238E27FC236}">
                <a16:creationId xmlns:a16="http://schemas.microsoft.com/office/drawing/2014/main" id="{E16DE0C7-26C1-4165-974C-F816E9AF76F3}"/>
              </a:ext>
            </a:extLst>
          </p:cNvPr>
          <p:cNvSpPr>
            <a:spLocks noGrp="1"/>
          </p:cNvSpPr>
          <p:nvPr/>
        </p:nvSpPr>
        <p:spPr>
          <a:xfrm>
            <a:off x="4191000" y="1752600"/>
            <a:ext cx="2857500" cy="952500"/>
          </a:xfrm>
          <a:prstGeom prst="roundRect">
            <a:avLst>
              <a:gd name="adj" fmla="val 10000"/>
            </a:avLst>
          </a:prstGeom>
          <a:solidFill>
            <a:srgbClr val="FFF0DF"/>
          </a:solidFill>
          <a:ln w="11430">
            <a:solidFill>
              <a:srgbClr val="BBCBDE"/>
            </a:solidFill>
          </a:ln>
        </p:spPr>
        <p:txBody>
          <a:bodyPr lIns="95250" tIns="76200" rIns="95250" bIns="76200" anchor="ctr">
            <a:noAutofit/>
          </a:bodyPr>
          <a:lstStyle/>
          <a:p>
            <a:pPr algn="ctr">
              <a:defRPr sz="1875">
                <a:solidFill>
                  <a:srgbClr val="20344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>
                <a:solidFill>
                  <a:srgbClr val="20344F"/>
                </a:solidFill>
                <a:latin typeface="Microsoft YaHei"/>
                <a:ea typeface="Microsoft YaHei"/>
                <a:cs typeface="Microsoft YaHei"/>
              </a:rPr>
              <a:t>风险闸门</a:t>
            </a:r>
          </a:p>
          <a:p>
            <a:pPr algn="ctr">
              <a:defRPr sz="1875">
                <a:solidFill>
                  <a:srgbClr val="20344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>
                <a:solidFill>
                  <a:srgbClr val="20344F"/>
                </a:solidFill>
                <a:latin typeface="Microsoft YaHei"/>
                <a:ea typeface="Microsoft YaHei"/>
                <a:cs typeface="Microsoft YaHei"/>
              </a:rPr>
              <a:t>版本 · 预算 · 证据</a:t>
            </a:r>
          </a:p>
        </p:txBody>
      </p:sp>
      <p:sp>
        <p:nvSpPr>
          <p:cNvPr id="8" name="diagram-node">
            <a:extLst>
              <a:ext uri="{FF2B5EF4-FFF2-40B4-BE49-F238E27FC236}">
                <a16:creationId xmlns:a16="http://schemas.microsoft.com/office/drawing/2014/main" id="{8D196DD9-8E25-48EF-BAAC-81F5C9C69A96}"/>
              </a:ext>
            </a:extLst>
          </p:cNvPr>
          <p:cNvSpPr>
            <a:spLocks noGrp="1"/>
          </p:cNvSpPr>
          <p:nvPr/>
        </p:nvSpPr>
        <p:spPr>
          <a:xfrm>
            <a:off x="4191000" y="3705225"/>
            <a:ext cx="2857500" cy="952500"/>
          </a:xfrm>
          <a:prstGeom prst="roundRect">
            <a:avLst>
              <a:gd name="adj" fmla="val 10000"/>
            </a:avLst>
          </a:prstGeom>
          <a:solidFill>
            <a:srgbClr val="FFF0DF"/>
          </a:solidFill>
          <a:ln w="11430">
            <a:solidFill>
              <a:srgbClr val="BBCBDE"/>
            </a:solidFill>
          </a:ln>
        </p:spPr>
        <p:txBody>
          <a:bodyPr lIns="95250" tIns="76200" rIns="95250" bIns="76200" anchor="ctr">
            <a:noAutofit/>
          </a:bodyPr>
          <a:lstStyle/>
          <a:p>
            <a:pPr algn="ctr">
              <a:defRPr sz="1875">
                <a:solidFill>
                  <a:srgbClr val="20344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>
                <a:solidFill>
                  <a:srgbClr val="20344F"/>
                </a:solidFill>
                <a:latin typeface="Microsoft YaHei"/>
                <a:ea typeface="Microsoft YaHei"/>
                <a:cs typeface="Microsoft YaHei"/>
              </a:rPr>
              <a:t>合规闸门</a:t>
            </a:r>
          </a:p>
          <a:p>
            <a:pPr algn="ctr">
              <a:defRPr sz="1875">
                <a:solidFill>
                  <a:srgbClr val="20344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>
                <a:solidFill>
                  <a:srgbClr val="20344F"/>
                </a:solidFill>
                <a:latin typeface="Microsoft YaHei"/>
                <a:ea typeface="Microsoft YaHei"/>
                <a:cs typeface="Microsoft YaHei"/>
              </a:rPr>
              <a:t>引用 · 披露 · 禁止表述</a:t>
            </a:r>
          </a:p>
        </p:txBody>
      </p:sp>
      <p:sp>
        <p:nvSpPr>
          <p:cNvPr id="9" name="diagram-node">
            <a:extLst>
              <a:ext uri="{FF2B5EF4-FFF2-40B4-BE49-F238E27FC236}">
                <a16:creationId xmlns:a16="http://schemas.microsoft.com/office/drawing/2014/main" id="{99122AB6-F30D-4D5D-B461-6E953BF8438C}"/>
              </a:ext>
            </a:extLst>
          </p:cNvPr>
          <p:cNvSpPr>
            <a:spLocks noGrp="1"/>
          </p:cNvSpPr>
          <p:nvPr/>
        </p:nvSpPr>
        <p:spPr>
          <a:xfrm>
            <a:off x="8067675" y="2428875"/>
            <a:ext cx="3381375" cy="1333500"/>
          </a:xfrm>
          <a:prstGeom prst="roundRect">
            <a:avLst>
              <a:gd name="adj" fmla="val 7143"/>
            </a:avLst>
          </a:prstGeom>
          <a:solidFill>
            <a:srgbClr val="E4F4ED"/>
          </a:solidFill>
          <a:ln w="11430">
            <a:solidFill>
              <a:srgbClr val="BBCBDE"/>
            </a:solidFill>
          </a:ln>
        </p:spPr>
        <p:txBody>
          <a:bodyPr lIns="95250" tIns="76200" rIns="95250" bIns="76200" anchor="ctr">
            <a:noAutofit/>
          </a:bodyPr>
          <a:lstStyle/>
          <a:p>
            <a:pPr algn="ctr">
              <a:defRPr sz="1875">
                <a:solidFill>
                  <a:srgbClr val="20344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>
                <a:solidFill>
                  <a:srgbClr val="20344F"/>
                </a:solidFill>
                <a:latin typeface="Microsoft YaHei"/>
                <a:ea typeface="Microsoft YaHei"/>
                <a:cs typeface="Microsoft YaHei"/>
              </a:rPr>
              <a:t>双方 PASS</a:t>
            </a:r>
          </a:p>
          <a:p>
            <a:pPr algn="ctr">
              <a:defRPr sz="1875">
                <a:solidFill>
                  <a:srgbClr val="20344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>
                <a:solidFill>
                  <a:srgbClr val="20344F"/>
                </a:solidFill>
                <a:latin typeface="Microsoft YaHei"/>
                <a:ea typeface="Microsoft YaHei"/>
                <a:cs typeface="Microsoft YaHei"/>
              </a:rPr>
              <a:t>Recommendation</a:t>
            </a:r>
          </a:p>
          <a:p>
            <a:pPr algn="ctr">
              <a:defRPr sz="1875">
                <a:solidFill>
                  <a:srgbClr val="20344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>
                <a:solidFill>
                  <a:srgbClr val="20344F"/>
                </a:solidFill>
                <a:latin typeface="Microsoft YaHei"/>
                <a:ea typeface="Microsoft YaHei"/>
                <a:cs typeface="Microsoft YaHei"/>
              </a:rPr>
              <a:t>DecisionReceipt</a:t>
            </a:r>
          </a:p>
        </p:txBody>
      </p:sp>
      <p:cxnSp>
        <p:nvCxnSpPr>
          <p:cNvPr id="24" name="直接箭头连接符 23"/>
          <p:cNvCxnSpPr>
            <a:stCxn id="6" idx="3"/>
            <a:endCxn id="7" idx="1"/>
          </p:cNvCxnSpPr>
          <p:nvPr/>
        </p:nvCxnSpPr>
        <p:spPr>
          <a:xfrm flipV="1">
            <a:off x="3419475" y="2228850"/>
            <a:ext cx="771525" cy="857250"/>
          </a:xfrm>
          <a:prstGeom prst="straightConnector1">
            <a:avLst/>
          </a:prstGeom>
          <a:ln w="19050">
            <a:solidFill>
              <a:srgbClr val="6C829D"/>
            </a:solidFill>
            <a:headEnd type="triangle" w="sm" len="sm"/>
          </a:ln>
        </p:spPr>
      </p:cxnSp>
      <p:cxnSp>
        <p:nvCxnSpPr>
          <p:cNvPr id="25" name="直接箭头连接符 24"/>
          <p:cNvCxnSpPr>
            <a:stCxn id="6" idx="3"/>
            <a:endCxn id="8" idx="1"/>
          </p:cNvCxnSpPr>
          <p:nvPr/>
        </p:nvCxnSpPr>
        <p:spPr>
          <a:xfrm>
            <a:off x="3419475" y="3086100"/>
            <a:ext cx="771525" cy="1095375"/>
          </a:xfrm>
          <a:prstGeom prst="straightConnector1">
            <a:avLst/>
          </a:prstGeom>
          <a:ln w="19050">
            <a:solidFill>
              <a:srgbClr val="6C829D"/>
            </a:solidFill>
            <a:headEnd type="triangle" w="sm" len="sm"/>
          </a:ln>
        </p:spPr>
      </p:cxnSp>
      <p:cxnSp>
        <p:nvCxnSpPr>
          <p:cNvPr id="26" name="直接箭头连接符 25"/>
          <p:cNvCxnSpPr>
            <a:stCxn id="7" idx="3"/>
            <a:endCxn id="9" idx="1"/>
          </p:cNvCxnSpPr>
          <p:nvPr/>
        </p:nvCxnSpPr>
        <p:spPr>
          <a:xfrm>
            <a:off x="7048500" y="2228850"/>
            <a:ext cx="1019175" cy="866775"/>
          </a:xfrm>
          <a:prstGeom prst="straightConnector1">
            <a:avLst/>
          </a:prstGeom>
          <a:ln w="19050">
            <a:solidFill>
              <a:srgbClr val="6C829D"/>
            </a:solidFill>
            <a:headEnd type="triangle" w="sm" len="sm"/>
          </a:ln>
        </p:spPr>
      </p:cxnSp>
      <p:cxnSp>
        <p:nvCxnSpPr>
          <p:cNvPr id="27" name="直接箭头连接符 26"/>
          <p:cNvCxnSpPr>
            <a:stCxn id="8" idx="3"/>
            <a:endCxn id="9" idx="1"/>
          </p:cNvCxnSpPr>
          <p:nvPr/>
        </p:nvCxnSpPr>
        <p:spPr>
          <a:xfrm flipV="1">
            <a:off x="7048500" y="3095625"/>
            <a:ext cx="1019175" cy="1085850"/>
          </a:xfrm>
          <a:prstGeom prst="straightConnector1">
            <a:avLst/>
          </a:prstGeom>
          <a:ln w="19050">
            <a:solidFill>
              <a:srgbClr val="6C829D"/>
            </a:solidFill>
            <a:headEnd type="triangle" w="sm" len="sm"/>
          </a:ln>
        </p:spPr>
      </p:cxnSp>
      <p:sp>
        <p:nvSpPr>
          <p:cNvPr id="14" name="text">
            <a:extLst>
              <a:ext uri="{FF2B5EF4-FFF2-40B4-BE49-F238E27FC236}">
                <a16:creationId xmlns:a16="http://schemas.microsoft.com/office/drawing/2014/main" id="{B03DC5E2-20F3-4115-84A8-3981F16FBA19}"/>
              </a:ext>
            </a:extLst>
          </p:cNvPr>
          <p:cNvSpPr>
            <a:spLocks noGrp="1"/>
          </p:cNvSpPr>
          <p:nvPr/>
        </p:nvSpPr>
        <p:spPr>
          <a:xfrm>
            <a:off x="609600" y="4953000"/>
            <a:ext cx="10972800" cy="3619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l">
              <a:defRPr sz="2100" b="0">
                <a:solidFill>
                  <a:srgbClr val="2867B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2867BF"/>
                </a:solidFill>
                <a:latin typeface="Microsoft YaHei"/>
                <a:ea typeface="Microsoft YaHei"/>
                <a:cs typeface="Microsoft YaHei"/>
              </a:rPr>
              <a:t>BLOCKED &gt; REVIEW_REQUIRED &gt; PASS</a:t>
            </a:r>
          </a:p>
        </p:txBody>
      </p:sp>
    </p:spTree>
    <p:extLst>
      <p:ext uri="{BB962C8B-B14F-4D97-AF65-F5344CB8AC3E}">
        <p14:creationId xmlns:p14="http://schemas.microsoft.com/office/powerpoint/2010/main" val="13496107"/>
      </p:ext>
    </p:extLst>
  </p:cSld>
  <p:clrMapOvr>
    <a:masterClrMapping/>
  </p:clrMapOvr>
  <p:transition>
    <p:fade thruBlk="1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6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460"/>
                            </p:stCondLst>
                            <p:childTnLst>
                              <p:par>
                                <p:cTn id="9" presetID="10" presetClass="entr" presetSubtype="0" fill="hold" grpId="0" nodeType="afterEffect">
                                  <p:stCondLst>
                                    <p:cond delay="6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4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920"/>
                            </p:stCondLst>
                            <p:childTnLst>
                              <p:par>
                                <p:cTn id="13" presetID="10" presetClass="entr" presetSubtype="0" fill="hold" grpId="0" nodeType="afterEffect">
                                  <p:stCondLst>
                                    <p:cond delay="6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4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1380"/>
                            </p:stCondLst>
                            <p:childTnLst>
                              <p:par>
                                <p:cTn id="17" presetID="10" presetClass="entr" presetSubtype="0" fill="hold" nodeType="afterEffect">
                                  <p:stCondLst>
                                    <p:cond delay="6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4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1840"/>
                            </p:stCondLst>
                            <p:childTnLst>
                              <p:par>
                                <p:cTn id="21" presetID="10" presetClass="entr" presetSubtype="0" fill="hold" nodeType="afterEffect">
                                  <p:stCondLst>
                                    <p:cond delay="6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4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2300"/>
                            </p:stCondLst>
                            <p:childTnLst>
                              <p:par>
                                <p:cTn id="25" presetID="10" presetClass="entr" presetSubtype="0" fill="hold" grpId="0" nodeType="afterEffect">
                                  <p:stCondLst>
                                    <p:cond delay="6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4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>
                            <p:stCondLst>
                              <p:cond delay="2760"/>
                            </p:stCondLst>
                            <p:childTnLst>
                              <p:par>
                                <p:cTn id="29" presetID="10" presetClass="entr" presetSubtype="0" fill="hold" grpId="0" nodeType="afterEffect">
                                  <p:stCondLst>
                                    <p:cond delay="6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4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2" fill="hold">
                            <p:stCondLst>
                              <p:cond delay="3220"/>
                            </p:stCondLst>
                            <p:childTnLst>
                              <p:par>
                                <p:cTn id="33" presetID="10" presetClass="entr" presetSubtype="0" fill="hold" nodeType="afterEffect">
                                  <p:stCondLst>
                                    <p:cond delay="6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4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6" fill="hold">
                            <p:stCondLst>
                              <p:cond delay="3680"/>
                            </p:stCondLst>
                            <p:childTnLst>
                              <p:par>
                                <p:cTn id="37" presetID="10" presetClass="entr" presetSubtype="0" fill="hold" nodeType="afterEffect">
                                  <p:stCondLst>
                                    <p:cond delay="6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4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0" fill="hold">
                            <p:stCondLst>
                              <p:cond delay="4140"/>
                            </p:stCondLst>
                            <p:childTnLst>
                              <p:par>
                                <p:cTn id="41" presetID="10" presetClass="entr" presetSubtype="0" fill="hold" grpId="0" nodeType="afterEffect">
                                  <p:stCondLst>
                                    <p:cond delay="6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4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4" fill="hold">
                            <p:stCondLst>
                              <p:cond delay="4600"/>
                            </p:stCondLst>
                            <p:childTnLst>
                              <p:par>
                                <p:cTn id="45" presetID="10" presetClass="entr" presetSubtype="0" fill="hold" grpId="0" nodeType="afterEffect">
                                  <p:stCondLst>
                                    <p:cond delay="6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4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8" fill="hold">
                            <p:stCondLst>
                              <p:cond delay="5060"/>
                            </p:stCondLst>
                            <p:childTnLst>
                              <p:par>
                                <p:cTn id="49" presetID="10" presetClass="entr" presetSubtype="0" fill="hold" grpId="0" nodeType="afterEffect">
                                  <p:stCondLst>
                                    <p:cond delay="6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1" dur="4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2" fill="hold">
                            <p:stCondLst>
                              <p:cond delay="5520"/>
                            </p:stCondLst>
                            <p:childTnLst>
                              <p:par>
                                <p:cTn id="53" presetID="10" presetClass="entr" presetSubtype="0" fill="hold" grpId="0" nodeType="afterEffect">
                                  <p:stCondLst>
                                    <p:cond delay="6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4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6" fill="hold">
                            <p:stCondLst>
                              <p:cond delay="5980"/>
                            </p:stCondLst>
                            <p:childTnLst>
                              <p:par>
                                <p:cTn id="57" presetID="10" presetClass="entr" presetSubtype="0" fill="hold" grpId="0" nodeType="afterEffect">
                                  <p:stCondLst>
                                    <p:cond delay="6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9" dur="4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/>
      <p:bldP spid="2" grpId="0"/>
      <p:bldP spid="3" grpId="0"/>
      <p:bldP spid="4" grpId="0"/>
      <p:bldP spid="5" grpId="0"/>
      <p:bldP spid="6" grpId="0" animBg="1"/>
      <p:bldP spid="7" grpId="0" animBg="1"/>
      <p:bldP spid="8" grpId="0" animBg="1"/>
      <p:bldP spid="9" grpId="0" animBg="1"/>
      <p:bldP spid="14" grpId="0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">
            <a:extLst>
              <a:ext uri="{FF2B5EF4-FFF2-40B4-BE49-F238E27FC236}">
                <a16:creationId xmlns:a16="http://schemas.microsoft.com/office/drawing/2014/main" id="{D7FFBAA9-3677-4AC9-BBF7-79129FC89BA2}"/>
              </a:ext>
            </a:extLst>
          </p:cNvPr>
          <p:cNvSpPr>
            <a:spLocks noGrp="1"/>
          </p:cNvSpPr>
          <p:nvPr/>
        </p:nvSpPr>
        <p:spPr>
          <a:xfrm>
            <a:off x="1905000" y="2305050"/>
            <a:ext cx="2143125" cy="14287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l">
              <a:defRPr sz="9450" b="1">
                <a:solidFill>
                  <a:srgbClr val="25282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450" b="1">
                <a:solidFill>
                  <a:srgbClr val="25282C"/>
                </a:solidFill>
                <a:latin typeface="Microsoft YaHei"/>
                <a:ea typeface="Microsoft YaHei"/>
                <a:cs typeface="Microsoft YaHei"/>
              </a:rPr>
              <a:t>02</a:t>
            </a:r>
          </a:p>
        </p:txBody>
      </p:sp>
      <p:sp>
        <p:nvSpPr>
          <p:cNvPr id="2" name="text">
            <a:extLst>
              <a:ext uri="{FF2B5EF4-FFF2-40B4-BE49-F238E27FC236}">
                <a16:creationId xmlns:a16="http://schemas.microsoft.com/office/drawing/2014/main" id="{672F37BF-B671-4ACE-A34B-7C4EB94DF757}"/>
              </a:ext>
            </a:extLst>
          </p:cNvPr>
          <p:cNvSpPr>
            <a:spLocks noGrp="1"/>
          </p:cNvSpPr>
          <p:nvPr/>
        </p:nvSpPr>
        <p:spPr>
          <a:xfrm>
            <a:off x="4429125" y="2124075"/>
            <a:ext cx="6667500" cy="4762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l">
              <a:defRPr sz="2250" b="0">
                <a:solidFill>
                  <a:srgbClr val="33384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0">
                <a:solidFill>
                  <a:srgbClr val="333840"/>
                </a:solidFill>
                <a:latin typeface="Microsoft YaHei"/>
                <a:ea typeface="Microsoft YaHei"/>
                <a:cs typeface="Microsoft YaHei"/>
              </a:rPr>
              <a:t>Algorithms and Innovation</a:t>
            </a:r>
          </a:p>
        </p:txBody>
      </p:sp>
      <p:sp>
        <p:nvSpPr>
          <p:cNvPr id="3" name="text">
            <a:extLst>
              <a:ext uri="{FF2B5EF4-FFF2-40B4-BE49-F238E27FC236}">
                <a16:creationId xmlns:a16="http://schemas.microsoft.com/office/drawing/2014/main" id="{49D9FAD2-4FE2-4FBD-8572-B209DD576C84}"/>
              </a:ext>
            </a:extLst>
          </p:cNvPr>
          <p:cNvSpPr>
            <a:spLocks noGrp="1"/>
          </p:cNvSpPr>
          <p:nvPr/>
        </p:nvSpPr>
        <p:spPr>
          <a:xfrm>
            <a:off x="4429125" y="2762250"/>
            <a:ext cx="7096125" cy="8763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l">
              <a:defRPr sz="4500" b="1">
                <a:solidFill>
                  <a:srgbClr val="2867B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4500" b="1">
                <a:solidFill>
                  <a:srgbClr val="2867BF"/>
                </a:solidFill>
                <a:latin typeface="Microsoft YaHei"/>
                <a:ea typeface="Microsoft YaHei"/>
                <a:cs typeface="Microsoft YaHei"/>
              </a:rPr>
              <a:t>算法与创新机制</a:t>
            </a:r>
          </a:p>
        </p:txBody>
      </p:sp>
      <p:sp>
        <p:nvSpPr>
          <p:cNvPr id="4" name="text">
            <a:extLst>
              <a:ext uri="{FF2B5EF4-FFF2-40B4-BE49-F238E27FC236}">
                <a16:creationId xmlns:a16="http://schemas.microsoft.com/office/drawing/2014/main" id="{4AE9A582-9FC5-4C4D-989D-21438496C9A1}"/>
              </a:ext>
            </a:extLst>
          </p:cNvPr>
          <p:cNvSpPr>
            <a:spLocks noGrp="1"/>
          </p:cNvSpPr>
          <p:nvPr/>
        </p:nvSpPr>
        <p:spPr>
          <a:xfrm>
            <a:off x="4476750" y="3895725"/>
            <a:ext cx="6286500" cy="7620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l">
              <a:defRPr sz="1725" b="0">
                <a:solidFill>
                  <a:srgbClr val="566C8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566C83"/>
                </a:solidFill>
                <a:latin typeface="Microsoft YaHei"/>
                <a:ea typeface="Microsoft YaHei"/>
                <a:cs typeface="Microsoft YaHei"/>
              </a:rPr>
              <a:t>按技术文档 6.1—6.5 说明机制、算法与评价条件</a:t>
            </a:r>
          </a:p>
        </p:txBody>
      </p:sp>
    </p:spTree>
    <p:extLst>
      <p:ext uri="{BB962C8B-B14F-4D97-AF65-F5344CB8AC3E}">
        <p14:creationId xmlns:p14="http://schemas.microsoft.com/office/powerpoint/2010/main" val="297280821"/>
      </p:ext>
    </p:extLst>
  </p:cSld>
  <p:clrMapOvr>
    <a:masterClrMapping/>
  </p:clrMapOvr>
  <p:transition>
    <p:fade thruBlk="1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6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460"/>
                            </p:stCondLst>
                            <p:childTnLst>
                              <p:par>
                                <p:cTn id="9" presetID="10" presetClass="entr" presetSubtype="0" fill="hold" grpId="0" nodeType="afterEffect">
                                  <p:stCondLst>
                                    <p:cond delay="6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4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920"/>
                            </p:stCondLst>
                            <p:childTnLst>
                              <p:par>
                                <p:cTn id="13" presetID="10" presetClass="entr" presetSubtype="0" fill="hold" grpId="0" nodeType="afterEffect">
                                  <p:stCondLst>
                                    <p:cond delay="6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4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1380"/>
                            </p:stCondLst>
                            <p:childTnLst>
                              <p:par>
                                <p:cTn id="17" presetID="10" presetClass="entr" presetSubtype="0" fill="hold" grpId="0" nodeType="afterEffect">
                                  <p:stCondLst>
                                    <p:cond delay="6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4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  <p:bldP spid="2" grpId="0"/>
      <p:bldP spid="3" grpId="0"/>
      <p:bldP spid="4" grpId="0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slide-title">
            <a:extLst>
              <a:ext uri="{FF2B5EF4-FFF2-40B4-BE49-F238E27FC236}">
                <a16:creationId xmlns:a16="http://schemas.microsoft.com/office/drawing/2014/main" id="{9E295A29-D0C0-43FE-B205-68D0B21EF996}"/>
              </a:ext>
            </a:extLst>
          </p:cNvPr>
          <p:cNvSpPr>
            <a:spLocks noGrp="1"/>
          </p:cNvSpPr>
          <p:nvPr/>
        </p:nvSpPr>
        <p:spPr>
          <a:xfrm>
            <a:off x="609600" y="419100"/>
            <a:ext cx="10972800" cy="6096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l">
              <a:defRPr sz="3000" b="1">
                <a:solidFill>
                  <a:srgbClr val="20344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000" b="1">
                <a:solidFill>
                  <a:srgbClr val="20344F"/>
                </a:solidFill>
                <a:latin typeface="Microsoft YaHei"/>
                <a:ea typeface="Microsoft YaHei"/>
                <a:cs typeface="Microsoft YaHei"/>
              </a:rPr>
              <a:t>画像驱动的风险约束映射算法</a:t>
            </a:r>
          </a:p>
        </p:txBody>
      </p:sp>
      <p:sp>
        <p:nvSpPr>
          <p:cNvPr id="2" name="document-heading">
            <a:extLst>
              <a:ext uri="{FF2B5EF4-FFF2-40B4-BE49-F238E27FC236}">
                <a16:creationId xmlns:a16="http://schemas.microsoft.com/office/drawing/2014/main" id="{014F3ADC-B2EC-4AE7-80A4-4156A21F0129}"/>
              </a:ext>
            </a:extLst>
          </p:cNvPr>
          <p:cNvSpPr>
            <a:spLocks noGrp="1"/>
          </p:cNvSpPr>
          <p:nvPr/>
        </p:nvSpPr>
        <p:spPr>
          <a:xfrm>
            <a:off x="609600" y="1085850"/>
            <a:ext cx="10972800" cy="3238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l">
              <a:defRPr sz="1575" b="0">
                <a:solidFill>
                  <a:srgbClr val="566C8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566C83"/>
                </a:solidFill>
                <a:latin typeface="Microsoft YaHei"/>
                <a:ea typeface="Microsoft YaHei"/>
                <a:cs typeface="Microsoft YaHei"/>
              </a:rPr>
              <a:t>6.1 画像驱动的风险约束映射算法</a:t>
            </a:r>
          </a:p>
        </p:txBody>
      </p:sp>
      <p:sp>
        <p:nvSpPr>
          <p:cNvPr id="3" name="figure-introduction">
            <a:extLst>
              <a:ext uri="{FF2B5EF4-FFF2-40B4-BE49-F238E27FC236}">
                <a16:creationId xmlns:a16="http://schemas.microsoft.com/office/drawing/2014/main" id="{094A7B86-F780-4F94-9E4E-B445A07ADC3F}"/>
              </a:ext>
            </a:extLst>
          </p:cNvPr>
          <p:cNvSpPr>
            <a:spLocks noGrp="1"/>
          </p:cNvSpPr>
          <p:nvPr/>
        </p:nvSpPr>
        <p:spPr>
          <a:xfrm>
            <a:off x="609600" y="5524500"/>
            <a:ext cx="10972800" cy="8382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l">
              <a:defRPr sz="1725" b="0">
                <a:solidFill>
                  <a:srgbClr val="566C8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566C83"/>
                </a:solidFill>
                <a:latin typeface="Microsoft YaHei"/>
                <a:ea typeface="Microsoft YaHei"/>
                <a:cs typeface="Microsoft YaHei"/>
              </a:rPr>
              <a:t>创新机制把问卷字段、确定性分数、预算选择和持仓超限连接起来。维度变化影响分数，风险等级跨越分界时改变预算；上限比较、用户归属和画像版本参与同一次评估。</a:t>
            </a:r>
          </a:p>
        </p:txBody>
      </p:sp>
      <p:sp>
        <p:nvSpPr>
          <p:cNvPr id="4" name="footer">
            <a:extLst>
              <a:ext uri="{FF2B5EF4-FFF2-40B4-BE49-F238E27FC236}">
                <a16:creationId xmlns:a16="http://schemas.microsoft.com/office/drawing/2014/main" id="{6A1C893C-D516-441C-A8B7-965BA74282D6}"/>
              </a:ext>
            </a:extLst>
          </p:cNvPr>
          <p:cNvSpPr>
            <a:spLocks noGrp="1"/>
          </p:cNvSpPr>
          <p:nvPr/>
        </p:nvSpPr>
        <p:spPr>
          <a:xfrm>
            <a:off x="609600" y="6477000"/>
            <a:ext cx="9144000" cy="2381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l">
              <a:defRPr sz="1275" b="0">
                <a:solidFill>
                  <a:srgbClr val="566C8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566C83"/>
                </a:solidFill>
                <a:latin typeface="Microsoft YaHei"/>
                <a:ea typeface="Microsoft YaHei"/>
                <a:cs typeface="Microsoft YaHei"/>
              </a:rPr>
              <a:t>Prism · 算法与创新机制</a:t>
            </a:r>
          </a:p>
        </p:txBody>
      </p:sp>
      <p:sp>
        <p:nvSpPr>
          <p:cNvPr id="5" name="page-number">
            <a:extLst>
              <a:ext uri="{FF2B5EF4-FFF2-40B4-BE49-F238E27FC236}">
                <a16:creationId xmlns:a16="http://schemas.microsoft.com/office/drawing/2014/main" id="{F01E9107-2E99-4230-AD7C-3CE74DF4E811}"/>
              </a:ext>
            </a:extLst>
          </p:cNvPr>
          <p:cNvSpPr>
            <a:spLocks noGrp="1"/>
          </p:cNvSpPr>
          <p:nvPr/>
        </p:nvSpPr>
        <p:spPr>
          <a:xfrm>
            <a:off x="11049000" y="6477000"/>
            <a:ext cx="523875" cy="2381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r">
              <a:defRPr sz="1275" b="0">
                <a:solidFill>
                  <a:srgbClr val="566C8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566C83"/>
                </a:solidFill>
                <a:latin typeface="Microsoft YaHei"/>
                <a:ea typeface="Microsoft YaHei"/>
                <a:cs typeface="Microsoft YaHei"/>
              </a:rPr>
              <a:t>13</a:t>
            </a:r>
          </a:p>
        </p:txBody>
      </p:sp>
      <p:graphicFrame>
        <p:nvGraphicFramePr>
          <p:cNvPr id="13" name="表格 12"/>
          <p:cNvGraphicFramePr/>
          <p:nvPr/>
        </p:nvGraphicFramePr>
        <p:xfrm>
          <a:off x="609600" y="1695450"/>
          <a:ext cx="10972800" cy="3257550"/>
        </p:xfrm>
        <a:graphic>
          <a:graphicData uri="http://schemas.openxmlformats.org/drawingml/2006/table">
            <a:tbl>
              <a:tblPr/>
              <a:tblGrid>
                <a:gridCol w="32861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8097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19087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68605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542925"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20344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评分字段</a:t>
                      </a:r>
                    </a:p>
                  </a:txBody>
                  <a:tcPr>
                    <a:solidFill>
                      <a:srgbClr val="E7E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20344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权重</a:t>
                      </a:r>
                    </a:p>
                  </a:txBody>
                  <a:tcPr>
                    <a:solidFill>
                      <a:srgbClr val="E7E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20344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处理方式</a:t>
                      </a:r>
                    </a:p>
                  </a:txBody>
                  <a:tcPr>
                    <a:solidFill>
                      <a:srgbClr val="E7E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20344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参与计算</a:t>
                      </a:r>
                    </a:p>
                  </a:txBody>
                  <a:tcPr>
                    <a:solidFill>
                      <a:srgbClr val="E7E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42925"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0344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损失承受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0344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30%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0344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(s−1)/4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0344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Decimal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42925"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0344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投资期限</a:t>
                      </a:r>
                    </a:p>
                  </a:txBody>
                  <a:tcPr>
                    <a:solidFill>
                      <a:srgbClr val="F6F8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0344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25%</a:t>
                      </a:r>
                    </a:p>
                  </a:txBody>
                  <a:tcPr>
                    <a:solidFill>
                      <a:srgbClr val="F6F8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0344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1 / 3 / 5 分</a:t>
                      </a:r>
                    </a:p>
                  </a:txBody>
                  <a:tcPr>
                    <a:solidFill>
                      <a:srgbClr val="F6F8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0344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归一化</a:t>
                      </a:r>
                    </a:p>
                  </a:txBody>
                  <a:tcPr>
                    <a:solidFill>
                      <a:srgbClr val="F6F8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42925"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0344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流动性需求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0344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20%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0344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5 / 3 / 1 分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0344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归一化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42925"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0344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投资经验</a:t>
                      </a:r>
                    </a:p>
                  </a:txBody>
                  <a:tcPr>
                    <a:solidFill>
                      <a:srgbClr val="F6F8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0344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10%</a:t>
                      </a:r>
                    </a:p>
                  </a:txBody>
                  <a:tcPr>
                    <a:solidFill>
                      <a:srgbClr val="F6F8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0344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1 / 3 / 5 分</a:t>
                      </a:r>
                    </a:p>
                  </a:txBody>
                  <a:tcPr>
                    <a:solidFill>
                      <a:srgbClr val="F6F8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0344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归一化</a:t>
                      </a:r>
                    </a:p>
                  </a:txBody>
                  <a:tcPr>
                    <a:solidFill>
                      <a:srgbClr val="F6F8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42925"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0344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收益预期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0344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15%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0344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1 / 3 / 5 分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0344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归一化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7" name="text">
            <a:extLst>
              <a:ext uri="{FF2B5EF4-FFF2-40B4-BE49-F238E27FC236}">
                <a16:creationId xmlns:a16="http://schemas.microsoft.com/office/drawing/2014/main" id="{F775BA57-7C9A-4621-9571-9633E451DD24}"/>
              </a:ext>
            </a:extLst>
          </p:cNvPr>
          <p:cNvSpPr>
            <a:spLocks noGrp="1"/>
          </p:cNvSpPr>
          <p:nvPr/>
        </p:nvSpPr>
        <p:spPr>
          <a:xfrm>
            <a:off x="609600" y="5095875"/>
            <a:ext cx="10972800" cy="3143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l">
              <a:defRPr sz="2025" b="0">
                <a:solidFill>
                  <a:srgbClr val="2867B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0">
                <a:solidFill>
                  <a:srgbClr val="2867BF"/>
                </a:solidFill>
                <a:latin typeface="Microsoft YaHei"/>
                <a:ea typeface="Microsoft YaHei"/>
                <a:cs typeface="Microsoft YaHei"/>
              </a:rPr>
              <a:t>score = 100 × Σ weight × (s−1)/4</a:t>
            </a:r>
          </a:p>
        </p:txBody>
      </p:sp>
    </p:spTree>
    <p:extLst>
      <p:ext uri="{BB962C8B-B14F-4D97-AF65-F5344CB8AC3E}">
        <p14:creationId xmlns:p14="http://schemas.microsoft.com/office/powerpoint/2010/main" val="1638064864"/>
      </p:ext>
    </p:extLst>
  </p:cSld>
  <p:clrMapOvr>
    <a:masterClrMapping/>
  </p:clrMapOvr>
  <p:transition>
    <p:fade thruBlk="1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6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460"/>
                            </p:stCondLst>
                            <p:childTnLst>
                              <p:par>
                                <p:cTn id="9" presetID="10" presetClass="entr" presetSubtype="0" fill="hold" grpId="0" nodeType="afterEffect">
                                  <p:stCondLst>
                                    <p:cond delay="6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4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920"/>
                            </p:stCondLst>
                            <p:childTnLst>
                              <p:par>
                                <p:cTn id="13" presetID="10" presetClass="entr" presetSubtype="0" fill="hold" nodeType="afterEffect">
                                  <p:stCondLst>
                                    <p:cond delay="6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4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1380"/>
                            </p:stCondLst>
                            <p:childTnLst>
                              <p:par>
                                <p:cTn id="17" presetID="10" presetClass="entr" presetSubtype="0" fill="hold" grpId="0" nodeType="afterEffect">
                                  <p:stCondLst>
                                    <p:cond delay="6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4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1840"/>
                            </p:stCondLst>
                            <p:childTnLst>
                              <p:par>
                                <p:cTn id="21" presetID="10" presetClass="entr" presetSubtype="0" fill="hold" grpId="0" nodeType="afterEffect">
                                  <p:stCondLst>
                                    <p:cond delay="6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4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2300"/>
                            </p:stCondLst>
                            <p:childTnLst>
                              <p:par>
                                <p:cTn id="25" presetID="10" presetClass="entr" presetSubtype="0" fill="hold" grpId="0" nodeType="afterEffect">
                                  <p:stCondLst>
                                    <p:cond delay="6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4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>
                            <p:stCondLst>
                              <p:cond delay="2760"/>
                            </p:stCondLst>
                            <p:childTnLst>
                              <p:par>
                                <p:cTn id="29" presetID="10" presetClass="entr" presetSubtype="0" fill="hold" grpId="0" nodeType="afterEffect">
                                  <p:stCondLst>
                                    <p:cond delay="6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4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/>
      <p:bldP spid="2" grpId="0"/>
      <p:bldP spid="3" grpId="0"/>
      <p:bldP spid="4" grpId="0"/>
      <p:bldP spid="5" grpId="0"/>
      <p:bldP spid="7" grpId="0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slide-title">
            <a:extLst>
              <a:ext uri="{FF2B5EF4-FFF2-40B4-BE49-F238E27FC236}">
                <a16:creationId xmlns:a16="http://schemas.microsoft.com/office/drawing/2014/main" id="{11C0F7FC-8AD0-47D8-AE17-B152555519E5}"/>
              </a:ext>
            </a:extLst>
          </p:cNvPr>
          <p:cNvSpPr>
            <a:spLocks noGrp="1"/>
          </p:cNvSpPr>
          <p:nvPr/>
        </p:nvSpPr>
        <p:spPr>
          <a:xfrm>
            <a:off x="609600" y="419100"/>
            <a:ext cx="10972800" cy="6096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l">
              <a:defRPr sz="3000" b="1">
                <a:solidFill>
                  <a:srgbClr val="20344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000" b="1">
                <a:solidFill>
                  <a:srgbClr val="20344F"/>
                </a:solidFill>
                <a:latin typeface="Microsoft YaHei"/>
                <a:ea typeface="Microsoft YaHei"/>
                <a:cs typeface="Microsoft YaHei"/>
              </a:rPr>
              <a:t>来源关联约束的证据交叉验证算法</a:t>
            </a:r>
          </a:p>
        </p:txBody>
      </p:sp>
      <p:sp>
        <p:nvSpPr>
          <p:cNvPr id="2" name="document-heading">
            <a:extLst>
              <a:ext uri="{FF2B5EF4-FFF2-40B4-BE49-F238E27FC236}">
                <a16:creationId xmlns:a16="http://schemas.microsoft.com/office/drawing/2014/main" id="{F485E589-7462-4357-BAD1-FBDF52B35BB8}"/>
              </a:ext>
            </a:extLst>
          </p:cNvPr>
          <p:cNvSpPr>
            <a:spLocks noGrp="1"/>
          </p:cNvSpPr>
          <p:nvPr/>
        </p:nvSpPr>
        <p:spPr>
          <a:xfrm>
            <a:off x="609600" y="1085850"/>
            <a:ext cx="10972800" cy="3238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l">
              <a:defRPr sz="1575" b="0">
                <a:solidFill>
                  <a:srgbClr val="566C8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566C83"/>
                </a:solidFill>
                <a:latin typeface="Microsoft YaHei"/>
                <a:ea typeface="Microsoft YaHei"/>
                <a:cs typeface="Microsoft YaHei"/>
              </a:rPr>
              <a:t>6.2 来源关联约束的证据交叉验证算法</a:t>
            </a:r>
          </a:p>
        </p:txBody>
      </p:sp>
      <p:sp>
        <p:nvSpPr>
          <p:cNvPr id="3" name="figure-introduction">
            <a:extLst>
              <a:ext uri="{FF2B5EF4-FFF2-40B4-BE49-F238E27FC236}">
                <a16:creationId xmlns:a16="http://schemas.microsoft.com/office/drawing/2014/main" id="{16A50D7D-8F4F-4826-AD9E-94F5ADD5FE06}"/>
              </a:ext>
            </a:extLst>
          </p:cNvPr>
          <p:cNvSpPr>
            <a:spLocks noGrp="1"/>
          </p:cNvSpPr>
          <p:nvPr/>
        </p:nvSpPr>
        <p:spPr>
          <a:xfrm>
            <a:off x="609600" y="5524500"/>
            <a:ext cx="10972800" cy="8382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l">
              <a:defRPr sz="1725" b="0">
                <a:solidFill>
                  <a:srgbClr val="566C8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566C83"/>
                </a:solidFill>
                <a:latin typeface="Microsoft YaHei"/>
                <a:ea typeface="Microsoft YaHei"/>
                <a:cs typeface="Microsoft YaHei"/>
              </a:rPr>
              <a:t>来源分组控制独立支持数量，同组重复记录只增加引用记录。组内冲突、口径差异或未验证输入要求复核；两个独立来源支持且无反对和待处理问题时才返回 SUPPORTED。</a:t>
            </a:r>
          </a:p>
        </p:txBody>
      </p:sp>
      <p:sp>
        <p:nvSpPr>
          <p:cNvPr id="4" name="footer">
            <a:extLst>
              <a:ext uri="{FF2B5EF4-FFF2-40B4-BE49-F238E27FC236}">
                <a16:creationId xmlns:a16="http://schemas.microsoft.com/office/drawing/2014/main" id="{E8471506-3D68-4BB2-8348-E4247689A8D2}"/>
              </a:ext>
            </a:extLst>
          </p:cNvPr>
          <p:cNvSpPr>
            <a:spLocks noGrp="1"/>
          </p:cNvSpPr>
          <p:nvPr/>
        </p:nvSpPr>
        <p:spPr>
          <a:xfrm>
            <a:off x="609600" y="6477000"/>
            <a:ext cx="9144000" cy="2381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l">
              <a:defRPr sz="1275" b="0">
                <a:solidFill>
                  <a:srgbClr val="566C8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566C83"/>
                </a:solidFill>
                <a:latin typeface="Microsoft YaHei"/>
                <a:ea typeface="Microsoft YaHei"/>
                <a:cs typeface="Microsoft YaHei"/>
              </a:rPr>
              <a:t>Prism · 算法与创新机制</a:t>
            </a:r>
          </a:p>
        </p:txBody>
      </p:sp>
      <p:sp>
        <p:nvSpPr>
          <p:cNvPr id="5" name="page-number">
            <a:extLst>
              <a:ext uri="{FF2B5EF4-FFF2-40B4-BE49-F238E27FC236}">
                <a16:creationId xmlns:a16="http://schemas.microsoft.com/office/drawing/2014/main" id="{88700A5A-F78F-4A11-9A9C-A70C1758B448}"/>
              </a:ext>
            </a:extLst>
          </p:cNvPr>
          <p:cNvSpPr>
            <a:spLocks noGrp="1"/>
          </p:cNvSpPr>
          <p:nvPr/>
        </p:nvSpPr>
        <p:spPr>
          <a:xfrm>
            <a:off x="11049000" y="6477000"/>
            <a:ext cx="523875" cy="2381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r">
              <a:defRPr sz="1275" b="0">
                <a:solidFill>
                  <a:srgbClr val="566C8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566C83"/>
                </a:solidFill>
                <a:latin typeface="Microsoft YaHei"/>
                <a:ea typeface="Microsoft YaHei"/>
                <a:cs typeface="Microsoft YaHei"/>
              </a:rPr>
              <a:t>14</a:t>
            </a:r>
          </a:p>
        </p:txBody>
      </p:sp>
      <p:sp>
        <p:nvSpPr>
          <p:cNvPr id="6" name="diagram-node">
            <a:extLst>
              <a:ext uri="{FF2B5EF4-FFF2-40B4-BE49-F238E27FC236}">
                <a16:creationId xmlns:a16="http://schemas.microsoft.com/office/drawing/2014/main" id="{A4A8ACAE-A905-451F-8A38-FA26EC65A279}"/>
              </a:ext>
            </a:extLst>
          </p:cNvPr>
          <p:cNvSpPr>
            <a:spLocks noGrp="1"/>
          </p:cNvSpPr>
          <p:nvPr/>
        </p:nvSpPr>
        <p:spPr>
          <a:xfrm>
            <a:off x="609600" y="1990725"/>
            <a:ext cx="2550319" cy="1047750"/>
          </a:xfrm>
          <a:prstGeom prst="roundRect">
            <a:avLst>
              <a:gd name="adj" fmla="val 9091"/>
            </a:avLst>
          </a:prstGeom>
          <a:solidFill>
            <a:srgbClr val="EEE9F9"/>
          </a:solidFill>
          <a:ln w="11430">
            <a:solidFill>
              <a:srgbClr val="BBCBDE"/>
            </a:solidFill>
          </a:ln>
        </p:spPr>
        <p:txBody>
          <a:bodyPr lIns="95250" tIns="76200" rIns="95250" bIns="76200" anchor="ctr">
            <a:noAutofit/>
          </a:bodyPr>
          <a:lstStyle/>
          <a:p>
            <a:pPr algn="ctr">
              <a:defRPr sz="1950">
                <a:solidFill>
                  <a:srgbClr val="20344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>
                <a:solidFill>
                  <a:srgbClr val="20344F"/>
                </a:solidFill>
                <a:latin typeface="Microsoft YaHei"/>
                <a:ea typeface="Microsoft YaHei"/>
                <a:cs typeface="Microsoft YaHei"/>
              </a:rPr>
              <a:t>相同口径的观测</a:t>
            </a:r>
          </a:p>
          <a:p>
            <a:pPr algn="ctr">
              <a:defRPr sz="1950">
                <a:solidFill>
                  <a:srgbClr val="20344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>
                <a:solidFill>
                  <a:srgbClr val="20344F"/>
                </a:solidFill>
                <a:latin typeface="Microsoft YaHei"/>
                <a:ea typeface="Microsoft YaHei"/>
                <a:cs typeface="Microsoft YaHei"/>
              </a:rPr>
              <a:t>VERIFIED</a:t>
            </a:r>
          </a:p>
        </p:txBody>
      </p:sp>
      <p:sp>
        <p:nvSpPr>
          <p:cNvPr id="7" name="diagram-node">
            <a:extLst>
              <a:ext uri="{FF2B5EF4-FFF2-40B4-BE49-F238E27FC236}">
                <a16:creationId xmlns:a16="http://schemas.microsoft.com/office/drawing/2014/main" id="{35C6E9FA-E259-4A54-8CB3-3FD58F8D29C9}"/>
              </a:ext>
            </a:extLst>
          </p:cNvPr>
          <p:cNvSpPr>
            <a:spLocks noGrp="1"/>
          </p:cNvSpPr>
          <p:nvPr/>
        </p:nvSpPr>
        <p:spPr>
          <a:xfrm>
            <a:off x="3417094" y="1990725"/>
            <a:ext cx="2550319" cy="1047750"/>
          </a:xfrm>
          <a:prstGeom prst="roundRect">
            <a:avLst>
              <a:gd name="adj" fmla="val 9091"/>
            </a:avLst>
          </a:prstGeom>
          <a:solidFill>
            <a:srgbClr val="EEE9F9"/>
          </a:solidFill>
          <a:ln w="11430">
            <a:solidFill>
              <a:srgbClr val="BBCBDE"/>
            </a:solidFill>
          </a:ln>
        </p:spPr>
        <p:txBody>
          <a:bodyPr lIns="95250" tIns="76200" rIns="95250" bIns="76200" anchor="ctr">
            <a:noAutofit/>
          </a:bodyPr>
          <a:lstStyle/>
          <a:p>
            <a:pPr algn="ctr">
              <a:defRPr sz="1950">
                <a:solidFill>
                  <a:srgbClr val="20344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>
                <a:solidFill>
                  <a:srgbClr val="20344F"/>
                </a:solidFill>
                <a:latin typeface="Microsoft YaHei"/>
                <a:ea typeface="Microsoft YaHei"/>
                <a:cs typeface="Microsoft YaHei"/>
              </a:rPr>
              <a:t>来源组 A</a:t>
            </a:r>
          </a:p>
          <a:p>
            <a:pPr algn="ctr">
              <a:defRPr sz="1950">
                <a:solidFill>
                  <a:srgbClr val="20344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>
                <a:solidFill>
                  <a:srgbClr val="20344F"/>
                </a:solidFill>
                <a:latin typeface="Microsoft YaHei"/>
                <a:ea typeface="Microsoft YaHei"/>
                <a:cs typeface="Microsoft YaHei"/>
              </a:rPr>
              <a:t>同源记录去重</a:t>
            </a:r>
          </a:p>
        </p:txBody>
      </p:sp>
      <p:sp>
        <p:nvSpPr>
          <p:cNvPr id="8" name="diagram-node">
            <a:extLst>
              <a:ext uri="{FF2B5EF4-FFF2-40B4-BE49-F238E27FC236}">
                <a16:creationId xmlns:a16="http://schemas.microsoft.com/office/drawing/2014/main" id="{D5A20A96-292B-4863-8F16-2C190DE97F23}"/>
              </a:ext>
            </a:extLst>
          </p:cNvPr>
          <p:cNvSpPr>
            <a:spLocks noGrp="1"/>
          </p:cNvSpPr>
          <p:nvPr/>
        </p:nvSpPr>
        <p:spPr>
          <a:xfrm>
            <a:off x="6224588" y="1990725"/>
            <a:ext cx="2550319" cy="1047750"/>
          </a:xfrm>
          <a:prstGeom prst="roundRect">
            <a:avLst>
              <a:gd name="adj" fmla="val 9091"/>
            </a:avLst>
          </a:prstGeom>
          <a:solidFill>
            <a:srgbClr val="EEE9F9"/>
          </a:solidFill>
          <a:ln w="11430">
            <a:solidFill>
              <a:srgbClr val="BBCBDE"/>
            </a:solidFill>
          </a:ln>
        </p:spPr>
        <p:txBody>
          <a:bodyPr lIns="95250" tIns="76200" rIns="95250" bIns="76200" anchor="ctr">
            <a:noAutofit/>
          </a:bodyPr>
          <a:lstStyle/>
          <a:p>
            <a:pPr algn="ctr">
              <a:defRPr sz="1950">
                <a:solidFill>
                  <a:srgbClr val="20344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>
                <a:solidFill>
                  <a:srgbClr val="20344F"/>
                </a:solidFill>
                <a:latin typeface="Microsoft YaHei"/>
                <a:ea typeface="Microsoft YaHei"/>
                <a:cs typeface="Microsoft YaHei"/>
              </a:rPr>
              <a:t>来源组 B</a:t>
            </a:r>
          </a:p>
          <a:p>
            <a:pPr algn="ctr">
              <a:defRPr sz="1950">
                <a:solidFill>
                  <a:srgbClr val="20344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>
                <a:solidFill>
                  <a:srgbClr val="20344F"/>
                </a:solidFill>
                <a:latin typeface="Microsoft YaHei"/>
                <a:ea typeface="Microsoft YaHei"/>
                <a:cs typeface="Microsoft YaHei"/>
              </a:rPr>
              <a:t>独立来源计数</a:t>
            </a:r>
          </a:p>
        </p:txBody>
      </p:sp>
      <p:sp>
        <p:nvSpPr>
          <p:cNvPr id="9" name="diagram-node">
            <a:extLst>
              <a:ext uri="{FF2B5EF4-FFF2-40B4-BE49-F238E27FC236}">
                <a16:creationId xmlns:a16="http://schemas.microsoft.com/office/drawing/2014/main" id="{F0835DA5-BB4A-4508-87C2-12BE7A3C664F}"/>
              </a:ext>
            </a:extLst>
          </p:cNvPr>
          <p:cNvSpPr>
            <a:spLocks noGrp="1"/>
          </p:cNvSpPr>
          <p:nvPr/>
        </p:nvSpPr>
        <p:spPr>
          <a:xfrm>
            <a:off x="9032081" y="1990725"/>
            <a:ext cx="2550319" cy="1047750"/>
          </a:xfrm>
          <a:prstGeom prst="roundRect">
            <a:avLst>
              <a:gd name="adj" fmla="val 9091"/>
            </a:avLst>
          </a:prstGeom>
          <a:solidFill>
            <a:srgbClr val="EEE9F9"/>
          </a:solidFill>
          <a:ln w="11430">
            <a:solidFill>
              <a:srgbClr val="BBCBDE"/>
            </a:solidFill>
          </a:ln>
        </p:spPr>
        <p:txBody>
          <a:bodyPr lIns="95250" tIns="76200" rIns="95250" bIns="76200" anchor="ctr">
            <a:noAutofit/>
          </a:bodyPr>
          <a:lstStyle/>
          <a:p>
            <a:pPr algn="ctr">
              <a:defRPr sz="1950">
                <a:solidFill>
                  <a:srgbClr val="20344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>
                <a:solidFill>
                  <a:srgbClr val="20344F"/>
                </a:solidFill>
                <a:latin typeface="Microsoft YaHei"/>
                <a:ea typeface="Microsoft YaHei"/>
                <a:cs typeface="Microsoft YaHei"/>
              </a:rPr>
              <a:t>确定性判定</a:t>
            </a:r>
          </a:p>
          <a:p>
            <a:pPr algn="ctr">
              <a:defRPr sz="1950">
                <a:solidFill>
                  <a:srgbClr val="20344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>
                <a:solidFill>
                  <a:srgbClr val="20344F"/>
                </a:solidFill>
                <a:latin typeface="Microsoft YaHei"/>
                <a:ea typeface="Microsoft YaHei"/>
                <a:cs typeface="Microsoft YaHei"/>
              </a:rPr>
              <a:t>状态与引用清单</a:t>
            </a:r>
          </a:p>
        </p:txBody>
      </p:sp>
      <p:cxnSp>
        <p:nvCxnSpPr>
          <p:cNvPr id="23" name="直接箭头连接符 22"/>
          <p:cNvCxnSpPr>
            <a:stCxn id="6" idx="3"/>
            <a:endCxn id="7" idx="1"/>
          </p:cNvCxnSpPr>
          <p:nvPr/>
        </p:nvCxnSpPr>
        <p:spPr>
          <a:xfrm>
            <a:off x="3159919" y="2514600"/>
            <a:ext cx="257175" cy="0"/>
          </a:xfrm>
          <a:prstGeom prst="straightConnector1">
            <a:avLst/>
          </a:prstGeom>
          <a:ln w="19050">
            <a:solidFill>
              <a:srgbClr val="6C829D"/>
            </a:solidFill>
            <a:headEnd type="triangle" w="sm" len="sm"/>
          </a:ln>
        </p:spPr>
      </p:cxnSp>
      <p:cxnSp>
        <p:nvCxnSpPr>
          <p:cNvPr id="24" name="直接箭头连接符 23"/>
          <p:cNvCxnSpPr>
            <a:stCxn id="7" idx="3"/>
            <a:endCxn id="8" idx="1"/>
          </p:cNvCxnSpPr>
          <p:nvPr/>
        </p:nvCxnSpPr>
        <p:spPr>
          <a:xfrm>
            <a:off x="5967413" y="2514600"/>
            <a:ext cx="257175" cy="0"/>
          </a:xfrm>
          <a:prstGeom prst="straightConnector1">
            <a:avLst/>
          </a:prstGeom>
          <a:ln w="19050">
            <a:solidFill>
              <a:srgbClr val="6C829D"/>
            </a:solidFill>
            <a:headEnd type="triangle" w="sm" len="sm"/>
          </a:ln>
        </p:spPr>
      </p:cxnSp>
      <p:cxnSp>
        <p:nvCxnSpPr>
          <p:cNvPr id="25" name="直接箭头连接符 24"/>
          <p:cNvCxnSpPr>
            <a:stCxn id="8" idx="3"/>
            <a:endCxn id="9" idx="1"/>
          </p:cNvCxnSpPr>
          <p:nvPr/>
        </p:nvCxnSpPr>
        <p:spPr>
          <a:xfrm>
            <a:off x="8774907" y="2514600"/>
            <a:ext cx="257174" cy="0"/>
          </a:xfrm>
          <a:prstGeom prst="straightConnector1">
            <a:avLst/>
          </a:prstGeom>
          <a:ln w="19050">
            <a:solidFill>
              <a:srgbClr val="6C829D"/>
            </a:solidFill>
            <a:headEnd type="triangle" w="sm" len="sm"/>
          </a:ln>
        </p:spPr>
      </p:cxnSp>
      <p:graphicFrame>
        <p:nvGraphicFramePr>
          <p:cNvPr id="26" name="表格 25"/>
          <p:cNvGraphicFramePr/>
          <p:nvPr/>
        </p:nvGraphicFramePr>
        <p:xfrm>
          <a:off x="609600" y="3371850"/>
          <a:ext cx="10972800" cy="1933575"/>
        </p:xfrm>
        <a:graphic>
          <a:graphicData uri="http://schemas.openxmlformats.org/drawingml/2006/table">
            <a:tbl>
              <a:tblPr/>
              <a:tblGrid>
                <a:gridCol w="3048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286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286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3528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86715">
                <a:tc>
                  <a:txBody>
                    <a:bodyPr/>
                    <a:lstStyle/>
                    <a:p>
                      <a:r>
                        <a:rPr sz="1575" b="1">
                          <a:solidFill>
                            <a:srgbClr val="20344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结果</a:t>
                      </a:r>
                    </a:p>
                  </a:txBody>
                  <a:tcPr>
                    <a:solidFill>
                      <a:srgbClr val="E7E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 b="1">
                          <a:solidFill>
                            <a:srgbClr val="20344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独立支持</a:t>
                      </a:r>
                    </a:p>
                  </a:txBody>
                  <a:tcPr>
                    <a:solidFill>
                      <a:srgbClr val="E7E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 b="1">
                          <a:solidFill>
                            <a:srgbClr val="20344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独立反对</a:t>
                      </a:r>
                    </a:p>
                  </a:txBody>
                  <a:tcPr>
                    <a:solidFill>
                      <a:srgbClr val="E7E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 b="1">
                          <a:solidFill>
                            <a:srgbClr val="20344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输入条件</a:t>
                      </a:r>
                    </a:p>
                  </a:txBody>
                  <a:tcPr>
                    <a:solidFill>
                      <a:srgbClr val="E7E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86715"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20344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SUPPORTED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20344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至少 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20344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20344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无待处理问题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86715"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20344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CONTRADICTED</a:t>
                      </a:r>
                    </a:p>
                  </a:txBody>
                  <a:tcPr>
                    <a:solidFill>
                      <a:srgbClr val="F6F8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20344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0</a:t>
                      </a:r>
                    </a:p>
                  </a:txBody>
                  <a:tcPr>
                    <a:solidFill>
                      <a:srgbClr val="F6F8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20344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至少 2</a:t>
                      </a:r>
                    </a:p>
                  </a:txBody>
                  <a:tcPr>
                    <a:solidFill>
                      <a:srgbClr val="F6F8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20344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无待处理问题</a:t>
                      </a:r>
                    </a:p>
                  </a:txBody>
                  <a:tcPr>
                    <a:solidFill>
                      <a:srgbClr val="F6F8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86715"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20344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UNRESOLVED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20344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存在冲突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20344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存在冲突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20344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口径或质量问题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86715"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20344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INSUFFICIENT</a:t>
                      </a:r>
                    </a:p>
                  </a:txBody>
                  <a:tcPr>
                    <a:solidFill>
                      <a:srgbClr val="F6F8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20344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独立依据不足</a:t>
                      </a:r>
                    </a:p>
                  </a:txBody>
                  <a:tcPr>
                    <a:solidFill>
                      <a:srgbClr val="F6F8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20344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独立依据不足</a:t>
                      </a:r>
                    </a:p>
                  </a:txBody>
                  <a:tcPr>
                    <a:solidFill>
                      <a:srgbClr val="F6F8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20344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不足以判定</a:t>
                      </a:r>
                    </a:p>
                  </a:txBody>
                  <a:tcPr>
                    <a:solidFill>
                      <a:srgbClr val="F6F8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943348486"/>
      </p:ext>
    </p:extLst>
  </p:cSld>
  <p:clrMapOvr>
    <a:masterClrMapping/>
  </p:clrMapOvr>
  <p:transition>
    <p:fade thruBlk="1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6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460"/>
                            </p:stCondLst>
                            <p:childTnLst>
                              <p:par>
                                <p:cTn id="9" presetID="10" presetClass="entr" presetSubtype="0" fill="hold" grpId="0" nodeType="afterEffect">
                                  <p:stCondLst>
                                    <p:cond delay="6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4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920"/>
                            </p:stCondLst>
                            <p:childTnLst>
                              <p:par>
                                <p:cTn id="13" presetID="10" presetClass="entr" presetSubtype="0" fill="hold" grpId="0" nodeType="afterEffect">
                                  <p:stCondLst>
                                    <p:cond delay="6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4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1380"/>
                            </p:stCondLst>
                            <p:childTnLst>
                              <p:par>
                                <p:cTn id="17" presetID="10" presetClass="entr" presetSubtype="0" fill="hold" grpId="0" nodeType="afterEffect">
                                  <p:stCondLst>
                                    <p:cond delay="6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4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1840"/>
                            </p:stCondLst>
                            <p:childTnLst>
                              <p:par>
                                <p:cTn id="21" presetID="10" presetClass="entr" presetSubtype="0" fill="hold" grpId="0" nodeType="afterEffect">
                                  <p:stCondLst>
                                    <p:cond delay="6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4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2300"/>
                            </p:stCondLst>
                            <p:childTnLst>
                              <p:par>
                                <p:cTn id="25" presetID="10" presetClass="entr" presetSubtype="0" fill="hold" grpId="0" nodeType="afterEffect">
                                  <p:stCondLst>
                                    <p:cond delay="6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4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>
                            <p:stCondLst>
                              <p:cond delay="2760"/>
                            </p:stCondLst>
                            <p:childTnLst>
                              <p:par>
                                <p:cTn id="29" presetID="10" presetClass="entr" presetSubtype="0" fill="hold" nodeType="afterEffect">
                                  <p:stCondLst>
                                    <p:cond delay="6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4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2" fill="hold">
                            <p:stCondLst>
                              <p:cond delay="3220"/>
                            </p:stCondLst>
                            <p:childTnLst>
                              <p:par>
                                <p:cTn id="33" presetID="10" presetClass="entr" presetSubtype="0" fill="hold" nodeType="afterEffect">
                                  <p:stCondLst>
                                    <p:cond delay="6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4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6" fill="hold">
                            <p:stCondLst>
                              <p:cond delay="3680"/>
                            </p:stCondLst>
                            <p:childTnLst>
                              <p:par>
                                <p:cTn id="37" presetID="10" presetClass="entr" presetSubtype="0" fill="hold" nodeType="afterEffect">
                                  <p:stCondLst>
                                    <p:cond delay="6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4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0" fill="hold">
                            <p:stCondLst>
                              <p:cond delay="4140"/>
                            </p:stCondLst>
                            <p:childTnLst>
                              <p:par>
                                <p:cTn id="41" presetID="10" presetClass="entr" presetSubtype="0" fill="hold" nodeType="afterEffect">
                                  <p:stCondLst>
                                    <p:cond delay="6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4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4" fill="hold">
                            <p:stCondLst>
                              <p:cond delay="4600"/>
                            </p:stCondLst>
                            <p:childTnLst>
                              <p:par>
                                <p:cTn id="45" presetID="10" presetClass="entr" presetSubtype="0" fill="hold" grpId="0" nodeType="afterEffect">
                                  <p:stCondLst>
                                    <p:cond delay="6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4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8" fill="hold">
                            <p:stCondLst>
                              <p:cond delay="5060"/>
                            </p:stCondLst>
                            <p:childTnLst>
                              <p:par>
                                <p:cTn id="49" presetID="10" presetClass="entr" presetSubtype="0" fill="hold" grpId="0" nodeType="afterEffect">
                                  <p:stCondLst>
                                    <p:cond delay="6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1" dur="4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2" fill="hold">
                            <p:stCondLst>
                              <p:cond delay="5520"/>
                            </p:stCondLst>
                            <p:childTnLst>
                              <p:par>
                                <p:cTn id="53" presetID="10" presetClass="entr" presetSubtype="0" fill="hold" grpId="0" nodeType="afterEffect">
                                  <p:stCondLst>
                                    <p:cond delay="6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4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/>
      <p:bldP spid="2" grpId="0"/>
      <p:bldP spid="3" grpId="0"/>
      <p:bldP spid="4" grpId="0"/>
      <p:bldP spid="5" grpId="0"/>
      <p:bldP spid="6" grpId="0" animBg="1"/>
      <p:bldP spid="7" grpId="0" animBg="1"/>
      <p:bldP spid="8" grpId="0" animBg="1"/>
      <p:bldP spid="9" grpId="0" animBg="1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slide-title">
            <a:extLst>
              <a:ext uri="{FF2B5EF4-FFF2-40B4-BE49-F238E27FC236}">
                <a16:creationId xmlns:a16="http://schemas.microsoft.com/office/drawing/2014/main" id="{A662A58A-257E-41D9-8827-88B7D5A0785D}"/>
              </a:ext>
            </a:extLst>
          </p:cNvPr>
          <p:cNvSpPr>
            <a:spLocks noGrp="1"/>
          </p:cNvSpPr>
          <p:nvPr/>
        </p:nvSpPr>
        <p:spPr>
          <a:xfrm>
            <a:off x="609600" y="419100"/>
            <a:ext cx="10972800" cy="6096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l">
              <a:defRPr sz="3000" b="1">
                <a:solidFill>
                  <a:srgbClr val="20344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000" b="1">
                <a:solidFill>
                  <a:srgbClr val="20344F"/>
                </a:solidFill>
                <a:latin typeface="Microsoft YaHei"/>
                <a:ea typeface="Microsoft YaHei"/>
                <a:cs typeface="Microsoft YaHei"/>
              </a:rPr>
              <a:t>交易单位与现金约束的再平衡算法</a:t>
            </a:r>
          </a:p>
        </p:txBody>
      </p:sp>
      <p:sp>
        <p:nvSpPr>
          <p:cNvPr id="2" name="document-heading">
            <a:extLst>
              <a:ext uri="{FF2B5EF4-FFF2-40B4-BE49-F238E27FC236}">
                <a16:creationId xmlns:a16="http://schemas.microsoft.com/office/drawing/2014/main" id="{45AE798E-12AE-4E37-96B0-77F862C86BF6}"/>
              </a:ext>
            </a:extLst>
          </p:cNvPr>
          <p:cNvSpPr>
            <a:spLocks noGrp="1"/>
          </p:cNvSpPr>
          <p:nvPr/>
        </p:nvSpPr>
        <p:spPr>
          <a:xfrm>
            <a:off x="609600" y="1085850"/>
            <a:ext cx="10972800" cy="3238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l">
              <a:defRPr sz="1575" b="0">
                <a:solidFill>
                  <a:srgbClr val="566C8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566C83"/>
                </a:solidFill>
                <a:latin typeface="Microsoft YaHei"/>
                <a:ea typeface="Microsoft YaHei"/>
                <a:cs typeface="Microsoft YaHei"/>
              </a:rPr>
              <a:t>6.3 交易单位与现金约束的再平衡算法</a:t>
            </a:r>
          </a:p>
        </p:txBody>
      </p:sp>
      <p:sp>
        <p:nvSpPr>
          <p:cNvPr id="3" name="figure-introduction">
            <a:extLst>
              <a:ext uri="{FF2B5EF4-FFF2-40B4-BE49-F238E27FC236}">
                <a16:creationId xmlns:a16="http://schemas.microsoft.com/office/drawing/2014/main" id="{995616B0-B363-4C5E-AB69-2A7CDA9DDB42}"/>
              </a:ext>
            </a:extLst>
          </p:cNvPr>
          <p:cNvSpPr>
            <a:spLocks noGrp="1"/>
          </p:cNvSpPr>
          <p:nvPr/>
        </p:nvSpPr>
        <p:spPr>
          <a:xfrm>
            <a:off x="609600" y="5524500"/>
            <a:ext cx="10972800" cy="8382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l">
              <a:defRPr sz="1725" b="0">
                <a:solidFill>
                  <a:srgbClr val="566C8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566C83"/>
                </a:solidFill>
                <a:latin typeface="Microsoft YaHei"/>
                <a:ea typeface="Microsoft YaHei"/>
                <a:cs typeface="Microsoft YaHei"/>
              </a:rPr>
              <a:t>二分查找在候选交易手数范围内寻找能够覆盖成交金额和费用、同时保留最低现金的最大整数手数。每项交易更新现金，最后使用实际数量复核风险；这一计算保证单项可负担数量，整体配置仍受后续检查约束。</a:t>
            </a:r>
          </a:p>
        </p:txBody>
      </p:sp>
      <p:sp>
        <p:nvSpPr>
          <p:cNvPr id="4" name="footer">
            <a:extLst>
              <a:ext uri="{FF2B5EF4-FFF2-40B4-BE49-F238E27FC236}">
                <a16:creationId xmlns:a16="http://schemas.microsoft.com/office/drawing/2014/main" id="{3E4F9202-825F-43F3-ADEB-C80B4D04249A}"/>
              </a:ext>
            </a:extLst>
          </p:cNvPr>
          <p:cNvSpPr>
            <a:spLocks noGrp="1"/>
          </p:cNvSpPr>
          <p:nvPr/>
        </p:nvSpPr>
        <p:spPr>
          <a:xfrm>
            <a:off x="609600" y="6477000"/>
            <a:ext cx="9144000" cy="2381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l">
              <a:defRPr sz="1275" b="0">
                <a:solidFill>
                  <a:srgbClr val="566C8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566C83"/>
                </a:solidFill>
                <a:latin typeface="Microsoft YaHei"/>
                <a:ea typeface="Microsoft YaHei"/>
                <a:cs typeface="Microsoft YaHei"/>
              </a:rPr>
              <a:t>Prism · 算法与创新机制</a:t>
            </a:r>
          </a:p>
        </p:txBody>
      </p:sp>
      <p:sp>
        <p:nvSpPr>
          <p:cNvPr id="5" name="page-number">
            <a:extLst>
              <a:ext uri="{FF2B5EF4-FFF2-40B4-BE49-F238E27FC236}">
                <a16:creationId xmlns:a16="http://schemas.microsoft.com/office/drawing/2014/main" id="{1F102846-790B-412E-B276-BCC1D02A8D8E}"/>
              </a:ext>
            </a:extLst>
          </p:cNvPr>
          <p:cNvSpPr>
            <a:spLocks noGrp="1"/>
          </p:cNvSpPr>
          <p:nvPr/>
        </p:nvSpPr>
        <p:spPr>
          <a:xfrm>
            <a:off x="11049000" y="6477000"/>
            <a:ext cx="523875" cy="2381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r">
              <a:defRPr sz="1275" b="0">
                <a:solidFill>
                  <a:srgbClr val="566C8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566C83"/>
                </a:solidFill>
                <a:latin typeface="Microsoft YaHei"/>
                <a:ea typeface="Microsoft YaHei"/>
                <a:cs typeface="Microsoft YaHei"/>
              </a:rPr>
              <a:t>15</a:t>
            </a:r>
          </a:p>
        </p:txBody>
      </p:sp>
      <p:sp>
        <p:nvSpPr>
          <p:cNvPr id="6" name="diagram-node">
            <a:extLst>
              <a:ext uri="{FF2B5EF4-FFF2-40B4-BE49-F238E27FC236}">
                <a16:creationId xmlns:a16="http://schemas.microsoft.com/office/drawing/2014/main" id="{BC56636E-EAD4-4EA1-A301-1F8AF9473D96}"/>
              </a:ext>
            </a:extLst>
          </p:cNvPr>
          <p:cNvSpPr>
            <a:spLocks noGrp="1"/>
          </p:cNvSpPr>
          <p:nvPr/>
        </p:nvSpPr>
        <p:spPr>
          <a:xfrm>
            <a:off x="609600" y="2028825"/>
            <a:ext cx="2550319" cy="1047750"/>
          </a:xfrm>
          <a:prstGeom prst="roundRect">
            <a:avLst>
              <a:gd name="adj" fmla="val 9091"/>
            </a:avLst>
          </a:prstGeom>
          <a:solidFill>
            <a:srgbClr val="FFF0DF"/>
          </a:solidFill>
          <a:ln w="11430">
            <a:solidFill>
              <a:srgbClr val="BBCBDE"/>
            </a:solidFill>
          </a:ln>
        </p:spPr>
        <p:txBody>
          <a:bodyPr lIns="95250" tIns="76200" rIns="95250" bIns="76200" anchor="ctr">
            <a:noAutofit/>
          </a:bodyPr>
          <a:lstStyle/>
          <a:p>
            <a:pPr algn="ctr">
              <a:defRPr sz="1950">
                <a:solidFill>
                  <a:srgbClr val="20344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>
                <a:solidFill>
                  <a:srgbClr val="20344F"/>
                </a:solidFill>
                <a:latin typeface="Microsoft YaHei"/>
                <a:ea typeface="Microsoft YaHei"/>
                <a:cs typeface="Microsoft YaHei"/>
              </a:rPr>
              <a:t>候选手数范围</a:t>
            </a:r>
          </a:p>
          <a:p>
            <a:pPr algn="ctr">
              <a:defRPr sz="1950">
                <a:solidFill>
                  <a:srgbClr val="20344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>
                <a:solidFill>
                  <a:srgbClr val="20344F"/>
                </a:solidFill>
                <a:latin typeface="Microsoft YaHei"/>
                <a:ea typeface="Microsoft YaHei"/>
                <a:cs typeface="Microsoft YaHei"/>
              </a:rPr>
              <a:t>low = 0, high = N</a:t>
            </a:r>
          </a:p>
        </p:txBody>
      </p:sp>
      <p:sp>
        <p:nvSpPr>
          <p:cNvPr id="7" name="diagram-node">
            <a:extLst>
              <a:ext uri="{FF2B5EF4-FFF2-40B4-BE49-F238E27FC236}">
                <a16:creationId xmlns:a16="http://schemas.microsoft.com/office/drawing/2014/main" id="{4CA1E959-B2E0-4141-BCBA-F053BDD74458}"/>
              </a:ext>
            </a:extLst>
          </p:cNvPr>
          <p:cNvSpPr>
            <a:spLocks noGrp="1"/>
          </p:cNvSpPr>
          <p:nvPr/>
        </p:nvSpPr>
        <p:spPr>
          <a:xfrm>
            <a:off x="3417094" y="2028825"/>
            <a:ext cx="2550319" cy="1047750"/>
          </a:xfrm>
          <a:prstGeom prst="roundRect">
            <a:avLst>
              <a:gd name="adj" fmla="val 9091"/>
            </a:avLst>
          </a:prstGeom>
          <a:solidFill>
            <a:srgbClr val="FFF0DF"/>
          </a:solidFill>
          <a:ln w="11430">
            <a:solidFill>
              <a:srgbClr val="BBCBDE"/>
            </a:solidFill>
          </a:ln>
        </p:spPr>
        <p:txBody>
          <a:bodyPr lIns="95250" tIns="76200" rIns="95250" bIns="76200" anchor="ctr">
            <a:noAutofit/>
          </a:bodyPr>
          <a:lstStyle/>
          <a:p>
            <a:pPr algn="ctr">
              <a:defRPr sz="1950">
                <a:solidFill>
                  <a:srgbClr val="20344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>
                <a:solidFill>
                  <a:srgbClr val="20344F"/>
                </a:solidFill>
                <a:latin typeface="Microsoft YaHei"/>
                <a:ea typeface="Microsoft YaHei"/>
                <a:cs typeface="Microsoft YaHei"/>
              </a:rPr>
              <a:t>middle</a:t>
            </a:r>
          </a:p>
          <a:p>
            <a:pPr algn="ctr">
              <a:defRPr sz="1950">
                <a:solidFill>
                  <a:srgbClr val="20344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>
                <a:solidFill>
                  <a:srgbClr val="20344F"/>
                </a:solidFill>
                <a:latin typeface="Microsoft YaHei"/>
                <a:ea typeface="Microsoft YaHei"/>
                <a:cs typeface="Microsoft YaHei"/>
              </a:rPr>
              <a:t>向上取中点</a:t>
            </a:r>
          </a:p>
        </p:txBody>
      </p:sp>
      <p:sp>
        <p:nvSpPr>
          <p:cNvPr id="8" name="diagram-node">
            <a:extLst>
              <a:ext uri="{FF2B5EF4-FFF2-40B4-BE49-F238E27FC236}">
                <a16:creationId xmlns:a16="http://schemas.microsoft.com/office/drawing/2014/main" id="{10393B1E-2E41-467D-A44B-8043E9F53B43}"/>
              </a:ext>
            </a:extLst>
          </p:cNvPr>
          <p:cNvSpPr>
            <a:spLocks noGrp="1"/>
          </p:cNvSpPr>
          <p:nvPr/>
        </p:nvSpPr>
        <p:spPr>
          <a:xfrm>
            <a:off x="6224588" y="2028825"/>
            <a:ext cx="2550319" cy="1047750"/>
          </a:xfrm>
          <a:prstGeom prst="roundRect">
            <a:avLst>
              <a:gd name="adj" fmla="val 9091"/>
            </a:avLst>
          </a:prstGeom>
          <a:solidFill>
            <a:srgbClr val="FFF0DF"/>
          </a:solidFill>
          <a:ln w="11430">
            <a:solidFill>
              <a:srgbClr val="BBCBDE"/>
            </a:solidFill>
          </a:ln>
        </p:spPr>
        <p:txBody>
          <a:bodyPr lIns="95250" tIns="76200" rIns="95250" bIns="76200" anchor="ctr">
            <a:noAutofit/>
          </a:bodyPr>
          <a:lstStyle/>
          <a:p>
            <a:pPr algn="ctr">
              <a:defRPr sz="1950">
                <a:solidFill>
                  <a:srgbClr val="20344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>
                <a:solidFill>
                  <a:srgbClr val="20344F"/>
                </a:solidFill>
                <a:latin typeface="Microsoft YaHei"/>
                <a:ea typeface="Microsoft YaHei"/>
                <a:cs typeface="Microsoft YaHei"/>
              </a:rPr>
              <a:t>成交金额 + 费用</a:t>
            </a:r>
          </a:p>
          <a:p>
            <a:pPr algn="ctr">
              <a:defRPr sz="1950">
                <a:solidFill>
                  <a:srgbClr val="20344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>
                <a:solidFill>
                  <a:srgbClr val="20344F"/>
                </a:solidFill>
                <a:latin typeface="Microsoft YaHei"/>
                <a:ea typeface="Microsoft YaHei"/>
                <a:cs typeface="Microsoft YaHei"/>
              </a:rPr>
              <a:t>≤ 可支出现金</a:t>
            </a:r>
          </a:p>
        </p:txBody>
      </p:sp>
      <p:sp>
        <p:nvSpPr>
          <p:cNvPr id="9" name="diagram-node">
            <a:extLst>
              <a:ext uri="{FF2B5EF4-FFF2-40B4-BE49-F238E27FC236}">
                <a16:creationId xmlns:a16="http://schemas.microsoft.com/office/drawing/2014/main" id="{6078A959-1190-47EE-A568-7BFBF57C4176}"/>
              </a:ext>
            </a:extLst>
          </p:cNvPr>
          <p:cNvSpPr>
            <a:spLocks noGrp="1"/>
          </p:cNvSpPr>
          <p:nvPr/>
        </p:nvSpPr>
        <p:spPr>
          <a:xfrm>
            <a:off x="9032081" y="2028825"/>
            <a:ext cx="2550319" cy="1047750"/>
          </a:xfrm>
          <a:prstGeom prst="roundRect">
            <a:avLst>
              <a:gd name="adj" fmla="val 9091"/>
            </a:avLst>
          </a:prstGeom>
          <a:solidFill>
            <a:srgbClr val="FFF0DF"/>
          </a:solidFill>
          <a:ln w="11430">
            <a:solidFill>
              <a:srgbClr val="BBCBDE"/>
            </a:solidFill>
          </a:ln>
        </p:spPr>
        <p:txBody>
          <a:bodyPr lIns="95250" tIns="76200" rIns="95250" bIns="76200" anchor="ctr">
            <a:noAutofit/>
          </a:bodyPr>
          <a:lstStyle/>
          <a:p>
            <a:pPr algn="ctr">
              <a:defRPr sz="1950">
                <a:solidFill>
                  <a:srgbClr val="20344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>
                <a:solidFill>
                  <a:srgbClr val="20344F"/>
                </a:solidFill>
                <a:latin typeface="Microsoft YaHei"/>
                <a:ea typeface="Microsoft YaHei"/>
                <a:cs typeface="Microsoft YaHei"/>
              </a:rPr>
              <a:t>更新边界</a:t>
            </a:r>
          </a:p>
          <a:p>
            <a:pPr algn="ctr">
              <a:defRPr sz="1950">
                <a:solidFill>
                  <a:srgbClr val="20344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>
                <a:solidFill>
                  <a:srgbClr val="20344F"/>
                </a:solidFill>
                <a:latin typeface="Microsoft YaHei"/>
                <a:ea typeface="Microsoft YaHei"/>
                <a:cs typeface="Microsoft YaHei"/>
              </a:rPr>
              <a:t>得到最大可行手数</a:t>
            </a:r>
          </a:p>
        </p:txBody>
      </p:sp>
      <p:cxnSp>
        <p:nvCxnSpPr>
          <p:cNvPr id="24" name="直接箭头连接符 23"/>
          <p:cNvCxnSpPr>
            <a:stCxn id="6" idx="3"/>
            <a:endCxn id="7" idx="1"/>
          </p:cNvCxnSpPr>
          <p:nvPr/>
        </p:nvCxnSpPr>
        <p:spPr>
          <a:xfrm>
            <a:off x="3159919" y="2552700"/>
            <a:ext cx="257175" cy="0"/>
          </a:xfrm>
          <a:prstGeom prst="straightConnector1">
            <a:avLst/>
          </a:prstGeom>
          <a:ln w="19050">
            <a:solidFill>
              <a:srgbClr val="6C829D"/>
            </a:solidFill>
            <a:headEnd type="triangle" w="sm" len="sm"/>
          </a:ln>
        </p:spPr>
      </p:cxnSp>
      <p:cxnSp>
        <p:nvCxnSpPr>
          <p:cNvPr id="25" name="直接箭头连接符 24"/>
          <p:cNvCxnSpPr>
            <a:stCxn id="7" idx="3"/>
            <a:endCxn id="8" idx="1"/>
          </p:cNvCxnSpPr>
          <p:nvPr/>
        </p:nvCxnSpPr>
        <p:spPr>
          <a:xfrm>
            <a:off x="5967413" y="2552700"/>
            <a:ext cx="257175" cy="0"/>
          </a:xfrm>
          <a:prstGeom prst="straightConnector1">
            <a:avLst/>
          </a:prstGeom>
          <a:ln w="19050">
            <a:solidFill>
              <a:srgbClr val="6C829D"/>
            </a:solidFill>
            <a:headEnd type="triangle" w="sm" len="sm"/>
          </a:ln>
        </p:spPr>
      </p:cxnSp>
      <p:cxnSp>
        <p:nvCxnSpPr>
          <p:cNvPr id="26" name="直接箭头连接符 25"/>
          <p:cNvCxnSpPr>
            <a:stCxn id="8" idx="3"/>
            <a:endCxn id="9" idx="1"/>
          </p:cNvCxnSpPr>
          <p:nvPr/>
        </p:nvCxnSpPr>
        <p:spPr>
          <a:xfrm>
            <a:off x="8774907" y="2552700"/>
            <a:ext cx="257174" cy="0"/>
          </a:xfrm>
          <a:prstGeom prst="straightConnector1">
            <a:avLst/>
          </a:prstGeom>
          <a:ln w="19050">
            <a:solidFill>
              <a:srgbClr val="6C829D"/>
            </a:solidFill>
            <a:headEnd type="triangle" w="sm" len="sm"/>
          </a:ln>
        </p:spPr>
      </p:cxnSp>
      <p:sp>
        <p:nvSpPr>
          <p:cNvPr id="13" name="text">
            <a:extLst>
              <a:ext uri="{FF2B5EF4-FFF2-40B4-BE49-F238E27FC236}">
                <a16:creationId xmlns:a16="http://schemas.microsoft.com/office/drawing/2014/main" id="{5721A978-C3E5-426E-9E29-F815017365FF}"/>
              </a:ext>
            </a:extLst>
          </p:cNvPr>
          <p:cNvSpPr>
            <a:spLocks noGrp="1"/>
          </p:cNvSpPr>
          <p:nvPr/>
        </p:nvSpPr>
        <p:spPr>
          <a:xfrm>
            <a:off x="609600" y="3838575"/>
            <a:ext cx="10972800" cy="4381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l">
              <a:defRPr sz="2175" b="0">
                <a:solidFill>
                  <a:srgbClr val="2867B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0">
                <a:solidFill>
                  <a:srgbClr val="2867BF"/>
                </a:solidFill>
                <a:latin typeface="Microsoft YaHei"/>
                <a:ea typeface="Microsoft YaHei"/>
                <a:cs typeface="Microsoft YaHei"/>
              </a:rPr>
              <a:t>可支出现金 = 当前现金 − 初始总资产 × 最低现金比例</a:t>
            </a:r>
          </a:p>
        </p:txBody>
      </p:sp>
      <p:sp>
        <p:nvSpPr>
          <p:cNvPr id="14" name="text">
            <a:extLst>
              <a:ext uri="{FF2B5EF4-FFF2-40B4-BE49-F238E27FC236}">
                <a16:creationId xmlns:a16="http://schemas.microsoft.com/office/drawing/2014/main" id="{87D1EFAF-16F4-4697-A8DE-17E7A2A38860}"/>
              </a:ext>
            </a:extLst>
          </p:cNvPr>
          <p:cNvSpPr>
            <a:spLocks noGrp="1"/>
          </p:cNvSpPr>
          <p:nvPr/>
        </p:nvSpPr>
        <p:spPr>
          <a:xfrm>
            <a:off x="609600" y="4581525"/>
            <a:ext cx="10972800" cy="4762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l">
              <a:defRPr sz="2025" b="0">
                <a:solidFill>
                  <a:srgbClr val="20344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0">
                <a:solidFill>
                  <a:srgbClr val="20344F"/>
                </a:solidFill>
                <a:latin typeface="Microsoft YaHei"/>
                <a:ea typeface="Microsoft YaHei"/>
                <a:cs typeface="Microsoft YaHei"/>
              </a:rPr>
              <a:t>交易单位 · 持仓上限 · 佣金 · 印花税 · 过户费 · 交易后体检</a:t>
            </a:r>
          </a:p>
        </p:txBody>
      </p:sp>
    </p:spTree>
    <p:extLst>
      <p:ext uri="{BB962C8B-B14F-4D97-AF65-F5344CB8AC3E}">
        <p14:creationId xmlns:p14="http://schemas.microsoft.com/office/powerpoint/2010/main" val="1160560814"/>
      </p:ext>
    </p:extLst>
  </p:cSld>
  <p:clrMapOvr>
    <a:masterClrMapping/>
  </p:clrMapOvr>
  <p:transition>
    <p:fade thruBlk="1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6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460"/>
                            </p:stCondLst>
                            <p:childTnLst>
                              <p:par>
                                <p:cTn id="9" presetID="10" presetClass="entr" presetSubtype="0" fill="hold" grpId="0" nodeType="afterEffect">
                                  <p:stCondLst>
                                    <p:cond delay="6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4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920"/>
                            </p:stCondLst>
                            <p:childTnLst>
                              <p:par>
                                <p:cTn id="13" presetID="10" presetClass="entr" presetSubtype="0" fill="hold" grpId="0" nodeType="afterEffect">
                                  <p:stCondLst>
                                    <p:cond delay="6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4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1380"/>
                            </p:stCondLst>
                            <p:childTnLst>
                              <p:par>
                                <p:cTn id="17" presetID="10" presetClass="entr" presetSubtype="0" fill="hold" grpId="0" nodeType="afterEffect">
                                  <p:stCondLst>
                                    <p:cond delay="6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4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1840"/>
                            </p:stCondLst>
                            <p:childTnLst>
                              <p:par>
                                <p:cTn id="21" presetID="10" presetClass="entr" presetSubtype="0" fill="hold" grpId="0" nodeType="afterEffect">
                                  <p:stCondLst>
                                    <p:cond delay="6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4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2300"/>
                            </p:stCondLst>
                            <p:childTnLst>
                              <p:par>
                                <p:cTn id="25" presetID="10" presetClass="entr" presetSubtype="0" fill="hold" grpId="0" nodeType="afterEffect">
                                  <p:stCondLst>
                                    <p:cond delay="6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4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>
                            <p:stCondLst>
                              <p:cond delay="2760"/>
                            </p:stCondLst>
                            <p:childTnLst>
                              <p:par>
                                <p:cTn id="29" presetID="10" presetClass="entr" presetSubtype="0" fill="hold" nodeType="afterEffect">
                                  <p:stCondLst>
                                    <p:cond delay="6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4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2" fill="hold">
                            <p:stCondLst>
                              <p:cond delay="3220"/>
                            </p:stCondLst>
                            <p:childTnLst>
                              <p:par>
                                <p:cTn id="33" presetID="10" presetClass="entr" presetSubtype="0" fill="hold" nodeType="afterEffect">
                                  <p:stCondLst>
                                    <p:cond delay="6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4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6" fill="hold">
                            <p:stCondLst>
                              <p:cond delay="3680"/>
                            </p:stCondLst>
                            <p:childTnLst>
                              <p:par>
                                <p:cTn id="37" presetID="10" presetClass="entr" presetSubtype="0" fill="hold" nodeType="afterEffect">
                                  <p:stCondLst>
                                    <p:cond delay="6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4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0" fill="hold">
                            <p:stCondLst>
                              <p:cond delay="4140"/>
                            </p:stCondLst>
                            <p:childTnLst>
                              <p:par>
                                <p:cTn id="41" presetID="10" presetClass="entr" presetSubtype="0" fill="hold" grpId="0" nodeType="afterEffect">
                                  <p:stCondLst>
                                    <p:cond delay="6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4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4" fill="hold">
                            <p:stCondLst>
                              <p:cond delay="4600"/>
                            </p:stCondLst>
                            <p:childTnLst>
                              <p:par>
                                <p:cTn id="45" presetID="10" presetClass="entr" presetSubtype="0" fill="hold" grpId="0" nodeType="afterEffect">
                                  <p:stCondLst>
                                    <p:cond delay="6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4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8" fill="hold">
                            <p:stCondLst>
                              <p:cond delay="5060"/>
                            </p:stCondLst>
                            <p:childTnLst>
                              <p:par>
                                <p:cTn id="49" presetID="10" presetClass="entr" presetSubtype="0" fill="hold" grpId="0" nodeType="afterEffect">
                                  <p:stCondLst>
                                    <p:cond delay="6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1" dur="4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2" fill="hold">
                            <p:stCondLst>
                              <p:cond delay="5520"/>
                            </p:stCondLst>
                            <p:childTnLst>
                              <p:par>
                                <p:cTn id="53" presetID="10" presetClass="entr" presetSubtype="0" fill="hold" grpId="0" nodeType="afterEffect">
                                  <p:stCondLst>
                                    <p:cond delay="6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4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6" fill="hold">
                            <p:stCondLst>
                              <p:cond delay="5980"/>
                            </p:stCondLst>
                            <p:childTnLst>
                              <p:par>
                                <p:cTn id="57" presetID="10" presetClass="entr" presetSubtype="0" fill="hold" grpId="0" nodeType="afterEffect">
                                  <p:stCondLst>
                                    <p:cond delay="6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9" dur="4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/>
      <p:bldP spid="2" grpId="0"/>
      <p:bldP spid="3" grpId="0"/>
      <p:bldP spid="4" grpId="0"/>
      <p:bldP spid="5" grpId="0"/>
      <p:bldP spid="6" grpId="0" animBg="1"/>
      <p:bldP spid="7" grpId="0" animBg="1"/>
      <p:bldP spid="8" grpId="0" animBg="1"/>
      <p:bldP spid="9" grpId="0" animBg="1"/>
      <p:bldP spid="13" grpId="0"/>
      <p:bldP spid="14" grpId="0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slide-title">
            <a:extLst>
              <a:ext uri="{FF2B5EF4-FFF2-40B4-BE49-F238E27FC236}">
                <a16:creationId xmlns:a16="http://schemas.microsoft.com/office/drawing/2014/main" id="{B4E1654D-CFEC-4839-9BF3-71F12F94F4C5}"/>
              </a:ext>
            </a:extLst>
          </p:cNvPr>
          <p:cNvSpPr>
            <a:spLocks noGrp="1"/>
          </p:cNvSpPr>
          <p:nvPr/>
        </p:nvSpPr>
        <p:spPr>
          <a:xfrm>
            <a:off x="609600" y="419100"/>
            <a:ext cx="10972800" cy="6096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l">
              <a:defRPr sz="3000" b="1">
                <a:solidFill>
                  <a:srgbClr val="20344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000" b="1">
                <a:solidFill>
                  <a:srgbClr val="20344F"/>
                </a:solidFill>
                <a:latin typeface="Microsoft YaHei"/>
                <a:ea typeface="Microsoft YaHei"/>
                <a:cs typeface="Microsoft YaHei"/>
              </a:rPr>
              <a:t>依赖执行与独立双闸门的专业协作机制</a:t>
            </a:r>
          </a:p>
        </p:txBody>
      </p:sp>
      <p:sp>
        <p:nvSpPr>
          <p:cNvPr id="2" name="document-heading">
            <a:extLst>
              <a:ext uri="{FF2B5EF4-FFF2-40B4-BE49-F238E27FC236}">
                <a16:creationId xmlns:a16="http://schemas.microsoft.com/office/drawing/2014/main" id="{2ADBA735-37A1-4FE6-9BF3-1F84EC49B7DB}"/>
              </a:ext>
            </a:extLst>
          </p:cNvPr>
          <p:cNvSpPr>
            <a:spLocks noGrp="1"/>
          </p:cNvSpPr>
          <p:nvPr/>
        </p:nvSpPr>
        <p:spPr>
          <a:xfrm>
            <a:off x="609600" y="1085850"/>
            <a:ext cx="10972800" cy="3238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l">
              <a:defRPr sz="1575" b="0">
                <a:solidFill>
                  <a:srgbClr val="566C8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566C83"/>
                </a:solidFill>
                <a:latin typeface="Microsoft YaHei"/>
                <a:ea typeface="Microsoft YaHei"/>
                <a:cs typeface="Microsoft YaHei"/>
              </a:rPr>
              <a:t>6.4 依赖执行与独立双闸门的专业协作机制</a:t>
            </a:r>
          </a:p>
        </p:txBody>
      </p:sp>
      <p:sp>
        <p:nvSpPr>
          <p:cNvPr id="3" name="figure-introduction">
            <a:extLst>
              <a:ext uri="{FF2B5EF4-FFF2-40B4-BE49-F238E27FC236}">
                <a16:creationId xmlns:a16="http://schemas.microsoft.com/office/drawing/2014/main" id="{8E7DA76E-6A88-453E-9644-7AA6CDF88F56}"/>
              </a:ext>
            </a:extLst>
          </p:cNvPr>
          <p:cNvSpPr>
            <a:spLocks noGrp="1"/>
          </p:cNvSpPr>
          <p:nvPr/>
        </p:nvSpPr>
        <p:spPr>
          <a:xfrm>
            <a:off x="609600" y="5524500"/>
            <a:ext cx="10972800" cy="8382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l">
              <a:defRPr sz="1725" b="0">
                <a:solidFill>
                  <a:srgbClr val="566C8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566C83"/>
                </a:solidFill>
                <a:latin typeface="Microsoft YaHei"/>
                <a:ea typeface="Microsoft YaHei"/>
                <a:cs typeface="Microsoft YaHei"/>
              </a:rPr>
              <a:t>任务依赖与研究状态约束后续证据使用，用户归属和输入版本约束审查对象。两个独立判定共同决定建议资格，回执保存输入、证据、规则版本与裁决关系，便于历史复核。</a:t>
            </a:r>
          </a:p>
        </p:txBody>
      </p:sp>
      <p:sp>
        <p:nvSpPr>
          <p:cNvPr id="4" name="footer">
            <a:extLst>
              <a:ext uri="{FF2B5EF4-FFF2-40B4-BE49-F238E27FC236}">
                <a16:creationId xmlns:a16="http://schemas.microsoft.com/office/drawing/2014/main" id="{8DB16EC2-4CDE-4D77-A05F-C9902F95CD8C}"/>
              </a:ext>
            </a:extLst>
          </p:cNvPr>
          <p:cNvSpPr>
            <a:spLocks noGrp="1"/>
          </p:cNvSpPr>
          <p:nvPr/>
        </p:nvSpPr>
        <p:spPr>
          <a:xfrm>
            <a:off x="609600" y="6477000"/>
            <a:ext cx="9144000" cy="2381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l">
              <a:defRPr sz="1275" b="0">
                <a:solidFill>
                  <a:srgbClr val="566C8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566C83"/>
                </a:solidFill>
                <a:latin typeface="Microsoft YaHei"/>
                <a:ea typeface="Microsoft YaHei"/>
                <a:cs typeface="Microsoft YaHei"/>
              </a:rPr>
              <a:t>Prism · 算法与创新机制</a:t>
            </a:r>
          </a:p>
        </p:txBody>
      </p:sp>
      <p:sp>
        <p:nvSpPr>
          <p:cNvPr id="5" name="page-number">
            <a:extLst>
              <a:ext uri="{FF2B5EF4-FFF2-40B4-BE49-F238E27FC236}">
                <a16:creationId xmlns:a16="http://schemas.microsoft.com/office/drawing/2014/main" id="{C15956BD-24E0-42EA-AAB5-6467992C8AAD}"/>
              </a:ext>
            </a:extLst>
          </p:cNvPr>
          <p:cNvSpPr>
            <a:spLocks noGrp="1"/>
          </p:cNvSpPr>
          <p:nvPr/>
        </p:nvSpPr>
        <p:spPr>
          <a:xfrm>
            <a:off x="11049000" y="6477000"/>
            <a:ext cx="523875" cy="2381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r">
              <a:defRPr sz="1275" b="0">
                <a:solidFill>
                  <a:srgbClr val="566C8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566C83"/>
                </a:solidFill>
                <a:latin typeface="Microsoft YaHei"/>
                <a:ea typeface="Microsoft YaHei"/>
                <a:cs typeface="Microsoft YaHei"/>
              </a:rPr>
              <a:t>16</a:t>
            </a:r>
          </a:p>
        </p:txBody>
      </p:sp>
      <p:sp>
        <p:nvSpPr>
          <p:cNvPr id="6" name="diagram-node">
            <a:extLst>
              <a:ext uri="{FF2B5EF4-FFF2-40B4-BE49-F238E27FC236}">
                <a16:creationId xmlns:a16="http://schemas.microsoft.com/office/drawing/2014/main" id="{8DF55754-11E7-4538-944B-C7211CCFD276}"/>
              </a:ext>
            </a:extLst>
          </p:cNvPr>
          <p:cNvSpPr>
            <a:spLocks noGrp="1"/>
          </p:cNvSpPr>
          <p:nvPr/>
        </p:nvSpPr>
        <p:spPr>
          <a:xfrm>
            <a:off x="609600" y="2076450"/>
            <a:ext cx="2550319" cy="1047750"/>
          </a:xfrm>
          <a:prstGeom prst="roundRect">
            <a:avLst>
              <a:gd name="adj" fmla="val 9091"/>
            </a:avLst>
          </a:prstGeom>
          <a:solidFill>
            <a:srgbClr val="E7EFFF"/>
          </a:solidFill>
          <a:ln w="11430">
            <a:solidFill>
              <a:srgbClr val="BBCBDE"/>
            </a:solidFill>
          </a:ln>
        </p:spPr>
        <p:txBody>
          <a:bodyPr lIns="95250" tIns="76200" rIns="95250" bIns="76200" anchor="ctr">
            <a:noAutofit/>
          </a:bodyPr>
          <a:lstStyle/>
          <a:p>
            <a:pPr algn="ctr">
              <a:defRPr sz="1950">
                <a:solidFill>
                  <a:srgbClr val="20344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>
                <a:solidFill>
                  <a:srgbClr val="20344F"/>
                </a:solidFill>
                <a:latin typeface="Microsoft YaHei"/>
                <a:ea typeface="Microsoft YaHei"/>
                <a:cs typeface="Microsoft YaHei"/>
              </a:rPr>
              <a:t>DAG 依赖</a:t>
            </a:r>
          </a:p>
          <a:p>
            <a:pPr algn="ctr">
              <a:defRPr sz="1950">
                <a:solidFill>
                  <a:srgbClr val="20344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>
                <a:solidFill>
                  <a:srgbClr val="20344F"/>
                </a:solidFill>
                <a:latin typeface="Microsoft YaHei"/>
                <a:ea typeface="Microsoft YaHei"/>
                <a:cs typeface="Microsoft YaHei"/>
              </a:rPr>
              <a:t>状态传播</a:t>
            </a:r>
          </a:p>
        </p:txBody>
      </p:sp>
      <p:sp>
        <p:nvSpPr>
          <p:cNvPr id="7" name="diagram-node">
            <a:extLst>
              <a:ext uri="{FF2B5EF4-FFF2-40B4-BE49-F238E27FC236}">
                <a16:creationId xmlns:a16="http://schemas.microsoft.com/office/drawing/2014/main" id="{3797F106-BDAA-485D-AB32-E1DE3867CE6B}"/>
              </a:ext>
            </a:extLst>
          </p:cNvPr>
          <p:cNvSpPr>
            <a:spLocks noGrp="1"/>
          </p:cNvSpPr>
          <p:nvPr/>
        </p:nvSpPr>
        <p:spPr>
          <a:xfrm>
            <a:off x="3417094" y="2076450"/>
            <a:ext cx="2550319" cy="1047750"/>
          </a:xfrm>
          <a:prstGeom prst="roundRect">
            <a:avLst>
              <a:gd name="adj" fmla="val 9091"/>
            </a:avLst>
          </a:prstGeom>
          <a:solidFill>
            <a:srgbClr val="E7EFFF"/>
          </a:solidFill>
          <a:ln w="11430">
            <a:solidFill>
              <a:srgbClr val="BBCBDE"/>
            </a:solidFill>
          </a:ln>
        </p:spPr>
        <p:txBody>
          <a:bodyPr lIns="95250" tIns="76200" rIns="95250" bIns="76200" anchor="ctr">
            <a:noAutofit/>
          </a:bodyPr>
          <a:lstStyle/>
          <a:p>
            <a:pPr algn="ctr">
              <a:defRPr sz="1950">
                <a:solidFill>
                  <a:srgbClr val="20344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>
                <a:solidFill>
                  <a:srgbClr val="20344F"/>
                </a:solidFill>
                <a:latin typeface="Microsoft YaHei"/>
                <a:ea typeface="Microsoft YaHei"/>
                <a:cs typeface="Microsoft YaHei"/>
              </a:rPr>
              <a:t>画像与持仓版本</a:t>
            </a:r>
          </a:p>
          <a:p>
            <a:pPr algn="ctr">
              <a:defRPr sz="1950">
                <a:solidFill>
                  <a:srgbClr val="20344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>
                <a:solidFill>
                  <a:srgbClr val="20344F"/>
                </a:solidFill>
                <a:latin typeface="Microsoft YaHei"/>
                <a:ea typeface="Microsoft YaHei"/>
                <a:cs typeface="Microsoft YaHei"/>
              </a:rPr>
              <a:t>研究证据结果</a:t>
            </a:r>
          </a:p>
        </p:txBody>
      </p:sp>
      <p:sp>
        <p:nvSpPr>
          <p:cNvPr id="8" name="diagram-node">
            <a:extLst>
              <a:ext uri="{FF2B5EF4-FFF2-40B4-BE49-F238E27FC236}">
                <a16:creationId xmlns:a16="http://schemas.microsoft.com/office/drawing/2014/main" id="{6DD5B6C5-BF66-42E4-95CD-721BCE1538BC}"/>
              </a:ext>
            </a:extLst>
          </p:cNvPr>
          <p:cNvSpPr>
            <a:spLocks noGrp="1"/>
          </p:cNvSpPr>
          <p:nvPr/>
        </p:nvSpPr>
        <p:spPr>
          <a:xfrm>
            <a:off x="6224588" y="2076450"/>
            <a:ext cx="2550319" cy="1047750"/>
          </a:xfrm>
          <a:prstGeom prst="roundRect">
            <a:avLst>
              <a:gd name="adj" fmla="val 9091"/>
            </a:avLst>
          </a:prstGeom>
          <a:solidFill>
            <a:srgbClr val="E7EFFF"/>
          </a:solidFill>
          <a:ln w="11430">
            <a:solidFill>
              <a:srgbClr val="BBCBDE"/>
            </a:solidFill>
          </a:ln>
        </p:spPr>
        <p:txBody>
          <a:bodyPr lIns="95250" tIns="76200" rIns="95250" bIns="76200" anchor="ctr">
            <a:noAutofit/>
          </a:bodyPr>
          <a:lstStyle/>
          <a:p>
            <a:pPr algn="ctr">
              <a:defRPr sz="1950">
                <a:solidFill>
                  <a:srgbClr val="20344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>
                <a:solidFill>
                  <a:srgbClr val="20344F"/>
                </a:solidFill>
                <a:latin typeface="Microsoft YaHei"/>
                <a:ea typeface="Microsoft YaHei"/>
                <a:cs typeface="Microsoft YaHei"/>
              </a:rPr>
              <a:t>独立双闸门</a:t>
            </a:r>
          </a:p>
          <a:p>
            <a:pPr algn="ctr">
              <a:defRPr sz="1950">
                <a:solidFill>
                  <a:srgbClr val="20344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>
                <a:solidFill>
                  <a:srgbClr val="20344F"/>
                </a:solidFill>
                <a:latin typeface="Microsoft YaHei"/>
                <a:ea typeface="Microsoft YaHei"/>
                <a:cs typeface="Microsoft YaHei"/>
              </a:rPr>
              <a:t>资格聚合</a:t>
            </a:r>
          </a:p>
        </p:txBody>
      </p:sp>
      <p:sp>
        <p:nvSpPr>
          <p:cNvPr id="9" name="diagram-node">
            <a:extLst>
              <a:ext uri="{FF2B5EF4-FFF2-40B4-BE49-F238E27FC236}">
                <a16:creationId xmlns:a16="http://schemas.microsoft.com/office/drawing/2014/main" id="{CE916827-F187-457D-8860-BD6DE4EDC998}"/>
              </a:ext>
            </a:extLst>
          </p:cNvPr>
          <p:cNvSpPr>
            <a:spLocks noGrp="1"/>
          </p:cNvSpPr>
          <p:nvPr/>
        </p:nvSpPr>
        <p:spPr>
          <a:xfrm>
            <a:off x="9032081" y="2076450"/>
            <a:ext cx="2550319" cy="1047750"/>
          </a:xfrm>
          <a:prstGeom prst="roundRect">
            <a:avLst>
              <a:gd name="adj" fmla="val 9091"/>
            </a:avLst>
          </a:prstGeom>
          <a:solidFill>
            <a:srgbClr val="E7EFFF"/>
          </a:solidFill>
          <a:ln w="11430">
            <a:solidFill>
              <a:srgbClr val="BBCBDE"/>
            </a:solidFill>
          </a:ln>
        </p:spPr>
        <p:txBody>
          <a:bodyPr lIns="95250" tIns="76200" rIns="95250" bIns="76200" anchor="ctr">
            <a:noAutofit/>
          </a:bodyPr>
          <a:lstStyle/>
          <a:p>
            <a:pPr algn="ctr">
              <a:defRPr sz="1950">
                <a:solidFill>
                  <a:srgbClr val="20344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>
                <a:solidFill>
                  <a:srgbClr val="20344F"/>
                </a:solidFill>
                <a:latin typeface="Microsoft YaHei"/>
                <a:ea typeface="Microsoft YaHei"/>
                <a:cs typeface="Microsoft YaHei"/>
              </a:rPr>
              <a:t>建议组合器</a:t>
            </a:r>
          </a:p>
          <a:p>
            <a:pPr algn="ctr">
              <a:defRPr sz="1950">
                <a:solidFill>
                  <a:srgbClr val="20344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>
                <a:solidFill>
                  <a:srgbClr val="20344F"/>
                </a:solidFill>
                <a:latin typeface="Microsoft YaHei"/>
                <a:ea typeface="Microsoft YaHei"/>
                <a:cs typeface="Microsoft YaHei"/>
              </a:rPr>
              <a:t>再次校验</a:t>
            </a:r>
          </a:p>
        </p:txBody>
      </p:sp>
      <p:cxnSp>
        <p:nvCxnSpPr>
          <p:cNvPr id="31" name="直接箭头连接符 30"/>
          <p:cNvCxnSpPr>
            <a:stCxn id="6" idx="3"/>
            <a:endCxn id="7" idx="1"/>
          </p:cNvCxnSpPr>
          <p:nvPr/>
        </p:nvCxnSpPr>
        <p:spPr>
          <a:xfrm>
            <a:off x="3159919" y="2600325"/>
            <a:ext cx="257175" cy="0"/>
          </a:xfrm>
          <a:prstGeom prst="straightConnector1">
            <a:avLst/>
          </a:prstGeom>
          <a:ln w="19050">
            <a:solidFill>
              <a:srgbClr val="6C829D"/>
            </a:solidFill>
            <a:headEnd type="triangle" w="sm" len="sm"/>
          </a:ln>
        </p:spPr>
      </p:cxnSp>
      <p:cxnSp>
        <p:nvCxnSpPr>
          <p:cNvPr id="32" name="直接箭头连接符 31"/>
          <p:cNvCxnSpPr>
            <a:stCxn id="7" idx="3"/>
            <a:endCxn id="8" idx="1"/>
          </p:cNvCxnSpPr>
          <p:nvPr/>
        </p:nvCxnSpPr>
        <p:spPr>
          <a:xfrm>
            <a:off x="5967413" y="2600325"/>
            <a:ext cx="257175" cy="0"/>
          </a:xfrm>
          <a:prstGeom prst="straightConnector1">
            <a:avLst/>
          </a:prstGeom>
          <a:ln w="19050">
            <a:solidFill>
              <a:srgbClr val="6C829D"/>
            </a:solidFill>
            <a:headEnd type="triangle" w="sm" len="sm"/>
          </a:ln>
        </p:spPr>
      </p:cxnSp>
      <p:cxnSp>
        <p:nvCxnSpPr>
          <p:cNvPr id="33" name="直接箭头连接符 32"/>
          <p:cNvCxnSpPr>
            <a:stCxn id="8" idx="3"/>
            <a:endCxn id="9" idx="1"/>
          </p:cNvCxnSpPr>
          <p:nvPr/>
        </p:nvCxnSpPr>
        <p:spPr>
          <a:xfrm>
            <a:off x="8774907" y="2600325"/>
            <a:ext cx="257174" cy="0"/>
          </a:xfrm>
          <a:prstGeom prst="straightConnector1">
            <a:avLst/>
          </a:prstGeom>
          <a:ln w="19050">
            <a:solidFill>
              <a:srgbClr val="6C829D"/>
            </a:solidFill>
            <a:headEnd type="triangle" w="sm" len="sm"/>
          </a:ln>
        </p:spPr>
      </p:cxnSp>
      <p:sp>
        <p:nvSpPr>
          <p:cNvPr id="13" name="diagram-node">
            <a:extLst>
              <a:ext uri="{FF2B5EF4-FFF2-40B4-BE49-F238E27FC236}">
                <a16:creationId xmlns:a16="http://schemas.microsoft.com/office/drawing/2014/main" id="{1FC9F409-4B50-4B05-9C5C-C9CD248DA767}"/>
              </a:ext>
            </a:extLst>
          </p:cNvPr>
          <p:cNvSpPr>
            <a:spLocks noGrp="1"/>
          </p:cNvSpPr>
          <p:nvPr/>
        </p:nvSpPr>
        <p:spPr>
          <a:xfrm>
            <a:off x="609600" y="3914775"/>
            <a:ext cx="1988820" cy="1047750"/>
          </a:xfrm>
          <a:prstGeom prst="roundRect">
            <a:avLst>
              <a:gd name="adj" fmla="val 9091"/>
            </a:avLst>
          </a:prstGeom>
          <a:solidFill>
            <a:srgbClr val="E4F4ED"/>
          </a:solidFill>
          <a:ln w="11430">
            <a:solidFill>
              <a:srgbClr val="BBCBDE"/>
            </a:solidFill>
          </a:ln>
        </p:spPr>
        <p:txBody>
          <a:bodyPr lIns="95250" tIns="76200" rIns="95250" bIns="76200" anchor="ctr">
            <a:noAutofit/>
          </a:bodyPr>
          <a:lstStyle/>
          <a:p>
            <a:pPr algn="ctr">
              <a:defRPr sz="1725">
                <a:solidFill>
                  <a:srgbClr val="20344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>
                <a:solidFill>
                  <a:srgbClr val="20344F"/>
                </a:solidFill>
                <a:latin typeface="Microsoft YaHei"/>
                <a:ea typeface="Microsoft YaHei"/>
                <a:cs typeface="Microsoft YaHei"/>
              </a:rPr>
              <a:t>输入版本</a:t>
            </a:r>
          </a:p>
        </p:txBody>
      </p:sp>
      <p:sp>
        <p:nvSpPr>
          <p:cNvPr id="14" name="diagram-node">
            <a:extLst>
              <a:ext uri="{FF2B5EF4-FFF2-40B4-BE49-F238E27FC236}">
                <a16:creationId xmlns:a16="http://schemas.microsoft.com/office/drawing/2014/main" id="{EFCE5787-94F3-4BC7-A33A-D75D4C6DA3B1}"/>
              </a:ext>
            </a:extLst>
          </p:cNvPr>
          <p:cNvSpPr>
            <a:spLocks noGrp="1"/>
          </p:cNvSpPr>
          <p:nvPr/>
        </p:nvSpPr>
        <p:spPr>
          <a:xfrm>
            <a:off x="2855595" y="3914775"/>
            <a:ext cx="1988820" cy="1047750"/>
          </a:xfrm>
          <a:prstGeom prst="roundRect">
            <a:avLst>
              <a:gd name="adj" fmla="val 9091"/>
            </a:avLst>
          </a:prstGeom>
          <a:solidFill>
            <a:srgbClr val="E4F4ED"/>
          </a:solidFill>
          <a:ln w="11430">
            <a:solidFill>
              <a:srgbClr val="BBCBDE"/>
            </a:solidFill>
          </a:ln>
        </p:spPr>
        <p:txBody>
          <a:bodyPr lIns="95250" tIns="76200" rIns="95250" bIns="76200" anchor="ctr">
            <a:noAutofit/>
          </a:bodyPr>
          <a:lstStyle/>
          <a:p>
            <a:pPr algn="ctr">
              <a:defRPr sz="1725">
                <a:solidFill>
                  <a:srgbClr val="20344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>
                <a:solidFill>
                  <a:srgbClr val="20344F"/>
                </a:solidFill>
                <a:latin typeface="Microsoft YaHei"/>
                <a:ea typeface="Microsoft YaHei"/>
                <a:cs typeface="Microsoft YaHei"/>
              </a:rPr>
              <a:t>规则版本</a:t>
            </a:r>
          </a:p>
        </p:txBody>
      </p:sp>
      <p:sp>
        <p:nvSpPr>
          <p:cNvPr id="15" name="diagram-node">
            <a:extLst>
              <a:ext uri="{FF2B5EF4-FFF2-40B4-BE49-F238E27FC236}">
                <a16:creationId xmlns:a16="http://schemas.microsoft.com/office/drawing/2014/main" id="{C162AF3E-F19B-4147-A345-562EF0467327}"/>
              </a:ext>
            </a:extLst>
          </p:cNvPr>
          <p:cNvSpPr>
            <a:spLocks noGrp="1"/>
          </p:cNvSpPr>
          <p:nvPr/>
        </p:nvSpPr>
        <p:spPr>
          <a:xfrm>
            <a:off x="5101590" y="3914775"/>
            <a:ext cx="1988820" cy="1047750"/>
          </a:xfrm>
          <a:prstGeom prst="roundRect">
            <a:avLst>
              <a:gd name="adj" fmla="val 9091"/>
            </a:avLst>
          </a:prstGeom>
          <a:solidFill>
            <a:srgbClr val="E4F4ED"/>
          </a:solidFill>
          <a:ln w="11430">
            <a:solidFill>
              <a:srgbClr val="BBCBDE"/>
            </a:solidFill>
          </a:ln>
        </p:spPr>
        <p:txBody>
          <a:bodyPr lIns="95250" tIns="76200" rIns="95250" bIns="76200" anchor="ctr">
            <a:noAutofit/>
          </a:bodyPr>
          <a:lstStyle/>
          <a:p>
            <a:pPr algn="ctr">
              <a:defRPr sz="1725">
                <a:solidFill>
                  <a:srgbClr val="20344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>
                <a:solidFill>
                  <a:srgbClr val="20344F"/>
                </a:solidFill>
                <a:latin typeface="Microsoft YaHei"/>
                <a:ea typeface="Microsoft YaHei"/>
                <a:cs typeface="Microsoft YaHei"/>
              </a:rPr>
              <a:t>证据引用</a:t>
            </a:r>
          </a:p>
        </p:txBody>
      </p:sp>
      <p:sp>
        <p:nvSpPr>
          <p:cNvPr id="16" name="diagram-node">
            <a:extLst>
              <a:ext uri="{FF2B5EF4-FFF2-40B4-BE49-F238E27FC236}">
                <a16:creationId xmlns:a16="http://schemas.microsoft.com/office/drawing/2014/main" id="{A7348993-85A8-4BDB-B6A7-3B28E89ACC11}"/>
              </a:ext>
            </a:extLst>
          </p:cNvPr>
          <p:cNvSpPr>
            <a:spLocks noGrp="1"/>
          </p:cNvSpPr>
          <p:nvPr/>
        </p:nvSpPr>
        <p:spPr>
          <a:xfrm>
            <a:off x="7347585" y="3914775"/>
            <a:ext cx="1988820" cy="1047750"/>
          </a:xfrm>
          <a:prstGeom prst="roundRect">
            <a:avLst>
              <a:gd name="adj" fmla="val 9091"/>
            </a:avLst>
          </a:prstGeom>
          <a:solidFill>
            <a:srgbClr val="E4F4ED"/>
          </a:solidFill>
          <a:ln w="11430">
            <a:solidFill>
              <a:srgbClr val="BBCBDE"/>
            </a:solidFill>
          </a:ln>
        </p:spPr>
        <p:txBody>
          <a:bodyPr lIns="95250" tIns="76200" rIns="95250" bIns="76200" anchor="ctr">
            <a:noAutofit/>
          </a:bodyPr>
          <a:lstStyle/>
          <a:p>
            <a:pPr algn="ctr">
              <a:defRPr sz="1725">
                <a:solidFill>
                  <a:srgbClr val="20344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>
                <a:solidFill>
                  <a:srgbClr val="20344F"/>
                </a:solidFill>
                <a:latin typeface="Microsoft YaHei"/>
                <a:ea typeface="Microsoft YaHei"/>
                <a:cs typeface="Microsoft YaHei"/>
              </a:rPr>
              <a:t>闸门结果</a:t>
            </a:r>
          </a:p>
        </p:txBody>
      </p:sp>
      <p:sp>
        <p:nvSpPr>
          <p:cNvPr id="17" name="diagram-node">
            <a:extLst>
              <a:ext uri="{FF2B5EF4-FFF2-40B4-BE49-F238E27FC236}">
                <a16:creationId xmlns:a16="http://schemas.microsoft.com/office/drawing/2014/main" id="{FDC70EDE-174A-4FDF-8B9E-F6F0BA541A6E}"/>
              </a:ext>
            </a:extLst>
          </p:cNvPr>
          <p:cNvSpPr>
            <a:spLocks noGrp="1"/>
          </p:cNvSpPr>
          <p:nvPr/>
        </p:nvSpPr>
        <p:spPr>
          <a:xfrm>
            <a:off x="9593580" y="3914775"/>
            <a:ext cx="1988820" cy="1047750"/>
          </a:xfrm>
          <a:prstGeom prst="roundRect">
            <a:avLst>
              <a:gd name="adj" fmla="val 9091"/>
            </a:avLst>
          </a:prstGeom>
          <a:solidFill>
            <a:srgbClr val="E4F4ED"/>
          </a:solidFill>
          <a:ln w="11430">
            <a:solidFill>
              <a:srgbClr val="BBCBDE"/>
            </a:solidFill>
          </a:ln>
        </p:spPr>
        <p:txBody>
          <a:bodyPr lIns="95250" tIns="76200" rIns="95250" bIns="76200" anchor="ctr">
            <a:noAutofit/>
          </a:bodyPr>
          <a:lstStyle/>
          <a:p>
            <a:pPr algn="ctr">
              <a:defRPr sz="1725">
                <a:solidFill>
                  <a:srgbClr val="20344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>
                <a:solidFill>
                  <a:srgbClr val="20344F"/>
                </a:solidFill>
                <a:latin typeface="Microsoft YaHei"/>
                <a:ea typeface="Microsoft YaHei"/>
                <a:cs typeface="Microsoft YaHei"/>
              </a:rPr>
              <a:t>DecisionReceipt</a:t>
            </a:r>
          </a:p>
        </p:txBody>
      </p:sp>
      <p:cxnSp>
        <p:nvCxnSpPr>
          <p:cNvPr id="39" name="直接箭头连接符 38"/>
          <p:cNvCxnSpPr>
            <a:stCxn id="13" idx="3"/>
            <a:endCxn id="14" idx="1"/>
          </p:cNvCxnSpPr>
          <p:nvPr/>
        </p:nvCxnSpPr>
        <p:spPr>
          <a:xfrm>
            <a:off x="2598420" y="4438650"/>
            <a:ext cx="257175" cy="0"/>
          </a:xfrm>
          <a:prstGeom prst="straightConnector1">
            <a:avLst/>
          </a:prstGeom>
          <a:ln w="19050">
            <a:solidFill>
              <a:srgbClr val="6C829D"/>
            </a:solidFill>
            <a:headEnd type="triangle" w="sm" len="sm"/>
          </a:ln>
        </p:spPr>
      </p:cxnSp>
      <p:cxnSp>
        <p:nvCxnSpPr>
          <p:cNvPr id="40" name="直接箭头连接符 39"/>
          <p:cNvCxnSpPr>
            <a:stCxn id="14" idx="3"/>
            <a:endCxn id="15" idx="1"/>
          </p:cNvCxnSpPr>
          <p:nvPr/>
        </p:nvCxnSpPr>
        <p:spPr>
          <a:xfrm>
            <a:off x="4844415" y="4438650"/>
            <a:ext cx="257175" cy="0"/>
          </a:xfrm>
          <a:prstGeom prst="straightConnector1">
            <a:avLst/>
          </a:prstGeom>
          <a:ln w="19050">
            <a:solidFill>
              <a:srgbClr val="6C829D"/>
            </a:solidFill>
            <a:headEnd type="triangle" w="sm" len="sm"/>
          </a:ln>
        </p:spPr>
      </p:cxnSp>
      <p:cxnSp>
        <p:nvCxnSpPr>
          <p:cNvPr id="41" name="直接箭头连接符 40"/>
          <p:cNvCxnSpPr>
            <a:stCxn id="15" idx="3"/>
            <a:endCxn id="16" idx="1"/>
          </p:cNvCxnSpPr>
          <p:nvPr/>
        </p:nvCxnSpPr>
        <p:spPr>
          <a:xfrm>
            <a:off x="7090410" y="4438650"/>
            <a:ext cx="257175" cy="0"/>
          </a:xfrm>
          <a:prstGeom prst="straightConnector1">
            <a:avLst/>
          </a:prstGeom>
          <a:ln w="19050">
            <a:solidFill>
              <a:srgbClr val="6C829D"/>
            </a:solidFill>
            <a:headEnd type="triangle" w="sm" len="sm"/>
          </a:ln>
        </p:spPr>
      </p:cxnSp>
      <p:cxnSp>
        <p:nvCxnSpPr>
          <p:cNvPr id="42" name="直接箭头连接符 41"/>
          <p:cNvCxnSpPr>
            <a:stCxn id="16" idx="3"/>
            <a:endCxn id="17" idx="1"/>
          </p:cNvCxnSpPr>
          <p:nvPr/>
        </p:nvCxnSpPr>
        <p:spPr>
          <a:xfrm>
            <a:off x="9336405" y="4438650"/>
            <a:ext cx="257175" cy="0"/>
          </a:xfrm>
          <a:prstGeom prst="straightConnector1">
            <a:avLst/>
          </a:prstGeom>
          <a:ln w="19050">
            <a:solidFill>
              <a:srgbClr val="6C829D"/>
            </a:solidFill>
            <a:headEnd type="triangle" w="sm" len="sm"/>
          </a:ln>
        </p:spPr>
      </p:cxnSp>
    </p:spTree>
    <p:extLst>
      <p:ext uri="{BB962C8B-B14F-4D97-AF65-F5344CB8AC3E}">
        <p14:creationId xmlns:p14="http://schemas.microsoft.com/office/powerpoint/2010/main" val="426328926"/>
      </p:ext>
    </p:extLst>
  </p:cSld>
  <p:clrMapOvr>
    <a:masterClrMapping/>
  </p:clrMapOvr>
  <p:transition>
    <p:fade thruBlk="1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6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460"/>
                            </p:stCondLst>
                            <p:childTnLst>
                              <p:par>
                                <p:cTn id="9" presetID="10" presetClass="entr" presetSubtype="0" fill="hold" grpId="0" nodeType="afterEffect">
                                  <p:stCondLst>
                                    <p:cond delay="6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4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920"/>
                            </p:stCondLst>
                            <p:childTnLst>
                              <p:par>
                                <p:cTn id="13" presetID="10" presetClass="entr" presetSubtype="0" fill="hold" grpId="0" nodeType="afterEffect">
                                  <p:stCondLst>
                                    <p:cond delay="6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4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1380"/>
                            </p:stCondLst>
                            <p:childTnLst>
                              <p:par>
                                <p:cTn id="17" presetID="10" presetClass="entr" presetSubtype="0" fill="hold" grpId="0" nodeType="afterEffect">
                                  <p:stCondLst>
                                    <p:cond delay="6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4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1840"/>
                            </p:stCondLst>
                            <p:childTnLst>
                              <p:par>
                                <p:cTn id="21" presetID="10" presetClass="entr" presetSubtype="0" fill="hold" grpId="0" nodeType="afterEffect">
                                  <p:stCondLst>
                                    <p:cond delay="6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4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2300"/>
                            </p:stCondLst>
                            <p:childTnLst>
                              <p:par>
                                <p:cTn id="25" presetID="10" presetClass="entr" presetSubtype="0" fill="hold" grpId="0" nodeType="afterEffect">
                                  <p:stCondLst>
                                    <p:cond delay="6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4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>
                            <p:stCondLst>
                              <p:cond delay="2760"/>
                            </p:stCondLst>
                            <p:childTnLst>
                              <p:par>
                                <p:cTn id="29" presetID="10" presetClass="entr" presetSubtype="0" fill="hold" nodeType="afterEffect">
                                  <p:stCondLst>
                                    <p:cond delay="6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4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2" fill="hold">
                            <p:stCondLst>
                              <p:cond delay="3220"/>
                            </p:stCondLst>
                            <p:childTnLst>
                              <p:par>
                                <p:cTn id="33" presetID="10" presetClass="entr" presetSubtype="0" fill="hold" nodeType="afterEffect">
                                  <p:stCondLst>
                                    <p:cond delay="6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4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6" fill="hold">
                            <p:stCondLst>
                              <p:cond delay="3680"/>
                            </p:stCondLst>
                            <p:childTnLst>
                              <p:par>
                                <p:cTn id="37" presetID="10" presetClass="entr" presetSubtype="0" fill="hold" nodeType="afterEffect">
                                  <p:stCondLst>
                                    <p:cond delay="6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4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0" fill="hold">
                            <p:stCondLst>
                              <p:cond delay="4140"/>
                            </p:stCondLst>
                            <p:childTnLst>
                              <p:par>
                                <p:cTn id="41" presetID="10" presetClass="entr" presetSubtype="0" fill="hold" grpId="0" nodeType="afterEffect">
                                  <p:stCondLst>
                                    <p:cond delay="6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4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4" fill="hold">
                            <p:stCondLst>
                              <p:cond delay="4600"/>
                            </p:stCondLst>
                            <p:childTnLst>
                              <p:par>
                                <p:cTn id="45" presetID="10" presetClass="entr" presetSubtype="0" fill="hold" grpId="0" nodeType="afterEffect">
                                  <p:stCondLst>
                                    <p:cond delay="6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4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8" fill="hold">
                            <p:stCondLst>
                              <p:cond delay="5060"/>
                            </p:stCondLst>
                            <p:childTnLst>
                              <p:par>
                                <p:cTn id="49" presetID="10" presetClass="entr" presetSubtype="0" fill="hold" grpId="0" nodeType="afterEffect">
                                  <p:stCondLst>
                                    <p:cond delay="6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1" dur="4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2" fill="hold">
                            <p:stCondLst>
                              <p:cond delay="5520"/>
                            </p:stCondLst>
                            <p:childTnLst>
                              <p:par>
                                <p:cTn id="53" presetID="10" presetClass="entr" presetSubtype="0" fill="hold" grpId="0" nodeType="afterEffect">
                                  <p:stCondLst>
                                    <p:cond delay="6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4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6" fill="hold">
                            <p:stCondLst>
                              <p:cond delay="5980"/>
                            </p:stCondLst>
                            <p:childTnLst>
                              <p:par>
                                <p:cTn id="57" presetID="10" presetClass="entr" presetSubtype="0" fill="hold" grpId="0" nodeType="afterEffect">
                                  <p:stCondLst>
                                    <p:cond delay="6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9" dur="4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0" fill="hold">
                            <p:stCondLst>
                              <p:cond delay="6440"/>
                            </p:stCondLst>
                            <p:childTnLst>
                              <p:par>
                                <p:cTn id="61" presetID="10" presetClass="entr" presetSubtype="0" fill="hold" nodeType="afterEffect">
                                  <p:stCondLst>
                                    <p:cond delay="6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3" dur="4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4" fill="hold">
                            <p:stCondLst>
                              <p:cond delay="6900"/>
                            </p:stCondLst>
                            <p:childTnLst>
                              <p:par>
                                <p:cTn id="65" presetID="10" presetClass="entr" presetSubtype="0" fill="hold" nodeType="afterEffect">
                                  <p:stCondLst>
                                    <p:cond delay="6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4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8" fill="hold">
                            <p:stCondLst>
                              <p:cond delay="7360"/>
                            </p:stCondLst>
                            <p:childTnLst>
                              <p:par>
                                <p:cTn id="69" presetID="10" presetClass="entr" presetSubtype="0" fill="hold" nodeType="afterEffect">
                                  <p:stCondLst>
                                    <p:cond delay="6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1" dur="4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2" fill="hold">
                            <p:stCondLst>
                              <p:cond delay="7820"/>
                            </p:stCondLst>
                            <p:childTnLst>
                              <p:par>
                                <p:cTn id="73" presetID="10" presetClass="entr" presetSubtype="0" fill="hold" nodeType="afterEffect">
                                  <p:stCondLst>
                                    <p:cond delay="6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5" dur="4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6" fill="hold">
                            <p:stCondLst>
                              <p:cond delay="8280"/>
                            </p:stCondLst>
                            <p:childTnLst>
                              <p:par>
                                <p:cTn id="77" presetID="10" presetClass="entr" presetSubtype="0" fill="hold" grpId="0" nodeType="afterEffect">
                                  <p:stCondLst>
                                    <p:cond delay="6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9" dur="4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0" fill="hold">
                            <p:stCondLst>
                              <p:cond delay="8740"/>
                            </p:stCondLst>
                            <p:childTnLst>
                              <p:par>
                                <p:cTn id="81" presetID="10" presetClass="entr" presetSubtype="0" fill="hold" grpId="0" nodeType="afterEffect">
                                  <p:stCondLst>
                                    <p:cond delay="6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3" dur="4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4" fill="hold">
                            <p:stCondLst>
                              <p:cond delay="9200"/>
                            </p:stCondLst>
                            <p:childTnLst>
                              <p:par>
                                <p:cTn id="85" presetID="10" presetClass="entr" presetSubtype="0" fill="hold" grpId="0" nodeType="afterEffect">
                                  <p:stCondLst>
                                    <p:cond delay="6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7" dur="4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2" grpId="0"/>
      <p:bldP spid="2" grpId="0"/>
      <p:bldP spid="3" grpId="0"/>
      <p:bldP spid="4" grpId="0"/>
      <p:bldP spid="5" grpId="0"/>
      <p:bldP spid="6" grpId="0" animBg="1"/>
      <p:bldP spid="7" grpId="0" animBg="1"/>
      <p:bldP spid="8" grpId="0" animBg="1"/>
      <p:bldP spid="9" grpId="0" animBg="1"/>
      <p:bldP spid="13" grpId="0" animBg="1"/>
      <p:bldP spid="14" grpId="0" animBg="1"/>
      <p:bldP spid="15" grpId="0" animBg="1"/>
      <p:bldP spid="16" grpId="0" animBg="1"/>
      <p:bldP spid="17" grpId="0" animBg="1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slide-title">
            <a:extLst>
              <a:ext uri="{FF2B5EF4-FFF2-40B4-BE49-F238E27FC236}">
                <a16:creationId xmlns:a16="http://schemas.microsoft.com/office/drawing/2014/main" id="{1D20E009-CBBB-4E64-A837-1858CA8D2AC0}"/>
              </a:ext>
            </a:extLst>
          </p:cNvPr>
          <p:cNvSpPr>
            <a:spLocks noGrp="1"/>
          </p:cNvSpPr>
          <p:nvPr/>
        </p:nvSpPr>
        <p:spPr>
          <a:xfrm>
            <a:off x="609600" y="419100"/>
            <a:ext cx="10972800" cy="6096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l">
              <a:defRPr sz="3000" b="1">
                <a:solidFill>
                  <a:srgbClr val="20344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000" b="1">
                <a:solidFill>
                  <a:srgbClr val="20344F"/>
                </a:solidFill>
                <a:latin typeface="Microsoft YaHei"/>
                <a:ea typeface="Microsoft YaHei"/>
                <a:cs typeface="Microsoft YaHei"/>
              </a:rPr>
              <a:t>创新评价对象与使用条件</a:t>
            </a:r>
          </a:p>
        </p:txBody>
      </p:sp>
      <p:sp>
        <p:nvSpPr>
          <p:cNvPr id="2" name="document-heading">
            <a:extLst>
              <a:ext uri="{FF2B5EF4-FFF2-40B4-BE49-F238E27FC236}">
                <a16:creationId xmlns:a16="http://schemas.microsoft.com/office/drawing/2014/main" id="{EDBC637B-BB8F-4D87-BF73-0C84A022E197}"/>
              </a:ext>
            </a:extLst>
          </p:cNvPr>
          <p:cNvSpPr>
            <a:spLocks noGrp="1"/>
          </p:cNvSpPr>
          <p:nvPr/>
        </p:nvSpPr>
        <p:spPr>
          <a:xfrm>
            <a:off x="609600" y="1085850"/>
            <a:ext cx="10972800" cy="3238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l">
              <a:defRPr sz="1575" b="0">
                <a:solidFill>
                  <a:srgbClr val="566C8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566C83"/>
                </a:solidFill>
                <a:latin typeface="Microsoft YaHei"/>
                <a:ea typeface="Microsoft YaHei"/>
                <a:cs typeface="Microsoft YaHei"/>
              </a:rPr>
              <a:t>6.5 创新评价与后续研究</a:t>
            </a:r>
          </a:p>
        </p:txBody>
      </p:sp>
      <p:sp>
        <p:nvSpPr>
          <p:cNvPr id="3" name="figure-introduction">
            <a:extLst>
              <a:ext uri="{FF2B5EF4-FFF2-40B4-BE49-F238E27FC236}">
                <a16:creationId xmlns:a16="http://schemas.microsoft.com/office/drawing/2014/main" id="{50A73342-2D09-4A7E-80F5-CE1BCFBFA435}"/>
              </a:ext>
            </a:extLst>
          </p:cNvPr>
          <p:cNvSpPr>
            <a:spLocks noGrp="1"/>
          </p:cNvSpPr>
          <p:nvPr/>
        </p:nvSpPr>
        <p:spPr>
          <a:xfrm>
            <a:off x="609600" y="5524500"/>
            <a:ext cx="10972800" cy="8382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l">
              <a:defRPr sz="1725" b="0">
                <a:solidFill>
                  <a:srgbClr val="566C8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566C83"/>
                </a:solidFill>
                <a:latin typeface="Microsoft YaHei"/>
                <a:ea typeface="Microsoft YaHei"/>
                <a:cs typeface="Microsoft YaHei"/>
              </a:rPr>
              <a:t>评价分别检查个人条件参与计算、证据满足规则、金额及比例可复算，以及建议资格符合审查结果。正式报告能够证明对应输入下的计算与状态；外部金融研究基准及完整咨询性能需要对应评价记录。</a:t>
            </a:r>
          </a:p>
        </p:txBody>
      </p:sp>
      <p:sp>
        <p:nvSpPr>
          <p:cNvPr id="4" name="footer">
            <a:extLst>
              <a:ext uri="{FF2B5EF4-FFF2-40B4-BE49-F238E27FC236}">
                <a16:creationId xmlns:a16="http://schemas.microsoft.com/office/drawing/2014/main" id="{A5DFC1C4-DE18-42A6-BAB8-BF0C41144D2F}"/>
              </a:ext>
            </a:extLst>
          </p:cNvPr>
          <p:cNvSpPr>
            <a:spLocks noGrp="1"/>
          </p:cNvSpPr>
          <p:nvPr/>
        </p:nvSpPr>
        <p:spPr>
          <a:xfrm>
            <a:off x="609600" y="6477000"/>
            <a:ext cx="9144000" cy="2381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l">
              <a:defRPr sz="1275" b="0">
                <a:solidFill>
                  <a:srgbClr val="566C8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566C83"/>
                </a:solidFill>
                <a:latin typeface="Microsoft YaHei"/>
                <a:ea typeface="Microsoft YaHei"/>
                <a:cs typeface="Microsoft YaHei"/>
              </a:rPr>
              <a:t>Prism · 算法与创新机制</a:t>
            </a:r>
          </a:p>
        </p:txBody>
      </p:sp>
      <p:sp>
        <p:nvSpPr>
          <p:cNvPr id="5" name="page-number">
            <a:extLst>
              <a:ext uri="{FF2B5EF4-FFF2-40B4-BE49-F238E27FC236}">
                <a16:creationId xmlns:a16="http://schemas.microsoft.com/office/drawing/2014/main" id="{FECED0D4-8D96-4063-B7AA-9B4373B774E7}"/>
              </a:ext>
            </a:extLst>
          </p:cNvPr>
          <p:cNvSpPr>
            <a:spLocks noGrp="1"/>
          </p:cNvSpPr>
          <p:nvPr/>
        </p:nvSpPr>
        <p:spPr>
          <a:xfrm>
            <a:off x="11049000" y="6477000"/>
            <a:ext cx="523875" cy="2381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r">
              <a:defRPr sz="1275" b="0">
                <a:solidFill>
                  <a:srgbClr val="566C8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566C83"/>
                </a:solidFill>
                <a:latin typeface="Microsoft YaHei"/>
                <a:ea typeface="Microsoft YaHei"/>
                <a:cs typeface="Microsoft YaHei"/>
              </a:rPr>
              <a:t>17</a:t>
            </a:r>
          </a:p>
        </p:txBody>
      </p:sp>
      <p:graphicFrame>
        <p:nvGraphicFramePr>
          <p:cNvPr id="12" name="表格 11"/>
          <p:cNvGraphicFramePr/>
          <p:nvPr/>
        </p:nvGraphicFramePr>
        <p:xfrm>
          <a:off x="609600" y="1876425"/>
          <a:ext cx="10972800" cy="3238500"/>
        </p:xfrm>
        <a:graphic>
          <a:graphicData uri="http://schemas.openxmlformats.org/drawingml/2006/table">
            <a:tbl>
              <a:tblPr/>
              <a:tblGrid>
                <a:gridCol w="25717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6860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00037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71462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647700"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20344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评价对象</a:t>
                      </a:r>
                    </a:p>
                  </a:txBody>
                  <a:tcPr>
                    <a:solidFill>
                      <a:srgbClr val="E7E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20344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检查输入</a:t>
                      </a:r>
                    </a:p>
                  </a:txBody>
                  <a:tcPr>
                    <a:solidFill>
                      <a:srgbClr val="E7E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20344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可核对结果</a:t>
                      </a:r>
                    </a:p>
                  </a:txBody>
                  <a:tcPr>
                    <a:solidFill>
                      <a:srgbClr val="E7E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20344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评价条件</a:t>
                      </a:r>
                    </a:p>
                  </a:txBody>
                  <a:tcPr>
                    <a:solidFill>
                      <a:srgbClr val="E7E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47700"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0344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画像约束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0344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问卷与画像版本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0344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分数、预算、超限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0344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已确认输入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47700"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0344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证据验证</a:t>
                      </a:r>
                    </a:p>
                  </a:txBody>
                  <a:tcPr>
                    <a:solidFill>
                      <a:srgbClr val="F6F8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0344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口径与 lineage</a:t>
                      </a:r>
                    </a:p>
                  </a:txBody>
                  <a:tcPr>
                    <a:solidFill>
                      <a:srgbClr val="F6F8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0344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支持、冲突与引用</a:t>
                      </a:r>
                    </a:p>
                  </a:txBody>
                  <a:tcPr>
                    <a:solidFill>
                      <a:srgbClr val="F6F8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0344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结构化观测</a:t>
                      </a:r>
                    </a:p>
                  </a:txBody>
                  <a:tcPr>
                    <a:solidFill>
                      <a:srgbClr val="F6F8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47700"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0344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金融计算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0344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数量、价格及规则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0344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金额、权重与现金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0344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同一分母与精度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47700"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0344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建议资格</a:t>
                      </a:r>
                    </a:p>
                  </a:txBody>
                  <a:tcPr>
                    <a:solidFill>
                      <a:srgbClr val="F6F8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0344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研究及双闸门结果</a:t>
                      </a:r>
                    </a:p>
                  </a:txBody>
                  <a:tcPr>
                    <a:solidFill>
                      <a:srgbClr val="F6F8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0344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资格、问题和回执</a:t>
                      </a:r>
                    </a:p>
                  </a:txBody>
                  <a:tcPr>
                    <a:solidFill>
                      <a:srgbClr val="F6F8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0344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输入版本一致</a:t>
                      </a:r>
                    </a:p>
                  </a:txBody>
                  <a:tcPr>
                    <a:solidFill>
                      <a:srgbClr val="F6F8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515537163"/>
      </p:ext>
    </p:extLst>
  </p:cSld>
  <p:clrMapOvr>
    <a:masterClrMapping/>
  </p:clrMapOvr>
  <p:transition>
    <p:fade thruBlk="1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6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460"/>
                            </p:stCondLst>
                            <p:childTnLst>
                              <p:par>
                                <p:cTn id="9" presetID="10" presetClass="entr" presetSubtype="0" fill="hold" grpId="0" nodeType="afterEffect">
                                  <p:stCondLst>
                                    <p:cond delay="6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4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920"/>
                            </p:stCondLst>
                            <p:childTnLst>
                              <p:par>
                                <p:cTn id="13" presetID="10" presetClass="entr" presetSubtype="0" fill="hold" nodeType="afterEffect">
                                  <p:stCondLst>
                                    <p:cond delay="6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4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1380"/>
                            </p:stCondLst>
                            <p:childTnLst>
                              <p:par>
                                <p:cTn id="17" presetID="10" presetClass="entr" presetSubtype="0" fill="hold" grpId="0" nodeType="afterEffect">
                                  <p:stCondLst>
                                    <p:cond delay="6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4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1840"/>
                            </p:stCondLst>
                            <p:childTnLst>
                              <p:par>
                                <p:cTn id="21" presetID="10" presetClass="entr" presetSubtype="0" fill="hold" grpId="0" nodeType="afterEffect">
                                  <p:stCondLst>
                                    <p:cond delay="6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4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2300"/>
                            </p:stCondLst>
                            <p:childTnLst>
                              <p:par>
                                <p:cTn id="25" presetID="10" presetClass="entr" presetSubtype="0" fill="hold" grpId="0" nodeType="afterEffect">
                                  <p:stCondLst>
                                    <p:cond delay="6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4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  <p:bldP spid="2" grpId="0"/>
      <p:bldP spid="3" grpId="0"/>
      <p:bldP spid="4" grpId="0"/>
      <p:bldP spid="5" grpId="0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">
            <a:extLst>
              <a:ext uri="{FF2B5EF4-FFF2-40B4-BE49-F238E27FC236}">
                <a16:creationId xmlns:a16="http://schemas.microsoft.com/office/drawing/2014/main" id="{FEF95A43-65DE-4AE8-A913-91AEB0C4D73A}"/>
              </a:ext>
            </a:extLst>
          </p:cNvPr>
          <p:cNvSpPr>
            <a:spLocks noGrp="1"/>
          </p:cNvSpPr>
          <p:nvPr/>
        </p:nvSpPr>
        <p:spPr>
          <a:xfrm>
            <a:off x="1905000" y="2305050"/>
            <a:ext cx="2143125" cy="14287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l">
              <a:defRPr sz="9450" b="1">
                <a:solidFill>
                  <a:srgbClr val="25282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450" b="1">
                <a:solidFill>
                  <a:srgbClr val="25282C"/>
                </a:solidFill>
                <a:latin typeface="Microsoft YaHei"/>
                <a:ea typeface="Microsoft YaHei"/>
                <a:cs typeface="Microsoft YaHei"/>
              </a:rPr>
              <a:t>03</a:t>
            </a:r>
          </a:p>
        </p:txBody>
      </p:sp>
      <p:sp>
        <p:nvSpPr>
          <p:cNvPr id="2" name="text">
            <a:extLst>
              <a:ext uri="{FF2B5EF4-FFF2-40B4-BE49-F238E27FC236}">
                <a16:creationId xmlns:a16="http://schemas.microsoft.com/office/drawing/2014/main" id="{94AD8DFE-0068-4C81-8408-EBF67C212E90}"/>
              </a:ext>
            </a:extLst>
          </p:cNvPr>
          <p:cNvSpPr>
            <a:spLocks noGrp="1"/>
          </p:cNvSpPr>
          <p:nvPr/>
        </p:nvSpPr>
        <p:spPr>
          <a:xfrm>
            <a:off x="4429125" y="2124075"/>
            <a:ext cx="6667500" cy="4762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l">
              <a:defRPr sz="2250" b="0">
                <a:solidFill>
                  <a:srgbClr val="33384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0">
                <a:solidFill>
                  <a:srgbClr val="333840"/>
                </a:solidFill>
                <a:latin typeface="Microsoft YaHei"/>
                <a:ea typeface="Microsoft YaHei"/>
                <a:cs typeface="Microsoft YaHei"/>
              </a:rPr>
              <a:t>Actual Data and Verification</a:t>
            </a:r>
          </a:p>
        </p:txBody>
      </p:sp>
      <p:sp>
        <p:nvSpPr>
          <p:cNvPr id="3" name="text">
            <a:extLst>
              <a:ext uri="{FF2B5EF4-FFF2-40B4-BE49-F238E27FC236}">
                <a16:creationId xmlns:a16="http://schemas.microsoft.com/office/drawing/2014/main" id="{E707ED34-1279-4FC0-8B55-19E8B675D6BD}"/>
              </a:ext>
            </a:extLst>
          </p:cNvPr>
          <p:cNvSpPr>
            <a:spLocks noGrp="1"/>
          </p:cNvSpPr>
          <p:nvPr/>
        </p:nvSpPr>
        <p:spPr>
          <a:xfrm>
            <a:off x="4429125" y="2762250"/>
            <a:ext cx="7096125" cy="8763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l">
              <a:defRPr sz="4500" b="1">
                <a:solidFill>
                  <a:srgbClr val="2867B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4500" b="1">
                <a:solidFill>
                  <a:srgbClr val="2867BF"/>
                </a:solidFill>
                <a:latin typeface="Microsoft YaHei"/>
                <a:ea typeface="Microsoft YaHei"/>
                <a:cs typeface="Microsoft YaHei"/>
              </a:rPr>
              <a:t>实际数据与验证</a:t>
            </a:r>
          </a:p>
        </p:txBody>
      </p:sp>
      <p:sp>
        <p:nvSpPr>
          <p:cNvPr id="4" name="text">
            <a:extLst>
              <a:ext uri="{FF2B5EF4-FFF2-40B4-BE49-F238E27FC236}">
                <a16:creationId xmlns:a16="http://schemas.microsoft.com/office/drawing/2014/main" id="{0E9C65B7-1B8D-4978-8670-A5F9A3F109A0}"/>
              </a:ext>
            </a:extLst>
          </p:cNvPr>
          <p:cNvSpPr>
            <a:spLocks noGrp="1"/>
          </p:cNvSpPr>
          <p:nvPr/>
        </p:nvSpPr>
        <p:spPr>
          <a:xfrm>
            <a:off x="4476750" y="3895725"/>
            <a:ext cx="6286500" cy="7620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l">
              <a:defRPr sz="1725" b="0">
                <a:solidFill>
                  <a:srgbClr val="566C8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566C83"/>
                </a:solidFill>
                <a:latin typeface="Microsoft YaHei"/>
                <a:ea typeface="Microsoft YaHei"/>
                <a:cs typeface="Microsoft YaHei"/>
              </a:rPr>
              <a:t>历史正式报告 · 实际文档检索 · 技术与工程证据</a:t>
            </a:r>
          </a:p>
        </p:txBody>
      </p:sp>
    </p:spTree>
    <p:extLst>
      <p:ext uri="{BB962C8B-B14F-4D97-AF65-F5344CB8AC3E}">
        <p14:creationId xmlns:p14="http://schemas.microsoft.com/office/powerpoint/2010/main" val="1339853849"/>
      </p:ext>
    </p:extLst>
  </p:cSld>
  <p:clrMapOvr>
    <a:masterClrMapping/>
  </p:clrMapOvr>
  <p:transition>
    <p:fade thruBlk="1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6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460"/>
                            </p:stCondLst>
                            <p:childTnLst>
                              <p:par>
                                <p:cTn id="9" presetID="10" presetClass="entr" presetSubtype="0" fill="hold" grpId="0" nodeType="afterEffect">
                                  <p:stCondLst>
                                    <p:cond delay="6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4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920"/>
                            </p:stCondLst>
                            <p:childTnLst>
                              <p:par>
                                <p:cTn id="13" presetID="10" presetClass="entr" presetSubtype="0" fill="hold" grpId="0" nodeType="afterEffect">
                                  <p:stCondLst>
                                    <p:cond delay="6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4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1380"/>
                            </p:stCondLst>
                            <p:childTnLst>
                              <p:par>
                                <p:cTn id="17" presetID="10" presetClass="entr" presetSubtype="0" fill="hold" grpId="0" nodeType="afterEffect">
                                  <p:stCondLst>
                                    <p:cond delay="6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4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  <p:bldP spid="2" grpId="0"/>
      <p:bldP spid="3" grpId="0"/>
      <p:bldP spid="4" grpId="0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slide-title">
            <a:extLst>
              <a:ext uri="{FF2B5EF4-FFF2-40B4-BE49-F238E27FC236}">
                <a16:creationId xmlns:a16="http://schemas.microsoft.com/office/drawing/2014/main" id="{0375FBAD-40A1-4D75-A5E3-770D53035A43}"/>
              </a:ext>
            </a:extLst>
          </p:cNvPr>
          <p:cNvSpPr>
            <a:spLocks noGrp="1"/>
          </p:cNvSpPr>
          <p:nvPr/>
        </p:nvSpPr>
        <p:spPr>
          <a:xfrm>
            <a:off x="609600" y="419100"/>
            <a:ext cx="10972800" cy="6096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l">
              <a:defRPr sz="3000" b="1">
                <a:solidFill>
                  <a:srgbClr val="20344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000" b="1">
                <a:solidFill>
                  <a:srgbClr val="20344F"/>
                </a:solidFill>
                <a:latin typeface="Microsoft YaHei"/>
                <a:ea typeface="Microsoft YaHei"/>
                <a:cs typeface="Microsoft YaHei"/>
              </a:rPr>
              <a:t>实际组合报告字段</a:t>
            </a:r>
          </a:p>
        </p:txBody>
      </p:sp>
      <p:sp>
        <p:nvSpPr>
          <p:cNvPr id="2" name="document-heading">
            <a:extLst>
              <a:ext uri="{FF2B5EF4-FFF2-40B4-BE49-F238E27FC236}">
                <a16:creationId xmlns:a16="http://schemas.microsoft.com/office/drawing/2014/main" id="{22DCEC8A-9B01-469A-821B-6C201C31DB25}"/>
              </a:ext>
            </a:extLst>
          </p:cNvPr>
          <p:cNvSpPr>
            <a:spLocks noGrp="1"/>
          </p:cNvSpPr>
          <p:nvPr/>
        </p:nvSpPr>
        <p:spPr>
          <a:xfrm>
            <a:off x="609600" y="1085850"/>
            <a:ext cx="10972800" cy="3238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l">
              <a:defRPr sz="1575" b="0">
                <a:solidFill>
                  <a:srgbClr val="566C8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566C83"/>
                </a:solidFill>
                <a:latin typeface="Microsoft YaHei"/>
                <a:ea typeface="Microsoft YaHei"/>
                <a:cs typeface="Microsoft YaHei"/>
              </a:rPr>
              <a:t>7.1 正式组合报告案例</a:t>
            </a:r>
          </a:p>
        </p:txBody>
      </p:sp>
      <p:sp>
        <p:nvSpPr>
          <p:cNvPr id="3" name="figure-introduction">
            <a:extLst>
              <a:ext uri="{FF2B5EF4-FFF2-40B4-BE49-F238E27FC236}">
                <a16:creationId xmlns:a16="http://schemas.microsoft.com/office/drawing/2014/main" id="{0326249C-7BB7-432E-A83B-EEE761FD87BD}"/>
              </a:ext>
            </a:extLst>
          </p:cNvPr>
          <p:cNvSpPr>
            <a:spLocks noGrp="1"/>
          </p:cNvSpPr>
          <p:nvPr/>
        </p:nvSpPr>
        <p:spPr>
          <a:xfrm>
            <a:off x="609600" y="5524500"/>
            <a:ext cx="10972800" cy="8382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l">
              <a:defRPr sz="1725" b="0">
                <a:solidFill>
                  <a:srgbClr val="566C8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566C83"/>
                </a:solidFill>
                <a:latin typeface="Microsoft YaHei"/>
                <a:ea typeface="Microsoft YaHei"/>
                <a:cs typeface="Microsoft YaHei"/>
              </a:rPr>
              <a:t>该图选取仓库保存的正式组合报告字段，展示报告时间、金额与集中度状态。报告生成于 2026 年 9 月 15 日，证券市值与现金共同构成总资产，集中度返回 REVIEW_REQUIRED。图片展示该时点的历史报告。</a:t>
            </a:r>
          </a:p>
        </p:txBody>
      </p:sp>
      <p:sp>
        <p:nvSpPr>
          <p:cNvPr id="4" name="footer">
            <a:extLst>
              <a:ext uri="{FF2B5EF4-FFF2-40B4-BE49-F238E27FC236}">
                <a16:creationId xmlns:a16="http://schemas.microsoft.com/office/drawing/2014/main" id="{D7A39CAB-8ECB-4AA5-BCEA-5093325EE66C}"/>
              </a:ext>
            </a:extLst>
          </p:cNvPr>
          <p:cNvSpPr>
            <a:spLocks noGrp="1"/>
          </p:cNvSpPr>
          <p:nvPr/>
        </p:nvSpPr>
        <p:spPr>
          <a:xfrm>
            <a:off x="609600" y="6477000"/>
            <a:ext cx="9144000" cy="2381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l">
              <a:defRPr sz="1275" b="0">
                <a:solidFill>
                  <a:srgbClr val="566C8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566C83"/>
                </a:solidFill>
                <a:latin typeface="Microsoft YaHei"/>
                <a:ea typeface="Microsoft YaHei"/>
                <a:cs typeface="Microsoft YaHei"/>
              </a:rPr>
              <a:t>Prism · 实际数据与验证</a:t>
            </a:r>
          </a:p>
        </p:txBody>
      </p:sp>
      <p:sp>
        <p:nvSpPr>
          <p:cNvPr id="5" name="page-number">
            <a:extLst>
              <a:ext uri="{FF2B5EF4-FFF2-40B4-BE49-F238E27FC236}">
                <a16:creationId xmlns:a16="http://schemas.microsoft.com/office/drawing/2014/main" id="{2682B56A-966F-4FA7-9DAC-B22478014975}"/>
              </a:ext>
            </a:extLst>
          </p:cNvPr>
          <p:cNvSpPr>
            <a:spLocks noGrp="1"/>
          </p:cNvSpPr>
          <p:nvPr/>
        </p:nvSpPr>
        <p:spPr>
          <a:xfrm>
            <a:off x="11049000" y="6477000"/>
            <a:ext cx="523875" cy="2381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r">
              <a:defRPr sz="1275" b="0">
                <a:solidFill>
                  <a:srgbClr val="566C8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566C83"/>
                </a:solidFill>
                <a:latin typeface="Microsoft YaHei"/>
                <a:ea typeface="Microsoft YaHei"/>
                <a:cs typeface="Microsoft YaHei"/>
              </a:rPr>
              <a:t>19</a:t>
            </a:r>
          </a:p>
        </p:txBody>
      </p:sp>
      <p:pic>
        <p:nvPicPr>
          <p:cNvPr id="16" name="图片 15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836913" y="1638300"/>
            <a:ext cx="6955824" cy="3676650"/>
          </a:xfrm>
          <a:prstGeom prst="rect">
            <a:avLst/>
          </a:prstGeom>
        </p:spPr>
      </p:pic>
      <p:sp>
        <p:nvSpPr>
          <p:cNvPr id="7" name="text">
            <a:extLst>
              <a:ext uri="{FF2B5EF4-FFF2-40B4-BE49-F238E27FC236}">
                <a16:creationId xmlns:a16="http://schemas.microsoft.com/office/drawing/2014/main" id="{F356FDBC-E7D2-4892-81A3-B70EDC7080A5}"/>
              </a:ext>
            </a:extLst>
          </p:cNvPr>
          <p:cNvSpPr>
            <a:spLocks noGrp="1"/>
          </p:cNvSpPr>
          <p:nvPr/>
        </p:nvSpPr>
        <p:spPr>
          <a:xfrm>
            <a:off x="8429625" y="1962150"/>
            <a:ext cx="3105150" cy="5905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l">
              <a:defRPr sz="2175" b="1">
                <a:solidFill>
                  <a:srgbClr val="20344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1">
                <a:solidFill>
                  <a:srgbClr val="20344F"/>
                </a:solidFill>
                <a:latin typeface="Microsoft YaHei"/>
                <a:ea typeface="Microsoft YaHei"/>
                <a:cs typeface="Microsoft YaHei"/>
              </a:rPr>
              <a:t>报告状态</a:t>
            </a:r>
          </a:p>
        </p:txBody>
      </p:sp>
      <p:sp>
        <p:nvSpPr>
          <p:cNvPr id="8" name="text">
            <a:extLst>
              <a:ext uri="{FF2B5EF4-FFF2-40B4-BE49-F238E27FC236}">
                <a16:creationId xmlns:a16="http://schemas.microsoft.com/office/drawing/2014/main" id="{C28A8BD6-2327-4A5E-A224-495AADDDC4ED}"/>
              </a:ext>
            </a:extLst>
          </p:cNvPr>
          <p:cNvSpPr>
            <a:spLocks noGrp="1"/>
          </p:cNvSpPr>
          <p:nvPr/>
        </p:nvSpPr>
        <p:spPr>
          <a:xfrm>
            <a:off x="8429625" y="2667000"/>
            <a:ext cx="3105150" cy="5905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l">
              <a:defRPr sz="1800" b="0">
                <a:solidFill>
                  <a:srgbClr val="2867B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2867BF"/>
                </a:solidFill>
                <a:latin typeface="Microsoft YaHei"/>
                <a:ea typeface="Microsoft YaHei"/>
                <a:cs typeface="Microsoft YaHei"/>
              </a:rPr>
              <a:t>REVIEW_REQUIRED</a:t>
            </a:r>
          </a:p>
        </p:txBody>
      </p:sp>
      <p:sp>
        <p:nvSpPr>
          <p:cNvPr id="9" name="text">
            <a:extLst>
              <a:ext uri="{FF2B5EF4-FFF2-40B4-BE49-F238E27FC236}">
                <a16:creationId xmlns:a16="http://schemas.microsoft.com/office/drawing/2014/main" id="{E19FE497-A365-4829-8EA6-DA6137C38570}"/>
              </a:ext>
            </a:extLst>
          </p:cNvPr>
          <p:cNvSpPr>
            <a:spLocks noGrp="1"/>
          </p:cNvSpPr>
          <p:nvPr/>
        </p:nvSpPr>
        <p:spPr>
          <a:xfrm>
            <a:off x="8429625" y="3371850"/>
            <a:ext cx="3105150" cy="5905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l">
              <a:defRPr sz="2175" b="1">
                <a:solidFill>
                  <a:srgbClr val="20344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1">
                <a:solidFill>
                  <a:srgbClr val="20344F"/>
                </a:solidFill>
                <a:latin typeface="Microsoft YaHei"/>
                <a:ea typeface="Microsoft YaHei"/>
                <a:cs typeface="Microsoft YaHei"/>
              </a:rPr>
              <a:t>总资产口径</a:t>
            </a:r>
          </a:p>
        </p:txBody>
      </p:sp>
      <p:sp>
        <p:nvSpPr>
          <p:cNvPr id="10" name="text">
            <a:extLst>
              <a:ext uri="{FF2B5EF4-FFF2-40B4-BE49-F238E27FC236}">
                <a16:creationId xmlns:a16="http://schemas.microsoft.com/office/drawing/2014/main" id="{E4B4741A-EF9F-4EFA-B9E6-823002433487}"/>
              </a:ext>
            </a:extLst>
          </p:cNvPr>
          <p:cNvSpPr>
            <a:spLocks noGrp="1"/>
          </p:cNvSpPr>
          <p:nvPr/>
        </p:nvSpPr>
        <p:spPr>
          <a:xfrm>
            <a:off x="8429625" y="4076700"/>
            <a:ext cx="3105150" cy="5905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l">
              <a:defRPr sz="1800" b="0">
                <a:solidFill>
                  <a:srgbClr val="2867B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2867BF"/>
                </a:solidFill>
                <a:latin typeface="Microsoft YaHei"/>
                <a:ea typeface="Microsoft YaHei"/>
                <a:cs typeface="Microsoft YaHei"/>
              </a:rPr>
              <a:t>1,445,545.00 元</a:t>
            </a:r>
          </a:p>
        </p:txBody>
      </p:sp>
    </p:spTree>
    <p:extLst>
      <p:ext uri="{BB962C8B-B14F-4D97-AF65-F5344CB8AC3E}">
        <p14:creationId xmlns:p14="http://schemas.microsoft.com/office/powerpoint/2010/main" val="1719191527"/>
      </p:ext>
    </p:extLst>
  </p:cSld>
  <p:clrMapOvr>
    <a:masterClrMapping/>
  </p:clrMapOvr>
  <p:transition>
    <p:fade thruBlk="1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6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460"/>
                            </p:stCondLst>
                            <p:childTnLst>
                              <p:par>
                                <p:cTn id="9" presetID="10" presetClass="entr" presetSubtype="0" fill="hold" grpId="0" nodeType="afterEffect">
                                  <p:stCondLst>
                                    <p:cond delay="6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4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920"/>
                            </p:stCondLst>
                            <p:childTnLst>
                              <p:par>
                                <p:cTn id="13" presetID="10" presetClass="entr" presetSubtype="0" fill="hold" nodeType="afterEffect">
                                  <p:stCondLst>
                                    <p:cond delay="6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4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1380"/>
                            </p:stCondLst>
                            <p:childTnLst>
                              <p:par>
                                <p:cTn id="17" presetID="10" presetClass="entr" presetSubtype="0" fill="hold" grpId="0" nodeType="afterEffect">
                                  <p:stCondLst>
                                    <p:cond delay="6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4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1840"/>
                            </p:stCondLst>
                            <p:childTnLst>
                              <p:par>
                                <p:cTn id="21" presetID="10" presetClass="entr" presetSubtype="0" fill="hold" grpId="0" nodeType="afterEffect">
                                  <p:stCondLst>
                                    <p:cond delay="6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4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2300"/>
                            </p:stCondLst>
                            <p:childTnLst>
                              <p:par>
                                <p:cTn id="25" presetID="10" presetClass="entr" presetSubtype="0" fill="hold" grpId="0" nodeType="afterEffect">
                                  <p:stCondLst>
                                    <p:cond delay="6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4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>
                            <p:stCondLst>
                              <p:cond delay="2760"/>
                            </p:stCondLst>
                            <p:childTnLst>
                              <p:par>
                                <p:cTn id="29" presetID="10" presetClass="entr" presetSubtype="0" fill="hold" grpId="0" nodeType="afterEffect">
                                  <p:stCondLst>
                                    <p:cond delay="6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4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2" fill="hold">
                            <p:stCondLst>
                              <p:cond delay="3220"/>
                            </p:stCondLst>
                            <p:childTnLst>
                              <p:par>
                                <p:cTn id="33" presetID="10" presetClass="entr" presetSubtype="0" fill="hold" grpId="0" nodeType="afterEffect">
                                  <p:stCondLst>
                                    <p:cond delay="6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4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6" fill="hold">
                            <p:stCondLst>
                              <p:cond delay="3680"/>
                            </p:stCondLst>
                            <p:childTnLst>
                              <p:par>
                                <p:cTn id="37" presetID="10" presetClass="entr" presetSubtype="0" fill="hold" grpId="0" nodeType="afterEffect">
                                  <p:stCondLst>
                                    <p:cond delay="6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4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0" fill="hold">
                            <p:stCondLst>
                              <p:cond delay="4140"/>
                            </p:stCondLst>
                            <p:childTnLst>
                              <p:par>
                                <p:cTn id="41" presetID="10" presetClass="entr" presetSubtype="0" fill="hold" grpId="0" nodeType="afterEffect">
                                  <p:stCondLst>
                                    <p:cond delay="6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4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/>
      <p:bldP spid="2" grpId="0"/>
      <p:bldP spid="3" grpId="0"/>
      <p:bldP spid="4" grpId="0"/>
      <p:bldP spid="5" grpId="0"/>
      <p:bldP spid="7" grpId="0"/>
      <p:bldP spid="8" grpId="0"/>
      <p:bldP spid="9" grpId="0"/>
      <p:bldP spid="10" grpId="0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slide-title">
            <a:extLst>
              <a:ext uri="{FF2B5EF4-FFF2-40B4-BE49-F238E27FC236}">
                <a16:creationId xmlns:a16="http://schemas.microsoft.com/office/drawing/2014/main" id="{F82799A2-B58A-4F72-9326-6BE137330430}"/>
              </a:ext>
            </a:extLst>
          </p:cNvPr>
          <p:cNvSpPr>
            <a:spLocks noGrp="1"/>
          </p:cNvSpPr>
          <p:nvPr/>
        </p:nvSpPr>
        <p:spPr>
          <a:xfrm>
            <a:off x="609600" y="419100"/>
            <a:ext cx="10972800" cy="6096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l">
              <a:defRPr sz="3000" b="1">
                <a:solidFill>
                  <a:srgbClr val="20344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000" b="1">
                <a:solidFill>
                  <a:srgbClr val="20344F"/>
                </a:solidFill>
                <a:latin typeface="Microsoft YaHei"/>
                <a:ea typeface="Microsoft YaHei"/>
                <a:cs typeface="Microsoft YaHei"/>
              </a:rPr>
              <a:t>实际宏观资料检索字段</a:t>
            </a:r>
          </a:p>
        </p:txBody>
      </p:sp>
      <p:sp>
        <p:nvSpPr>
          <p:cNvPr id="2" name="document-heading">
            <a:extLst>
              <a:ext uri="{FF2B5EF4-FFF2-40B4-BE49-F238E27FC236}">
                <a16:creationId xmlns:a16="http://schemas.microsoft.com/office/drawing/2014/main" id="{8BA6220A-1BB5-4EA7-AE31-56539F67B122}"/>
              </a:ext>
            </a:extLst>
          </p:cNvPr>
          <p:cNvSpPr>
            <a:spLocks noGrp="1"/>
          </p:cNvSpPr>
          <p:nvPr/>
        </p:nvSpPr>
        <p:spPr>
          <a:xfrm>
            <a:off x="609600" y="1085850"/>
            <a:ext cx="10972800" cy="3238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l">
              <a:defRPr sz="1575" b="0">
                <a:solidFill>
                  <a:srgbClr val="566C8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566C83"/>
                </a:solidFill>
                <a:latin typeface="Microsoft YaHei"/>
                <a:ea typeface="Microsoft YaHei"/>
                <a:cs typeface="Microsoft YaHei"/>
              </a:rPr>
              <a:t>5.3.5 专业研究协作 / 当前文档检索实现</a:t>
            </a:r>
          </a:p>
        </p:txBody>
      </p:sp>
      <p:sp>
        <p:nvSpPr>
          <p:cNvPr id="3" name="figure-introduction">
            <a:extLst>
              <a:ext uri="{FF2B5EF4-FFF2-40B4-BE49-F238E27FC236}">
                <a16:creationId xmlns:a16="http://schemas.microsoft.com/office/drawing/2014/main" id="{632FC118-174E-44D2-9B6D-E6632ADA7F8A}"/>
              </a:ext>
            </a:extLst>
          </p:cNvPr>
          <p:cNvSpPr>
            <a:spLocks noGrp="1"/>
          </p:cNvSpPr>
          <p:nvPr/>
        </p:nvSpPr>
        <p:spPr>
          <a:xfrm>
            <a:off x="609600" y="5524500"/>
            <a:ext cx="10972800" cy="8382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l">
              <a:defRPr sz="1725" b="0">
                <a:solidFill>
                  <a:srgbClr val="566C8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566C83"/>
                </a:solidFill>
                <a:latin typeface="Microsoft YaHei"/>
                <a:ea typeface="Microsoft YaHei"/>
                <a:cs typeface="Microsoft YaHei"/>
              </a:rPr>
              <a:t>该图来自实际研究文档检索记录 real-001，展示关键词和语义向量合并后的宏观资料响应。图片保留 RRF、FTS5、原文、来源与 RETRIEVED_UNVERIFIED，配套 JSON 保存查询时间条件及来源地址。</a:t>
            </a:r>
          </a:p>
        </p:txBody>
      </p:sp>
      <p:sp>
        <p:nvSpPr>
          <p:cNvPr id="4" name="footer">
            <a:extLst>
              <a:ext uri="{FF2B5EF4-FFF2-40B4-BE49-F238E27FC236}">
                <a16:creationId xmlns:a16="http://schemas.microsoft.com/office/drawing/2014/main" id="{59AC8AFD-034C-4AD2-925E-819EF194E358}"/>
              </a:ext>
            </a:extLst>
          </p:cNvPr>
          <p:cNvSpPr>
            <a:spLocks noGrp="1"/>
          </p:cNvSpPr>
          <p:nvPr/>
        </p:nvSpPr>
        <p:spPr>
          <a:xfrm>
            <a:off x="609600" y="6477000"/>
            <a:ext cx="9144000" cy="2381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l">
              <a:defRPr sz="1275" b="0">
                <a:solidFill>
                  <a:srgbClr val="566C8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566C83"/>
                </a:solidFill>
                <a:latin typeface="Microsoft YaHei"/>
                <a:ea typeface="Microsoft YaHei"/>
                <a:cs typeface="Microsoft YaHei"/>
              </a:rPr>
              <a:t>Prism · 实际数据与验证</a:t>
            </a:r>
          </a:p>
        </p:txBody>
      </p:sp>
      <p:sp>
        <p:nvSpPr>
          <p:cNvPr id="5" name="page-number">
            <a:extLst>
              <a:ext uri="{FF2B5EF4-FFF2-40B4-BE49-F238E27FC236}">
                <a16:creationId xmlns:a16="http://schemas.microsoft.com/office/drawing/2014/main" id="{6F4E83CB-BEFB-4050-A814-8F954412732F}"/>
              </a:ext>
            </a:extLst>
          </p:cNvPr>
          <p:cNvSpPr>
            <a:spLocks noGrp="1"/>
          </p:cNvSpPr>
          <p:nvPr/>
        </p:nvSpPr>
        <p:spPr>
          <a:xfrm>
            <a:off x="11049000" y="6477000"/>
            <a:ext cx="523875" cy="2381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r">
              <a:defRPr sz="1275" b="0">
                <a:solidFill>
                  <a:srgbClr val="566C8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566C83"/>
                </a:solidFill>
                <a:latin typeface="Microsoft YaHei"/>
                <a:ea typeface="Microsoft YaHei"/>
                <a:cs typeface="Microsoft YaHei"/>
              </a:rPr>
              <a:t>20</a:t>
            </a:r>
          </a:p>
        </p:txBody>
      </p:sp>
      <p:pic>
        <p:nvPicPr>
          <p:cNvPr id="16" name="图片 15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669421" y="1638300"/>
            <a:ext cx="7290807" cy="3676650"/>
          </a:xfrm>
          <a:prstGeom prst="rect">
            <a:avLst/>
          </a:prstGeom>
        </p:spPr>
      </p:pic>
      <p:sp>
        <p:nvSpPr>
          <p:cNvPr id="7" name="text">
            <a:extLst>
              <a:ext uri="{FF2B5EF4-FFF2-40B4-BE49-F238E27FC236}">
                <a16:creationId xmlns:a16="http://schemas.microsoft.com/office/drawing/2014/main" id="{251B11EE-2689-4024-A902-D174CE808C26}"/>
              </a:ext>
            </a:extLst>
          </p:cNvPr>
          <p:cNvSpPr>
            <a:spLocks noGrp="1"/>
          </p:cNvSpPr>
          <p:nvPr/>
        </p:nvSpPr>
        <p:spPr>
          <a:xfrm>
            <a:off x="8429625" y="1962150"/>
            <a:ext cx="3105150" cy="5905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l">
              <a:defRPr sz="2175" b="1">
                <a:solidFill>
                  <a:srgbClr val="20344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1">
                <a:solidFill>
                  <a:srgbClr val="20344F"/>
                </a:solidFill>
                <a:latin typeface="Microsoft YaHei"/>
                <a:ea typeface="Microsoft YaHei"/>
                <a:cs typeface="Microsoft YaHei"/>
              </a:rPr>
              <a:t>检索模式</a:t>
            </a:r>
          </a:p>
        </p:txBody>
      </p:sp>
      <p:sp>
        <p:nvSpPr>
          <p:cNvPr id="8" name="text">
            <a:extLst>
              <a:ext uri="{FF2B5EF4-FFF2-40B4-BE49-F238E27FC236}">
                <a16:creationId xmlns:a16="http://schemas.microsoft.com/office/drawing/2014/main" id="{5529DE28-BD55-409B-AF34-BFF324CFB846}"/>
              </a:ext>
            </a:extLst>
          </p:cNvPr>
          <p:cNvSpPr>
            <a:spLocks noGrp="1"/>
          </p:cNvSpPr>
          <p:nvPr/>
        </p:nvSpPr>
        <p:spPr>
          <a:xfrm>
            <a:off x="8429625" y="2667000"/>
            <a:ext cx="3105150" cy="5905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l">
              <a:defRPr sz="1800" b="0">
                <a:solidFill>
                  <a:srgbClr val="2867B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2867BF"/>
                </a:solidFill>
                <a:latin typeface="Microsoft YaHei"/>
                <a:ea typeface="Microsoft YaHei"/>
                <a:cs typeface="Microsoft YaHei"/>
              </a:rPr>
              <a:t>HYBRID_RRF</a:t>
            </a:r>
          </a:p>
        </p:txBody>
      </p:sp>
      <p:sp>
        <p:nvSpPr>
          <p:cNvPr id="9" name="text">
            <a:extLst>
              <a:ext uri="{FF2B5EF4-FFF2-40B4-BE49-F238E27FC236}">
                <a16:creationId xmlns:a16="http://schemas.microsoft.com/office/drawing/2014/main" id="{2B36C3D9-EADB-4B77-8A6F-158EDE8E234A}"/>
              </a:ext>
            </a:extLst>
          </p:cNvPr>
          <p:cNvSpPr>
            <a:spLocks noGrp="1"/>
          </p:cNvSpPr>
          <p:nvPr/>
        </p:nvSpPr>
        <p:spPr>
          <a:xfrm>
            <a:off x="8429625" y="3371850"/>
            <a:ext cx="3105150" cy="5905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l">
              <a:defRPr sz="2175" b="1">
                <a:solidFill>
                  <a:srgbClr val="20344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1">
                <a:solidFill>
                  <a:srgbClr val="20344F"/>
                </a:solidFill>
                <a:latin typeface="Microsoft YaHei"/>
                <a:ea typeface="Microsoft YaHei"/>
                <a:cs typeface="Microsoft YaHei"/>
              </a:rPr>
              <a:t>片段状态</a:t>
            </a:r>
          </a:p>
        </p:txBody>
      </p:sp>
      <p:sp>
        <p:nvSpPr>
          <p:cNvPr id="10" name="text">
            <a:extLst>
              <a:ext uri="{FF2B5EF4-FFF2-40B4-BE49-F238E27FC236}">
                <a16:creationId xmlns:a16="http://schemas.microsoft.com/office/drawing/2014/main" id="{59C18BAA-772D-4E4B-81F4-FDCC447F1190}"/>
              </a:ext>
            </a:extLst>
          </p:cNvPr>
          <p:cNvSpPr>
            <a:spLocks noGrp="1"/>
          </p:cNvSpPr>
          <p:nvPr/>
        </p:nvSpPr>
        <p:spPr>
          <a:xfrm>
            <a:off x="8429625" y="4076700"/>
            <a:ext cx="3105150" cy="5905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l">
              <a:defRPr sz="1800" b="0">
                <a:solidFill>
                  <a:srgbClr val="2867B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2867BF"/>
                </a:solidFill>
                <a:latin typeface="Microsoft YaHei"/>
                <a:ea typeface="Microsoft YaHei"/>
                <a:cs typeface="Microsoft YaHei"/>
              </a:rPr>
              <a:t>RETRIEVED_UNVERIFIED</a:t>
            </a:r>
          </a:p>
        </p:txBody>
      </p:sp>
    </p:spTree>
    <p:extLst>
      <p:ext uri="{BB962C8B-B14F-4D97-AF65-F5344CB8AC3E}">
        <p14:creationId xmlns:p14="http://schemas.microsoft.com/office/powerpoint/2010/main" val="216270154"/>
      </p:ext>
    </p:extLst>
  </p:cSld>
  <p:clrMapOvr>
    <a:masterClrMapping/>
  </p:clrMapOvr>
  <p:transition>
    <p:fade thruBlk="1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6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460"/>
                            </p:stCondLst>
                            <p:childTnLst>
                              <p:par>
                                <p:cTn id="9" presetID="10" presetClass="entr" presetSubtype="0" fill="hold" grpId="0" nodeType="afterEffect">
                                  <p:stCondLst>
                                    <p:cond delay="6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4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920"/>
                            </p:stCondLst>
                            <p:childTnLst>
                              <p:par>
                                <p:cTn id="13" presetID="10" presetClass="entr" presetSubtype="0" fill="hold" nodeType="afterEffect">
                                  <p:stCondLst>
                                    <p:cond delay="6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4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1380"/>
                            </p:stCondLst>
                            <p:childTnLst>
                              <p:par>
                                <p:cTn id="17" presetID="10" presetClass="entr" presetSubtype="0" fill="hold" grpId="0" nodeType="afterEffect">
                                  <p:stCondLst>
                                    <p:cond delay="6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4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1840"/>
                            </p:stCondLst>
                            <p:childTnLst>
                              <p:par>
                                <p:cTn id="21" presetID="10" presetClass="entr" presetSubtype="0" fill="hold" grpId="0" nodeType="afterEffect">
                                  <p:stCondLst>
                                    <p:cond delay="6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4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2300"/>
                            </p:stCondLst>
                            <p:childTnLst>
                              <p:par>
                                <p:cTn id="25" presetID="10" presetClass="entr" presetSubtype="0" fill="hold" grpId="0" nodeType="afterEffect">
                                  <p:stCondLst>
                                    <p:cond delay="6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4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>
                            <p:stCondLst>
                              <p:cond delay="2760"/>
                            </p:stCondLst>
                            <p:childTnLst>
                              <p:par>
                                <p:cTn id="29" presetID="10" presetClass="entr" presetSubtype="0" fill="hold" grpId="0" nodeType="afterEffect">
                                  <p:stCondLst>
                                    <p:cond delay="6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4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2" fill="hold">
                            <p:stCondLst>
                              <p:cond delay="3220"/>
                            </p:stCondLst>
                            <p:childTnLst>
                              <p:par>
                                <p:cTn id="33" presetID="10" presetClass="entr" presetSubtype="0" fill="hold" grpId="0" nodeType="afterEffect">
                                  <p:stCondLst>
                                    <p:cond delay="6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4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6" fill="hold">
                            <p:stCondLst>
                              <p:cond delay="3680"/>
                            </p:stCondLst>
                            <p:childTnLst>
                              <p:par>
                                <p:cTn id="37" presetID="10" presetClass="entr" presetSubtype="0" fill="hold" grpId="0" nodeType="afterEffect">
                                  <p:stCondLst>
                                    <p:cond delay="6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4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0" fill="hold">
                            <p:stCondLst>
                              <p:cond delay="4140"/>
                            </p:stCondLst>
                            <p:childTnLst>
                              <p:par>
                                <p:cTn id="41" presetID="10" presetClass="entr" presetSubtype="0" fill="hold" grpId="0" nodeType="afterEffect">
                                  <p:stCondLst>
                                    <p:cond delay="6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4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/>
      <p:bldP spid="2" grpId="0"/>
      <p:bldP spid="3" grpId="0"/>
      <p:bldP spid="4" grpId="0"/>
      <p:bldP spid="5" grpId="0"/>
      <p:bldP spid="7" grpId="0"/>
      <p:bldP spid="8" grpId="0"/>
      <p:bldP spid="9" grpId="0"/>
      <p:bldP spid="10" grpId="0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slide-title">
            <a:extLst>
              <a:ext uri="{FF2B5EF4-FFF2-40B4-BE49-F238E27FC236}">
                <a16:creationId xmlns:a16="http://schemas.microsoft.com/office/drawing/2014/main" id="{4279DF5B-F790-468D-9EB9-547D4012AA6B}"/>
              </a:ext>
            </a:extLst>
          </p:cNvPr>
          <p:cNvSpPr>
            <a:spLocks noGrp="1"/>
          </p:cNvSpPr>
          <p:nvPr/>
        </p:nvSpPr>
        <p:spPr>
          <a:xfrm>
            <a:off x="609600" y="419100"/>
            <a:ext cx="10972800" cy="6096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l">
              <a:defRPr sz="3000" b="1">
                <a:solidFill>
                  <a:srgbClr val="20344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000" b="1">
                <a:solidFill>
                  <a:srgbClr val="20344F"/>
                </a:solidFill>
                <a:latin typeface="Microsoft YaHei"/>
                <a:ea typeface="Microsoft YaHei"/>
                <a:cs typeface="Microsoft YaHei"/>
              </a:rPr>
              <a:t>实际银行财报检索字段</a:t>
            </a:r>
          </a:p>
        </p:txBody>
      </p:sp>
      <p:sp>
        <p:nvSpPr>
          <p:cNvPr id="2" name="document-heading">
            <a:extLst>
              <a:ext uri="{FF2B5EF4-FFF2-40B4-BE49-F238E27FC236}">
                <a16:creationId xmlns:a16="http://schemas.microsoft.com/office/drawing/2014/main" id="{3C433569-1F46-4F7D-8054-872E5F947F08}"/>
              </a:ext>
            </a:extLst>
          </p:cNvPr>
          <p:cNvSpPr>
            <a:spLocks noGrp="1"/>
          </p:cNvSpPr>
          <p:nvPr/>
        </p:nvSpPr>
        <p:spPr>
          <a:xfrm>
            <a:off x="609600" y="1085850"/>
            <a:ext cx="10972800" cy="3238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l">
              <a:defRPr sz="1575" b="0">
                <a:solidFill>
                  <a:srgbClr val="566C8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566C83"/>
                </a:solidFill>
                <a:latin typeface="Microsoft YaHei"/>
                <a:ea typeface="Microsoft YaHei"/>
                <a:cs typeface="Microsoft YaHei"/>
              </a:rPr>
              <a:t>5.3.5 专业研究协作 / 当前文档检索实现</a:t>
            </a:r>
          </a:p>
        </p:txBody>
      </p:sp>
      <p:sp>
        <p:nvSpPr>
          <p:cNvPr id="3" name="figure-introduction">
            <a:extLst>
              <a:ext uri="{FF2B5EF4-FFF2-40B4-BE49-F238E27FC236}">
                <a16:creationId xmlns:a16="http://schemas.microsoft.com/office/drawing/2014/main" id="{CD5497F6-91A1-43AC-9D7F-FFDCF2620562}"/>
              </a:ext>
            </a:extLst>
          </p:cNvPr>
          <p:cNvSpPr>
            <a:spLocks noGrp="1"/>
          </p:cNvSpPr>
          <p:nvPr/>
        </p:nvSpPr>
        <p:spPr>
          <a:xfrm>
            <a:off x="609600" y="5524500"/>
            <a:ext cx="10972800" cy="8382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l">
              <a:defRPr sz="1725" b="0">
                <a:solidFill>
                  <a:srgbClr val="566C8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566C83"/>
                </a:solidFill>
                <a:latin typeface="Microsoft YaHei"/>
                <a:ea typeface="Microsoft YaHei"/>
                <a:cs typeface="Microsoft YaHei"/>
              </a:rPr>
              <a:t>该图来自实际研究文档检索记录 real-017，展示工商银行 2024 年报中的净利息收入与营业收入片段。金额单位沿用原文的 RMB millions，图片保留发布时间、期间和检索状态，配套 JSON 保存来源地址。</a:t>
            </a:r>
          </a:p>
        </p:txBody>
      </p:sp>
      <p:sp>
        <p:nvSpPr>
          <p:cNvPr id="4" name="footer">
            <a:extLst>
              <a:ext uri="{FF2B5EF4-FFF2-40B4-BE49-F238E27FC236}">
                <a16:creationId xmlns:a16="http://schemas.microsoft.com/office/drawing/2014/main" id="{061DCAFF-256B-489B-A780-E716D63E25DA}"/>
              </a:ext>
            </a:extLst>
          </p:cNvPr>
          <p:cNvSpPr>
            <a:spLocks noGrp="1"/>
          </p:cNvSpPr>
          <p:nvPr/>
        </p:nvSpPr>
        <p:spPr>
          <a:xfrm>
            <a:off x="609600" y="6477000"/>
            <a:ext cx="9144000" cy="2381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l">
              <a:defRPr sz="1275" b="0">
                <a:solidFill>
                  <a:srgbClr val="566C8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566C83"/>
                </a:solidFill>
                <a:latin typeface="Microsoft YaHei"/>
                <a:ea typeface="Microsoft YaHei"/>
                <a:cs typeface="Microsoft YaHei"/>
              </a:rPr>
              <a:t>Prism · 实际数据与验证</a:t>
            </a:r>
          </a:p>
        </p:txBody>
      </p:sp>
      <p:sp>
        <p:nvSpPr>
          <p:cNvPr id="5" name="page-number">
            <a:extLst>
              <a:ext uri="{FF2B5EF4-FFF2-40B4-BE49-F238E27FC236}">
                <a16:creationId xmlns:a16="http://schemas.microsoft.com/office/drawing/2014/main" id="{F9F4FD2A-5A1F-4BDE-95F4-B2C2F34B3D82}"/>
              </a:ext>
            </a:extLst>
          </p:cNvPr>
          <p:cNvSpPr>
            <a:spLocks noGrp="1"/>
          </p:cNvSpPr>
          <p:nvPr/>
        </p:nvSpPr>
        <p:spPr>
          <a:xfrm>
            <a:off x="11049000" y="6477000"/>
            <a:ext cx="523875" cy="2381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r">
              <a:defRPr sz="1275" b="0">
                <a:solidFill>
                  <a:srgbClr val="566C8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566C83"/>
                </a:solidFill>
                <a:latin typeface="Microsoft YaHei"/>
                <a:ea typeface="Microsoft YaHei"/>
                <a:cs typeface="Microsoft YaHei"/>
              </a:rPr>
              <a:t>21</a:t>
            </a:r>
          </a:p>
        </p:txBody>
      </p:sp>
      <p:pic>
        <p:nvPicPr>
          <p:cNvPr id="16" name="图片 15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669421" y="1638300"/>
            <a:ext cx="7290807" cy="3676650"/>
          </a:xfrm>
          <a:prstGeom prst="rect">
            <a:avLst/>
          </a:prstGeom>
        </p:spPr>
      </p:pic>
      <p:sp>
        <p:nvSpPr>
          <p:cNvPr id="7" name="text">
            <a:extLst>
              <a:ext uri="{FF2B5EF4-FFF2-40B4-BE49-F238E27FC236}">
                <a16:creationId xmlns:a16="http://schemas.microsoft.com/office/drawing/2014/main" id="{C9295C8E-4031-4923-A9E2-3DA6A09E9364}"/>
              </a:ext>
            </a:extLst>
          </p:cNvPr>
          <p:cNvSpPr>
            <a:spLocks noGrp="1"/>
          </p:cNvSpPr>
          <p:nvPr/>
        </p:nvSpPr>
        <p:spPr>
          <a:xfrm>
            <a:off x="8429625" y="1962150"/>
            <a:ext cx="3105150" cy="5905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l">
              <a:defRPr sz="2175" b="1">
                <a:solidFill>
                  <a:srgbClr val="20344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1">
                <a:solidFill>
                  <a:srgbClr val="20344F"/>
                </a:solidFill>
                <a:latin typeface="Microsoft YaHei"/>
                <a:ea typeface="Microsoft YaHei"/>
                <a:cs typeface="Microsoft YaHei"/>
              </a:rPr>
              <a:t>检索模式</a:t>
            </a:r>
          </a:p>
        </p:txBody>
      </p:sp>
      <p:sp>
        <p:nvSpPr>
          <p:cNvPr id="8" name="text">
            <a:extLst>
              <a:ext uri="{FF2B5EF4-FFF2-40B4-BE49-F238E27FC236}">
                <a16:creationId xmlns:a16="http://schemas.microsoft.com/office/drawing/2014/main" id="{F3F7773E-5ACA-4B55-A694-99F0E7C5F1AF}"/>
              </a:ext>
            </a:extLst>
          </p:cNvPr>
          <p:cNvSpPr>
            <a:spLocks noGrp="1"/>
          </p:cNvSpPr>
          <p:nvPr/>
        </p:nvSpPr>
        <p:spPr>
          <a:xfrm>
            <a:off x="8429625" y="2667000"/>
            <a:ext cx="3105150" cy="5905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l">
              <a:defRPr sz="1800" b="0">
                <a:solidFill>
                  <a:srgbClr val="2867B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2867BF"/>
                </a:solidFill>
                <a:latin typeface="Microsoft YaHei"/>
                <a:ea typeface="Microsoft YaHei"/>
                <a:cs typeface="Microsoft YaHei"/>
              </a:rPr>
              <a:t>HYBRID_RRF</a:t>
            </a:r>
          </a:p>
        </p:txBody>
      </p:sp>
      <p:sp>
        <p:nvSpPr>
          <p:cNvPr id="9" name="text">
            <a:extLst>
              <a:ext uri="{FF2B5EF4-FFF2-40B4-BE49-F238E27FC236}">
                <a16:creationId xmlns:a16="http://schemas.microsoft.com/office/drawing/2014/main" id="{CD1FBD75-8D8B-4552-B1E0-0141EC4AB229}"/>
              </a:ext>
            </a:extLst>
          </p:cNvPr>
          <p:cNvSpPr>
            <a:spLocks noGrp="1"/>
          </p:cNvSpPr>
          <p:nvPr/>
        </p:nvSpPr>
        <p:spPr>
          <a:xfrm>
            <a:off x="8429625" y="3371850"/>
            <a:ext cx="3105150" cy="5905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l">
              <a:defRPr sz="2175" b="1">
                <a:solidFill>
                  <a:srgbClr val="20344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1">
                <a:solidFill>
                  <a:srgbClr val="20344F"/>
                </a:solidFill>
                <a:latin typeface="Microsoft YaHei"/>
                <a:ea typeface="Microsoft YaHei"/>
                <a:cs typeface="Microsoft YaHei"/>
              </a:rPr>
              <a:t>片段状态</a:t>
            </a:r>
          </a:p>
        </p:txBody>
      </p:sp>
      <p:sp>
        <p:nvSpPr>
          <p:cNvPr id="10" name="text">
            <a:extLst>
              <a:ext uri="{FF2B5EF4-FFF2-40B4-BE49-F238E27FC236}">
                <a16:creationId xmlns:a16="http://schemas.microsoft.com/office/drawing/2014/main" id="{387BE126-1C5C-43B8-8246-AF4CA7659A85}"/>
              </a:ext>
            </a:extLst>
          </p:cNvPr>
          <p:cNvSpPr>
            <a:spLocks noGrp="1"/>
          </p:cNvSpPr>
          <p:nvPr/>
        </p:nvSpPr>
        <p:spPr>
          <a:xfrm>
            <a:off x="8429625" y="4076700"/>
            <a:ext cx="3105150" cy="5905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l">
              <a:defRPr sz="1800" b="0">
                <a:solidFill>
                  <a:srgbClr val="2867B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2867BF"/>
                </a:solidFill>
                <a:latin typeface="Microsoft YaHei"/>
                <a:ea typeface="Microsoft YaHei"/>
                <a:cs typeface="Microsoft YaHei"/>
              </a:rPr>
              <a:t>RETRIEVED_UNVERIFIED</a:t>
            </a:r>
          </a:p>
        </p:txBody>
      </p:sp>
    </p:spTree>
    <p:extLst>
      <p:ext uri="{BB962C8B-B14F-4D97-AF65-F5344CB8AC3E}">
        <p14:creationId xmlns:p14="http://schemas.microsoft.com/office/powerpoint/2010/main" val="1731098394"/>
      </p:ext>
    </p:extLst>
  </p:cSld>
  <p:clrMapOvr>
    <a:masterClrMapping/>
  </p:clrMapOvr>
  <p:transition>
    <p:fade thruBlk="1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6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460"/>
                            </p:stCondLst>
                            <p:childTnLst>
                              <p:par>
                                <p:cTn id="9" presetID="10" presetClass="entr" presetSubtype="0" fill="hold" grpId="0" nodeType="afterEffect">
                                  <p:stCondLst>
                                    <p:cond delay="6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4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920"/>
                            </p:stCondLst>
                            <p:childTnLst>
                              <p:par>
                                <p:cTn id="13" presetID="10" presetClass="entr" presetSubtype="0" fill="hold" nodeType="afterEffect">
                                  <p:stCondLst>
                                    <p:cond delay="6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4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1380"/>
                            </p:stCondLst>
                            <p:childTnLst>
                              <p:par>
                                <p:cTn id="17" presetID="10" presetClass="entr" presetSubtype="0" fill="hold" grpId="0" nodeType="afterEffect">
                                  <p:stCondLst>
                                    <p:cond delay="6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4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1840"/>
                            </p:stCondLst>
                            <p:childTnLst>
                              <p:par>
                                <p:cTn id="21" presetID="10" presetClass="entr" presetSubtype="0" fill="hold" grpId="0" nodeType="afterEffect">
                                  <p:stCondLst>
                                    <p:cond delay="6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4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2300"/>
                            </p:stCondLst>
                            <p:childTnLst>
                              <p:par>
                                <p:cTn id="25" presetID="10" presetClass="entr" presetSubtype="0" fill="hold" grpId="0" nodeType="afterEffect">
                                  <p:stCondLst>
                                    <p:cond delay="6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4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>
                            <p:stCondLst>
                              <p:cond delay="2760"/>
                            </p:stCondLst>
                            <p:childTnLst>
                              <p:par>
                                <p:cTn id="29" presetID="10" presetClass="entr" presetSubtype="0" fill="hold" grpId="0" nodeType="afterEffect">
                                  <p:stCondLst>
                                    <p:cond delay="6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4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2" fill="hold">
                            <p:stCondLst>
                              <p:cond delay="3220"/>
                            </p:stCondLst>
                            <p:childTnLst>
                              <p:par>
                                <p:cTn id="33" presetID="10" presetClass="entr" presetSubtype="0" fill="hold" grpId="0" nodeType="afterEffect">
                                  <p:stCondLst>
                                    <p:cond delay="6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4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6" fill="hold">
                            <p:stCondLst>
                              <p:cond delay="3680"/>
                            </p:stCondLst>
                            <p:childTnLst>
                              <p:par>
                                <p:cTn id="37" presetID="10" presetClass="entr" presetSubtype="0" fill="hold" grpId="0" nodeType="afterEffect">
                                  <p:stCondLst>
                                    <p:cond delay="6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4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0" fill="hold">
                            <p:stCondLst>
                              <p:cond delay="4140"/>
                            </p:stCondLst>
                            <p:childTnLst>
                              <p:par>
                                <p:cTn id="41" presetID="10" presetClass="entr" presetSubtype="0" fill="hold" grpId="0" nodeType="afterEffect">
                                  <p:stCondLst>
                                    <p:cond delay="6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4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/>
      <p:bldP spid="2" grpId="0"/>
      <p:bldP spid="3" grpId="0"/>
      <p:bldP spid="4" grpId="0"/>
      <p:bldP spid="5" grpId="0"/>
      <p:bldP spid="7" grpId="0"/>
      <p:bldP spid="8" grpId="0"/>
      <p:bldP spid="9" grpId="0"/>
      <p:bldP spid="10" grpId="0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slide-title">
            <a:extLst>
              <a:ext uri="{FF2B5EF4-FFF2-40B4-BE49-F238E27FC236}">
                <a16:creationId xmlns:a16="http://schemas.microsoft.com/office/drawing/2014/main" id="{C4A527A0-3E43-4483-A2FA-6524EED0A464}"/>
              </a:ext>
            </a:extLst>
          </p:cNvPr>
          <p:cNvSpPr>
            <a:spLocks noGrp="1"/>
          </p:cNvSpPr>
          <p:nvPr/>
        </p:nvSpPr>
        <p:spPr>
          <a:xfrm>
            <a:off x="609600" y="419100"/>
            <a:ext cx="10972800" cy="6096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l">
              <a:defRPr sz="3000" b="1">
                <a:solidFill>
                  <a:srgbClr val="20344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000" b="1">
                <a:solidFill>
                  <a:srgbClr val="20344F"/>
                </a:solidFill>
                <a:latin typeface="Microsoft YaHei"/>
                <a:ea typeface="Microsoft YaHei"/>
                <a:cs typeface="Microsoft YaHei"/>
              </a:rPr>
              <a:t>正式报告的金额与风险复算</a:t>
            </a:r>
          </a:p>
        </p:txBody>
      </p:sp>
      <p:sp>
        <p:nvSpPr>
          <p:cNvPr id="2" name="document-heading">
            <a:extLst>
              <a:ext uri="{FF2B5EF4-FFF2-40B4-BE49-F238E27FC236}">
                <a16:creationId xmlns:a16="http://schemas.microsoft.com/office/drawing/2014/main" id="{194B3911-787C-4448-9F05-9458924B504D}"/>
              </a:ext>
            </a:extLst>
          </p:cNvPr>
          <p:cNvSpPr>
            <a:spLocks noGrp="1"/>
          </p:cNvSpPr>
          <p:nvPr/>
        </p:nvSpPr>
        <p:spPr>
          <a:xfrm>
            <a:off x="609600" y="1085850"/>
            <a:ext cx="10972800" cy="3238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l">
              <a:defRPr sz="1575" b="0">
                <a:solidFill>
                  <a:srgbClr val="566C8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566C83"/>
                </a:solidFill>
                <a:latin typeface="Microsoft YaHei"/>
                <a:ea typeface="Microsoft YaHei"/>
                <a:cs typeface="Microsoft YaHei"/>
              </a:rPr>
              <a:t>7.1 正式组合报告案例</a:t>
            </a:r>
          </a:p>
        </p:txBody>
      </p:sp>
      <p:sp>
        <p:nvSpPr>
          <p:cNvPr id="3" name="figure-introduction">
            <a:extLst>
              <a:ext uri="{FF2B5EF4-FFF2-40B4-BE49-F238E27FC236}">
                <a16:creationId xmlns:a16="http://schemas.microsoft.com/office/drawing/2014/main" id="{2EE3BB5A-8032-4989-992E-88F87BC9C81C}"/>
              </a:ext>
            </a:extLst>
          </p:cNvPr>
          <p:cNvSpPr>
            <a:spLocks noGrp="1"/>
          </p:cNvSpPr>
          <p:nvPr/>
        </p:nvSpPr>
        <p:spPr>
          <a:xfrm>
            <a:off x="609600" y="5524500"/>
            <a:ext cx="10972800" cy="8382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l">
              <a:defRPr sz="1725" b="0">
                <a:solidFill>
                  <a:srgbClr val="566C8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566C83"/>
                </a:solidFill>
                <a:latin typeface="Microsoft YaHei"/>
                <a:ea typeface="Microsoft YaHei"/>
                <a:cs typeface="Microsoft YaHei"/>
              </a:rPr>
              <a:t>金额与风险来自同一份历史正式报告。证券市值加现金等于总资产；最大资产按含现金总资产口径占 52.83%，超过成长型 50% 上限，现金占 1.94%，报告整体要求复核。</a:t>
            </a:r>
          </a:p>
        </p:txBody>
      </p:sp>
      <p:sp>
        <p:nvSpPr>
          <p:cNvPr id="4" name="footer">
            <a:extLst>
              <a:ext uri="{FF2B5EF4-FFF2-40B4-BE49-F238E27FC236}">
                <a16:creationId xmlns:a16="http://schemas.microsoft.com/office/drawing/2014/main" id="{53F4D97C-2984-4C83-9366-07F6F80F6773}"/>
              </a:ext>
            </a:extLst>
          </p:cNvPr>
          <p:cNvSpPr>
            <a:spLocks noGrp="1"/>
          </p:cNvSpPr>
          <p:nvPr/>
        </p:nvSpPr>
        <p:spPr>
          <a:xfrm>
            <a:off x="609600" y="6477000"/>
            <a:ext cx="9144000" cy="2381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l">
              <a:defRPr sz="1275" b="0">
                <a:solidFill>
                  <a:srgbClr val="566C8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566C83"/>
                </a:solidFill>
                <a:latin typeface="Microsoft YaHei"/>
                <a:ea typeface="Microsoft YaHei"/>
                <a:cs typeface="Microsoft YaHei"/>
              </a:rPr>
              <a:t>Prism · 实际数据与验证</a:t>
            </a:r>
          </a:p>
        </p:txBody>
      </p:sp>
      <p:sp>
        <p:nvSpPr>
          <p:cNvPr id="5" name="page-number">
            <a:extLst>
              <a:ext uri="{FF2B5EF4-FFF2-40B4-BE49-F238E27FC236}">
                <a16:creationId xmlns:a16="http://schemas.microsoft.com/office/drawing/2014/main" id="{CCC8C60C-D00E-4236-976A-44BC7E33AE32}"/>
              </a:ext>
            </a:extLst>
          </p:cNvPr>
          <p:cNvSpPr>
            <a:spLocks noGrp="1"/>
          </p:cNvSpPr>
          <p:nvPr/>
        </p:nvSpPr>
        <p:spPr>
          <a:xfrm>
            <a:off x="11049000" y="6477000"/>
            <a:ext cx="523875" cy="2381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r">
              <a:defRPr sz="1275" b="0">
                <a:solidFill>
                  <a:srgbClr val="566C8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566C83"/>
                </a:solidFill>
                <a:latin typeface="Microsoft YaHei"/>
                <a:ea typeface="Microsoft YaHei"/>
                <a:cs typeface="Microsoft YaHei"/>
              </a:rPr>
              <a:t>22</a:t>
            </a:r>
          </a:p>
        </p:txBody>
      </p:sp>
      <p:graphicFrame>
        <p:nvGraphicFramePr>
          <p:cNvPr id="12" name="表格 11"/>
          <p:cNvGraphicFramePr/>
          <p:nvPr/>
        </p:nvGraphicFramePr>
        <p:xfrm>
          <a:off x="609600" y="1743075"/>
          <a:ext cx="10972800" cy="3429000"/>
        </p:xfrm>
        <a:graphic>
          <a:graphicData uri="http://schemas.openxmlformats.org/drawingml/2006/table">
            <a:tbl>
              <a:tblPr/>
              <a:tblGrid>
                <a:gridCol w="28575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048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7622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30505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571500"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20344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项目</a:t>
                      </a:r>
                    </a:p>
                  </a:txBody>
                  <a:tcPr>
                    <a:solidFill>
                      <a:srgbClr val="E7E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20344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金额或观察值</a:t>
                      </a:r>
                    </a:p>
                  </a:txBody>
                  <a:tcPr>
                    <a:solidFill>
                      <a:srgbClr val="E7E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20344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比较条件</a:t>
                      </a:r>
                    </a:p>
                  </a:txBody>
                  <a:tcPr>
                    <a:solidFill>
                      <a:srgbClr val="E7E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20344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报告结果</a:t>
                      </a:r>
                    </a:p>
                  </a:txBody>
                  <a:tcPr>
                    <a:solidFill>
                      <a:srgbClr val="E7E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71500"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20344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证券市值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20344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1417545.00 元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20344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五个证券持仓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20344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CALCULATED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71500"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20344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现金</a:t>
                      </a:r>
                    </a:p>
                  </a:txBody>
                  <a:tcPr>
                    <a:solidFill>
                      <a:srgbClr val="F6F8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20344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28000.00 元</a:t>
                      </a:r>
                    </a:p>
                  </a:txBody>
                  <a:tcPr>
                    <a:solidFill>
                      <a:srgbClr val="F6F8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20344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占总资产 1.94%</a:t>
                      </a:r>
                    </a:p>
                  </a:txBody>
                  <a:tcPr>
                    <a:solidFill>
                      <a:srgbClr val="F6F8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20344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OVERBOUND</a:t>
                      </a:r>
                    </a:p>
                  </a:txBody>
                  <a:tcPr>
                    <a:solidFill>
                      <a:srgbClr val="F6F8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71500"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20344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总资产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20344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1445545.00 元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20344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证券 + 现金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20344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CALCULATED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71500"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20344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最大资产比例</a:t>
                      </a:r>
                    </a:p>
                  </a:txBody>
                  <a:tcPr>
                    <a:solidFill>
                      <a:srgbClr val="F6F8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20344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52.83%</a:t>
                      </a:r>
                    </a:p>
                  </a:txBody>
                  <a:tcPr>
                    <a:solidFill>
                      <a:srgbClr val="F6F8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20344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成长型上限 50%</a:t>
                      </a:r>
                    </a:p>
                  </a:txBody>
                  <a:tcPr>
                    <a:solidFill>
                      <a:srgbClr val="F6F8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20344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OVERBOUND</a:t>
                      </a:r>
                    </a:p>
                  </a:txBody>
                  <a:tcPr>
                    <a:solidFill>
                      <a:srgbClr val="F6F8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71500"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20344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证券资产 HHI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20344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3692.96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20344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证券市值分母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20344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CALCULATED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795785352"/>
      </p:ext>
    </p:extLst>
  </p:cSld>
  <p:clrMapOvr>
    <a:masterClrMapping/>
  </p:clrMapOvr>
  <p:transition>
    <p:fade thruBlk="1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6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460"/>
                            </p:stCondLst>
                            <p:childTnLst>
                              <p:par>
                                <p:cTn id="9" presetID="10" presetClass="entr" presetSubtype="0" fill="hold" grpId="0" nodeType="afterEffect">
                                  <p:stCondLst>
                                    <p:cond delay="6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4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920"/>
                            </p:stCondLst>
                            <p:childTnLst>
                              <p:par>
                                <p:cTn id="13" presetID="10" presetClass="entr" presetSubtype="0" fill="hold" nodeType="afterEffect">
                                  <p:stCondLst>
                                    <p:cond delay="6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4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1380"/>
                            </p:stCondLst>
                            <p:childTnLst>
                              <p:par>
                                <p:cTn id="17" presetID="10" presetClass="entr" presetSubtype="0" fill="hold" grpId="0" nodeType="afterEffect">
                                  <p:stCondLst>
                                    <p:cond delay="6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4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1840"/>
                            </p:stCondLst>
                            <p:childTnLst>
                              <p:par>
                                <p:cTn id="21" presetID="10" presetClass="entr" presetSubtype="0" fill="hold" grpId="0" nodeType="afterEffect">
                                  <p:stCondLst>
                                    <p:cond delay="6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4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2300"/>
                            </p:stCondLst>
                            <p:childTnLst>
                              <p:par>
                                <p:cTn id="25" presetID="10" presetClass="entr" presetSubtype="0" fill="hold" grpId="0" nodeType="afterEffect">
                                  <p:stCondLst>
                                    <p:cond delay="6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4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  <p:bldP spid="2" grpId="0"/>
      <p:bldP spid="3" grpId="0"/>
      <p:bldP spid="4" grpId="0"/>
      <p:bldP spid="5" grpId="0"/>
    </p:bld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slide-title">
            <a:extLst>
              <a:ext uri="{FF2B5EF4-FFF2-40B4-BE49-F238E27FC236}">
                <a16:creationId xmlns:a16="http://schemas.microsoft.com/office/drawing/2014/main" id="{EC00555D-4519-446C-AC1C-EE932D61CFAD}"/>
              </a:ext>
            </a:extLst>
          </p:cNvPr>
          <p:cNvSpPr>
            <a:spLocks noGrp="1"/>
          </p:cNvSpPr>
          <p:nvPr/>
        </p:nvSpPr>
        <p:spPr>
          <a:xfrm>
            <a:off x="609600" y="419100"/>
            <a:ext cx="10972800" cy="6096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l">
              <a:defRPr sz="3000" b="1">
                <a:solidFill>
                  <a:srgbClr val="20344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000" b="1">
                <a:solidFill>
                  <a:srgbClr val="20344F"/>
                </a:solidFill>
                <a:latin typeface="Microsoft YaHei"/>
                <a:ea typeface="Microsoft YaHei"/>
                <a:cs typeface="Microsoft YaHei"/>
              </a:rPr>
              <a:t>专业研究的检索与计算支持</a:t>
            </a:r>
          </a:p>
        </p:txBody>
      </p:sp>
      <p:sp>
        <p:nvSpPr>
          <p:cNvPr id="2" name="document-heading">
            <a:extLst>
              <a:ext uri="{FF2B5EF4-FFF2-40B4-BE49-F238E27FC236}">
                <a16:creationId xmlns:a16="http://schemas.microsoft.com/office/drawing/2014/main" id="{5E9DC40F-2CD4-4482-B95C-0B6848EB0531}"/>
              </a:ext>
            </a:extLst>
          </p:cNvPr>
          <p:cNvSpPr>
            <a:spLocks noGrp="1"/>
          </p:cNvSpPr>
          <p:nvPr/>
        </p:nvSpPr>
        <p:spPr>
          <a:xfrm>
            <a:off x="609600" y="1085850"/>
            <a:ext cx="10972800" cy="3238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l">
              <a:defRPr sz="1575" b="0">
                <a:solidFill>
                  <a:srgbClr val="566C8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566C83"/>
                </a:solidFill>
                <a:latin typeface="Microsoft YaHei"/>
                <a:ea typeface="Microsoft YaHei"/>
                <a:cs typeface="Microsoft YaHei"/>
              </a:rPr>
              <a:t>5.3.5 关联支持技术 / 当前实现补充</a:t>
            </a:r>
          </a:p>
        </p:txBody>
      </p:sp>
      <p:sp>
        <p:nvSpPr>
          <p:cNvPr id="3" name="figure-introduction">
            <a:extLst>
              <a:ext uri="{FF2B5EF4-FFF2-40B4-BE49-F238E27FC236}">
                <a16:creationId xmlns:a16="http://schemas.microsoft.com/office/drawing/2014/main" id="{FAD2363A-6A36-4DAB-A220-256695F4E328}"/>
              </a:ext>
            </a:extLst>
          </p:cNvPr>
          <p:cNvSpPr>
            <a:spLocks noGrp="1"/>
          </p:cNvSpPr>
          <p:nvPr/>
        </p:nvSpPr>
        <p:spPr>
          <a:xfrm>
            <a:off x="609600" y="5524500"/>
            <a:ext cx="10972800" cy="8382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l">
              <a:defRPr sz="1725" b="0">
                <a:solidFill>
                  <a:srgbClr val="566C8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566C83"/>
                </a:solidFill>
                <a:latin typeface="Microsoft YaHei"/>
                <a:ea typeface="Microsoft YaHei"/>
                <a:cs typeface="Microsoft YaHei"/>
              </a:rPr>
              <a:t>当前专业研究还使用 PDF 提取、关键词检索、语义向量和 RRF，以及时间序列计算模块。向量模型与 HMM 属于可选能力，运行依赖本地模型或相应库、输入质量和数据时间条件。</a:t>
            </a:r>
          </a:p>
        </p:txBody>
      </p:sp>
      <p:sp>
        <p:nvSpPr>
          <p:cNvPr id="4" name="footer">
            <a:extLst>
              <a:ext uri="{FF2B5EF4-FFF2-40B4-BE49-F238E27FC236}">
                <a16:creationId xmlns:a16="http://schemas.microsoft.com/office/drawing/2014/main" id="{C6FFD959-2BB8-4976-8CDA-4EEC106D4029}"/>
              </a:ext>
            </a:extLst>
          </p:cNvPr>
          <p:cNvSpPr>
            <a:spLocks noGrp="1"/>
          </p:cNvSpPr>
          <p:nvPr/>
        </p:nvSpPr>
        <p:spPr>
          <a:xfrm>
            <a:off x="609600" y="6477000"/>
            <a:ext cx="9144000" cy="2381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l">
              <a:defRPr sz="1275" b="0">
                <a:solidFill>
                  <a:srgbClr val="566C8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566C83"/>
                </a:solidFill>
                <a:latin typeface="Microsoft YaHei"/>
                <a:ea typeface="Microsoft YaHei"/>
                <a:cs typeface="Microsoft YaHei"/>
              </a:rPr>
              <a:t>Prism · 实际数据与验证</a:t>
            </a:r>
          </a:p>
        </p:txBody>
      </p:sp>
      <p:sp>
        <p:nvSpPr>
          <p:cNvPr id="5" name="page-number">
            <a:extLst>
              <a:ext uri="{FF2B5EF4-FFF2-40B4-BE49-F238E27FC236}">
                <a16:creationId xmlns:a16="http://schemas.microsoft.com/office/drawing/2014/main" id="{352CB8EB-21BC-4F01-BA67-FF65FCD3F580}"/>
              </a:ext>
            </a:extLst>
          </p:cNvPr>
          <p:cNvSpPr>
            <a:spLocks noGrp="1"/>
          </p:cNvSpPr>
          <p:nvPr/>
        </p:nvSpPr>
        <p:spPr>
          <a:xfrm>
            <a:off x="11049000" y="6477000"/>
            <a:ext cx="523875" cy="2381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r">
              <a:defRPr sz="1275" b="0">
                <a:solidFill>
                  <a:srgbClr val="566C8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566C83"/>
                </a:solidFill>
                <a:latin typeface="Microsoft YaHei"/>
                <a:ea typeface="Microsoft YaHei"/>
                <a:cs typeface="Microsoft YaHei"/>
              </a:rPr>
              <a:t>23</a:t>
            </a:r>
          </a:p>
        </p:txBody>
      </p:sp>
      <p:sp>
        <p:nvSpPr>
          <p:cNvPr id="6" name="diagram-node">
            <a:extLst>
              <a:ext uri="{FF2B5EF4-FFF2-40B4-BE49-F238E27FC236}">
                <a16:creationId xmlns:a16="http://schemas.microsoft.com/office/drawing/2014/main" id="{9FEEBE4A-115E-43DD-BF37-ECB36750EF7E}"/>
              </a:ext>
            </a:extLst>
          </p:cNvPr>
          <p:cNvSpPr>
            <a:spLocks noGrp="1"/>
          </p:cNvSpPr>
          <p:nvPr/>
        </p:nvSpPr>
        <p:spPr>
          <a:xfrm>
            <a:off x="609600" y="1885950"/>
            <a:ext cx="2550319" cy="1047750"/>
          </a:xfrm>
          <a:prstGeom prst="roundRect">
            <a:avLst>
              <a:gd name="adj" fmla="val 9091"/>
            </a:avLst>
          </a:prstGeom>
          <a:solidFill>
            <a:srgbClr val="EEE9F9"/>
          </a:solidFill>
          <a:ln w="11430">
            <a:solidFill>
              <a:srgbClr val="BBCBDE"/>
            </a:solidFill>
          </a:ln>
        </p:spPr>
        <p:txBody>
          <a:bodyPr lIns="95250" tIns="76200" rIns="95250" bIns="76200" anchor="ctr">
            <a:noAutofit/>
          </a:bodyPr>
          <a:lstStyle/>
          <a:p>
            <a:pPr algn="ctr">
              <a:defRPr sz="1950">
                <a:solidFill>
                  <a:srgbClr val="20344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>
                <a:solidFill>
                  <a:srgbClr val="20344F"/>
                </a:solidFill>
                <a:latin typeface="Microsoft YaHei"/>
                <a:ea typeface="Microsoft YaHei"/>
                <a:cs typeface="Microsoft YaHei"/>
              </a:rPr>
              <a:t>PDF / 研究资料</a:t>
            </a:r>
          </a:p>
          <a:p>
            <a:pPr algn="ctr">
              <a:defRPr sz="1950">
                <a:solidFill>
                  <a:srgbClr val="20344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>
                <a:solidFill>
                  <a:srgbClr val="20344F"/>
                </a:solidFill>
                <a:latin typeface="Microsoft YaHei"/>
                <a:ea typeface="Microsoft YaHei"/>
                <a:cs typeface="Microsoft YaHei"/>
              </a:rPr>
              <a:t>pypdf</a:t>
            </a:r>
          </a:p>
        </p:txBody>
      </p:sp>
      <p:sp>
        <p:nvSpPr>
          <p:cNvPr id="7" name="diagram-node">
            <a:extLst>
              <a:ext uri="{FF2B5EF4-FFF2-40B4-BE49-F238E27FC236}">
                <a16:creationId xmlns:a16="http://schemas.microsoft.com/office/drawing/2014/main" id="{7CA884F4-A64D-4C6B-92E2-2C2A7C8CB87D}"/>
              </a:ext>
            </a:extLst>
          </p:cNvPr>
          <p:cNvSpPr>
            <a:spLocks noGrp="1"/>
          </p:cNvSpPr>
          <p:nvPr/>
        </p:nvSpPr>
        <p:spPr>
          <a:xfrm>
            <a:off x="3417094" y="1885950"/>
            <a:ext cx="2550319" cy="1047750"/>
          </a:xfrm>
          <a:prstGeom prst="roundRect">
            <a:avLst>
              <a:gd name="adj" fmla="val 9091"/>
            </a:avLst>
          </a:prstGeom>
          <a:solidFill>
            <a:srgbClr val="EEE9F9"/>
          </a:solidFill>
          <a:ln w="11430">
            <a:solidFill>
              <a:srgbClr val="BBCBDE"/>
            </a:solidFill>
          </a:ln>
        </p:spPr>
        <p:txBody>
          <a:bodyPr lIns="95250" tIns="76200" rIns="95250" bIns="76200" anchor="ctr">
            <a:noAutofit/>
          </a:bodyPr>
          <a:lstStyle/>
          <a:p>
            <a:pPr algn="ctr">
              <a:defRPr sz="1950">
                <a:solidFill>
                  <a:srgbClr val="20344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>
                <a:solidFill>
                  <a:srgbClr val="20344F"/>
                </a:solidFill>
                <a:latin typeface="Microsoft YaHei"/>
                <a:ea typeface="Microsoft YaHei"/>
                <a:cs typeface="Microsoft YaHei"/>
              </a:rPr>
              <a:t>FTS5 · BM25</a:t>
            </a:r>
          </a:p>
          <a:p>
            <a:pPr algn="ctr">
              <a:defRPr sz="1950">
                <a:solidFill>
                  <a:srgbClr val="20344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>
                <a:solidFill>
                  <a:srgbClr val="20344F"/>
                </a:solidFill>
                <a:latin typeface="Microsoft YaHei"/>
                <a:ea typeface="Microsoft YaHei"/>
                <a:cs typeface="Microsoft YaHei"/>
              </a:rPr>
              <a:t>中文相邻字符索引</a:t>
            </a:r>
          </a:p>
        </p:txBody>
      </p:sp>
      <p:sp>
        <p:nvSpPr>
          <p:cNvPr id="8" name="diagram-node">
            <a:extLst>
              <a:ext uri="{FF2B5EF4-FFF2-40B4-BE49-F238E27FC236}">
                <a16:creationId xmlns:a16="http://schemas.microsoft.com/office/drawing/2014/main" id="{A734DBE6-5123-4B13-A025-BA7222A71704}"/>
              </a:ext>
            </a:extLst>
          </p:cNvPr>
          <p:cNvSpPr>
            <a:spLocks noGrp="1"/>
          </p:cNvSpPr>
          <p:nvPr/>
        </p:nvSpPr>
        <p:spPr>
          <a:xfrm>
            <a:off x="6224588" y="1885950"/>
            <a:ext cx="2550319" cy="1047750"/>
          </a:xfrm>
          <a:prstGeom prst="roundRect">
            <a:avLst>
              <a:gd name="adj" fmla="val 9091"/>
            </a:avLst>
          </a:prstGeom>
          <a:solidFill>
            <a:srgbClr val="EEE9F9"/>
          </a:solidFill>
          <a:ln w="11430">
            <a:solidFill>
              <a:srgbClr val="BBCBDE"/>
            </a:solidFill>
          </a:ln>
        </p:spPr>
        <p:txBody>
          <a:bodyPr lIns="95250" tIns="76200" rIns="95250" bIns="76200" anchor="ctr">
            <a:noAutofit/>
          </a:bodyPr>
          <a:lstStyle/>
          <a:p>
            <a:pPr algn="ctr">
              <a:defRPr sz="1950">
                <a:solidFill>
                  <a:srgbClr val="20344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>
                <a:solidFill>
                  <a:srgbClr val="20344F"/>
                </a:solidFill>
                <a:latin typeface="Microsoft YaHei"/>
                <a:ea typeface="Microsoft YaHei"/>
                <a:cs typeface="Microsoft YaHei"/>
              </a:rPr>
              <a:t>e5-small · cosine</a:t>
            </a:r>
          </a:p>
          <a:p>
            <a:pPr algn="ctr">
              <a:defRPr sz="1950">
                <a:solidFill>
                  <a:srgbClr val="20344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>
                <a:solidFill>
                  <a:srgbClr val="20344F"/>
                </a:solidFill>
                <a:latin typeface="Microsoft YaHei"/>
                <a:ea typeface="Microsoft YaHei"/>
                <a:cs typeface="Microsoft YaHei"/>
              </a:rPr>
              <a:t>语义向量</a:t>
            </a:r>
          </a:p>
        </p:txBody>
      </p:sp>
      <p:sp>
        <p:nvSpPr>
          <p:cNvPr id="9" name="diagram-node">
            <a:extLst>
              <a:ext uri="{FF2B5EF4-FFF2-40B4-BE49-F238E27FC236}">
                <a16:creationId xmlns:a16="http://schemas.microsoft.com/office/drawing/2014/main" id="{02EFC579-8F68-4E73-8EE4-B7CF9E67D72C}"/>
              </a:ext>
            </a:extLst>
          </p:cNvPr>
          <p:cNvSpPr>
            <a:spLocks noGrp="1"/>
          </p:cNvSpPr>
          <p:nvPr/>
        </p:nvSpPr>
        <p:spPr>
          <a:xfrm>
            <a:off x="9032081" y="1885950"/>
            <a:ext cx="2550319" cy="1047750"/>
          </a:xfrm>
          <a:prstGeom prst="roundRect">
            <a:avLst>
              <a:gd name="adj" fmla="val 9091"/>
            </a:avLst>
          </a:prstGeom>
          <a:solidFill>
            <a:srgbClr val="EEE9F9"/>
          </a:solidFill>
          <a:ln w="11430">
            <a:solidFill>
              <a:srgbClr val="BBCBDE"/>
            </a:solidFill>
          </a:ln>
        </p:spPr>
        <p:txBody>
          <a:bodyPr lIns="95250" tIns="76200" rIns="95250" bIns="76200" anchor="ctr">
            <a:noAutofit/>
          </a:bodyPr>
          <a:lstStyle/>
          <a:p>
            <a:pPr algn="ctr">
              <a:defRPr sz="1950">
                <a:solidFill>
                  <a:srgbClr val="20344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>
                <a:solidFill>
                  <a:srgbClr val="20344F"/>
                </a:solidFill>
                <a:latin typeface="Microsoft YaHei"/>
                <a:ea typeface="Microsoft YaHei"/>
                <a:cs typeface="Microsoft YaHei"/>
              </a:rPr>
              <a:t>RRF 常数 60</a:t>
            </a:r>
          </a:p>
          <a:p>
            <a:pPr algn="ctr">
              <a:defRPr sz="1950">
                <a:solidFill>
                  <a:srgbClr val="20344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>
                <a:solidFill>
                  <a:srgbClr val="20344F"/>
                </a:solidFill>
                <a:latin typeface="Microsoft YaHei"/>
                <a:ea typeface="Microsoft YaHei"/>
                <a:cs typeface="Microsoft YaHei"/>
              </a:rPr>
              <a:t>来源与片段</a:t>
            </a:r>
          </a:p>
        </p:txBody>
      </p:sp>
      <p:cxnSp>
        <p:nvCxnSpPr>
          <p:cNvPr id="24" name="直接箭头连接符 23"/>
          <p:cNvCxnSpPr>
            <a:stCxn id="6" idx="3"/>
            <a:endCxn id="7" idx="1"/>
          </p:cNvCxnSpPr>
          <p:nvPr/>
        </p:nvCxnSpPr>
        <p:spPr>
          <a:xfrm>
            <a:off x="3159919" y="2409825"/>
            <a:ext cx="257175" cy="0"/>
          </a:xfrm>
          <a:prstGeom prst="straightConnector1">
            <a:avLst/>
          </a:prstGeom>
          <a:ln w="19050">
            <a:solidFill>
              <a:srgbClr val="6C829D"/>
            </a:solidFill>
            <a:headEnd type="triangle" w="sm" len="sm"/>
          </a:ln>
        </p:spPr>
      </p:cxnSp>
      <p:cxnSp>
        <p:nvCxnSpPr>
          <p:cNvPr id="25" name="直接箭头连接符 24"/>
          <p:cNvCxnSpPr>
            <a:stCxn id="7" idx="3"/>
            <a:endCxn id="8" idx="1"/>
          </p:cNvCxnSpPr>
          <p:nvPr/>
        </p:nvCxnSpPr>
        <p:spPr>
          <a:xfrm>
            <a:off x="5967413" y="2409825"/>
            <a:ext cx="257175" cy="0"/>
          </a:xfrm>
          <a:prstGeom prst="straightConnector1">
            <a:avLst/>
          </a:prstGeom>
          <a:ln w="19050">
            <a:solidFill>
              <a:srgbClr val="6C829D"/>
            </a:solidFill>
            <a:headEnd type="triangle" w="sm" len="sm"/>
          </a:ln>
        </p:spPr>
      </p:cxnSp>
      <p:cxnSp>
        <p:nvCxnSpPr>
          <p:cNvPr id="26" name="直接箭头连接符 25"/>
          <p:cNvCxnSpPr>
            <a:stCxn id="8" idx="3"/>
            <a:endCxn id="9" idx="1"/>
          </p:cNvCxnSpPr>
          <p:nvPr/>
        </p:nvCxnSpPr>
        <p:spPr>
          <a:xfrm>
            <a:off x="8774907" y="2409825"/>
            <a:ext cx="257174" cy="0"/>
          </a:xfrm>
          <a:prstGeom prst="straightConnector1">
            <a:avLst/>
          </a:prstGeom>
          <a:ln w="19050">
            <a:solidFill>
              <a:srgbClr val="6C829D"/>
            </a:solidFill>
            <a:headEnd type="triangle" w="sm" len="sm"/>
          </a:ln>
        </p:spPr>
      </p:cxnSp>
      <p:sp>
        <p:nvSpPr>
          <p:cNvPr id="13" name="text">
            <a:extLst>
              <a:ext uri="{FF2B5EF4-FFF2-40B4-BE49-F238E27FC236}">
                <a16:creationId xmlns:a16="http://schemas.microsoft.com/office/drawing/2014/main" id="{EFE1102C-6E41-4F68-B76B-1753A79CDD58}"/>
              </a:ext>
            </a:extLst>
          </p:cNvPr>
          <p:cNvSpPr>
            <a:spLocks noGrp="1"/>
          </p:cNvSpPr>
          <p:nvPr/>
        </p:nvSpPr>
        <p:spPr>
          <a:xfrm>
            <a:off x="609600" y="3762375"/>
            <a:ext cx="10972800" cy="4572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l">
              <a:defRPr sz="2325" b="0">
                <a:solidFill>
                  <a:srgbClr val="20344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0">
                <a:solidFill>
                  <a:srgbClr val="20344F"/>
                </a:solidFill>
                <a:latin typeface="Microsoft YaHei"/>
                <a:ea typeface="Microsoft YaHei"/>
                <a:cs typeface="Microsoft YaHei"/>
              </a:rPr>
              <a:t>NumPy · GaussianHMM · 协方差 · 因子计算</a:t>
            </a:r>
          </a:p>
        </p:txBody>
      </p:sp>
      <p:sp>
        <p:nvSpPr>
          <p:cNvPr id="14" name="text">
            <a:extLst>
              <a:ext uri="{FF2B5EF4-FFF2-40B4-BE49-F238E27FC236}">
                <a16:creationId xmlns:a16="http://schemas.microsoft.com/office/drawing/2014/main" id="{1EA5CA53-7B20-48D4-8090-768583F16957}"/>
              </a:ext>
            </a:extLst>
          </p:cNvPr>
          <p:cNvSpPr>
            <a:spLocks noGrp="1"/>
          </p:cNvSpPr>
          <p:nvPr/>
        </p:nvSpPr>
        <p:spPr>
          <a:xfrm>
            <a:off x="609600" y="4457700"/>
            <a:ext cx="10972800" cy="5238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l">
              <a:defRPr sz="1950" b="0">
                <a:solidFill>
                  <a:srgbClr val="2867B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0">
                <a:solidFill>
                  <a:srgbClr val="2867BF"/>
                </a:solidFill>
                <a:latin typeface="Microsoft YaHei"/>
                <a:ea typeface="Microsoft YaHei"/>
                <a:cs typeface="Microsoft YaHei"/>
              </a:rPr>
              <a:t>Sentence Transformers · PyTorch · Transformers · 固定模型 revision</a:t>
            </a:r>
          </a:p>
        </p:txBody>
      </p:sp>
    </p:spTree>
    <p:extLst>
      <p:ext uri="{BB962C8B-B14F-4D97-AF65-F5344CB8AC3E}">
        <p14:creationId xmlns:p14="http://schemas.microsoft.com/office/powerpoint/2010/main" val="1136930070"/>
      </p:ext>
    </p:extLst>
  </p:cSld>
  <p:clrMapOvr>
    <a:masterClrMapping/>
  </p:clrMapOvr>
  <p:transition>
    <p:fade thruBlk="1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6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460"/>
                            </p:stCondLst>
                            <p:childTnLst>
                              <p:par>
                                <p:cTn id="9" presetID="10" presetClass="entr" presetSubtype="0" fill="hold" grpId="0" nodeType="afterEffect">
                                  <p:stCondLst>
                                    <p:cond delay="6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4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920"/>
                            </p:stCondLst>
                            <p:childTnLst>
                              <p:par>
                                <p:cTn id="13" presetID="10" presetClass="entr" presetSubtype="0" fill="hold" grpId="0" nodeType="afterEffect">
                                  <p:stCondLst>
                                    <p:cond delay="6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4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1380"/>
                            </p:stCondLst>
                            <p:childTnLst>
                              <p:par>
                                <p:cTn id="17" presetID="10" presetClass="entr" presetSubtype="0" fill="hold" grpId="0" nodeType="afterEffect">
                                  <p:stCondLst>
                                    <p:cond delay="6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4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1840"/>
                            </p:stCondLst>
                            <p:childTnLst>
                              <p:par>
                                <p:cTn id="21" presetID="10" presetClass="entr" presetSubtype="0" fill="hold" grpId="0" nodeType="afterEffect">
                                  <p:stCondLst>
                                    <p:cond delay="6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4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2300"/>
                            </p:stCondLst>
                            <p:childTnLst>
                              <p:par>
                                <p:cTn id="25" presetID="10" presetClass="entr" presetSubtype="0" fill="hold" grpId="0" nodeType="afterEffect">
                                  <p:stCondLst>
                                    <p:cond delay="6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4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>
                            <p:stCondLst>
                              <p:cond delay="2760"/>
                            </p:stCondLst>
                            <p:childTnLst>
                              <p:par>
                                <p:cTn id="29" presetID="10" presetClass="entr" presetSubtype="0" fill="hold" nodeType="afterEffect">
                                  <p:stCondLst>
                                    <p:cond delay="6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4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2" fill="hold">
                            <p:stCondLst>
                              <p:cond delay="3220"/>
                            </p:stCondLst>
                            <p:childTnLst>
                              <p:par>
                                <p:cTn id="33" presetID="10" presetClass="entr" presetSubtype="0" fill="hold" nodeType="afterEffect">
                                  <p:stCondLst>
                                    <p:cond delay="6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4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6" fill="hold">
                            <p:stCondLst>
                              <p:cond delay="3680"/>
                            </p:stCondLst>
                            <p:childTnLst>
                              <p:par>
                                <p:cTn id="37" presetID="10" presetClass="entr" presetSubtype="0" fill="hold" nodeType="afterEffect">
                                  <p:stCondLst>
                                    <p:cond delay="6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4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0" fill="hold">
                            <p:stCondLst>
                              <p:cond delay="4140"/>
                            </p:stCondLst>
                            <p:childTnLst>
                              <p:par>
                                <p:cTn id="41" presetID="10" presetClass="entr" presetSubtype="0" fill="hold" grpId="0" nodeType="afterEffect">
                                  <p:stCondLst>
                                    <p:cond delay="6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4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4" fill="hold">
                            <p:stCondLst>
                              <p:cond delay="4600"/>
                            </p:stCondLst>
                            <p:childTnLst>
                              <p:par>
                                <p:cTn id="45" presetID="10" presetClass="entr" presetSubtype="0" fill="hold" grpId="0" nodeType="afterEffect">
                                  <p:stCondLst>
                                    <p:cond delay="6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4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8" fill="hold">
                            <p:stCondLst>
                              <p:cond delay="5060"/>
                            </p:stCondLst>
                            <p:childTnLst>
                              <p:par>
                                <p:cTn id="49" presetID="10" presetClass="entr" presetSubtype="0" fill="hold" grpId="0" nodeType="afterEffect">
                                  <p:stCondLst>
                                    <p:cond delay="6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1" dur="4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2" fill="hold">
                            <p:stCondLst>
                              <p:cond delay="5520"/>
                            </p:stCondLst>
                            <p:childTnLst>
                              <p:par>
                                <p:cTn id="53" presetID="10" presetClass="entr" presetSubtype="0" fill="hold" grpId="0" nodeType="afterEffect">
                                  <p:stCondLst>
                                    <p:cond delay="6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4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6" fill="hold">
                            <p:stCondLst>
                              <p:cond delay="5980"/>
                            </p:stCondLst>
                            <p:childTnLst>
                              <p:par>
                                <p:cTn id="57" presetID="10" presetClass="entr" presetSubtype="0" fill="hold" grpId="0" nodeType="afterEffect">
                                  <p:stCondLst>
                                    <p:cond delay="6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9" dur="4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/>
      <p:bldP spid="2" grpId="0"/>
      <p:bldP spid="3" grpId="0"/>
      <p:bldP spid="4" grpId="0"/>
      <p:bldP spid="5" grpId="0"/>
      <p:bldP spid="6" grpId="0" animBg="1"/>
      <p:bldP spid="7" grpId="0" animBg="1"/>
      <p:bldP spid="8" grpId="0" animBg="1"/>
      <p:bldP spid="9" grpId="0" animBg="1"/>
      <p:bldP spid="13" grpId="0"/>
      <p:bldP spid="14" grpId="0"/>
    </p:bld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slide-title">
            <a:extLst>
              <a:ext uri="{FF2B5EF4-FFF2-40B4-BE49-F238E27FC236}">
                <a16:creationId xmlns:a16="http://schemas.microsoft.com/office/drawing/2014/main" id="{FCA745AC-CEC5-4C05-8AE3-1EE532009836}"/>
              </a:ext>
            </a:extLst>
          </p:cNvPr>
          <p:cNvSpPr>
            <a:spLocks noGrp="1"/>
          </p:cNvSpPr>
          <p:nvPr/>
        </p:nvSpPr>
        <p:spPr>
          <a:xfrm>
            <a:off x="609600" y="419100"/>
            <a:ext cx="10972800" cy="6096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l">
              <a:defRPr sz="3000" b="1">
                <a:solidFill>
                  <a:srgbClr val="20344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000" b="1">
                <a:solidFill>
                  <a:srgbClr val="20344F"/>
                </a:solidFill>
                <a:latin typeface="Microsoft YaHei"/>
                <a:ea typeface="Microsoft YaHei"/>
                <a:cs typeface="Microsoft YaHei"/>
              </a:rPr>
              <a:t>存储、安全与历史解释</a:t>
            </a:r>
          </a:p>
        </p:txBody>
      </p:sp>
      <p:sp>
        <p:nvSpPr>
          <p:cNvPr id="2" name="document-heading">
            <a:extLst>
              <a:ext uri="{FF2B5EF4-FFF2-40B4-BE49-F238E27FC236}">
                <a16:creationId xmlns:a16="http://schemas.microsoft.com/office/drawing/2014/main" id="{569694B4-C470-468B-9834-44689E938235}"/>
              </a:ext>
            </a:extLst>
          </p:cNvPr>
          <p:cNvSpPr>
            <a:spLocks noGrp="1"/>
          </p:cNvSpPr>
          <p:nvPr/>
        </p:nvSpPr>
        <p:spPr>
          <a:xfrm>
            <a:off x="609600" y="1085850"/>
            <a:ext cx="10972800" cy="3238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l">
              <a:defRPr sz="1575" b="0">
                <a:solidFill>
                  <a:srgbClr val="566C8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566C83"/>
                </a:solidFill>
                <a:latin typeface="Microsoft YaHei"/>
                <a:ea typeface="Microsoft YaHei"/>
                <a:cs typeface="Microsoft YaHei"/>
              </a:rPr>
              <a:t>5.2 前后端 AI 系统 / 7.4 用户信息与部署</a:t>
            </a:r>
          </a:p>
        </p:txBody>
      </p:sp>
      <p:sp>
        <p:nvSpPr>
          <p:cNvPr id="3" name="figure-introduction">
            <a:extLst>
              <a:ext uri="{FF2B5EF4-FFF2-40B4-BE49-F238E27FC236}">
                <a16:creationId xmlns:a16="http://schemas.microsoft.com/office/drawing/2014/main" id="{185283B1-ABD5-4B2D-A00F-7C420AC2ACAD}"/>
              </a:ext>
            </a:extLst>
          </p:cNvPr>
          <p:cNvSpPr>
            <a:spLocks noGrp="1"/>
          </p:cNvSpPr>
          <p:nvPr/>
        </p:nvSpPr>
        <p:spPr>
          <a:xfrm>
            <a:off x="609600" y="5524500"/>
            <a:ext cx="10972800" cy="8382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l">
              <a:defRPr sz="1725" b="0">
                <a:solidFill>
                  <a:srgbClr val="566C8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566C83"/>
                </a:solidFill>
                <a:latin typeface="Microsoft YaHei"/>
                <a:ea typeface="Microsoft YaHei"/>
                <a:cs typeface="Microsoft YaHei"/>
              </a:rPr>
              <a:t>上下文、研究记录与回执按用户归属保存。内容指纹和版本关系支持历史复核，Windows DPAPI 保护本地凭据，Markdown 经 DOMPurify 处理后展示，前端证据视图保留引用方向。</a:t>
            </a:r>
          </a:p>
        </p:txBody>
      </p:sp>
      <p:sp>
        <p:nvSpPr>
          <p:cNvPr id="4" name="footer">
            <a:extLst>
              <a:ext uri="{FF2B5EF4-FFF2-40B4-BE49-F238E27FC236}">
                <a16:creationId xmlns:a16="http://schemas.microsoft.com/office/drawing/2014/main" id="{B82D27D3-8A77-494F-9C55-13C701C93A8E}"/>
              </a:ext>
            </a:extLst>
          </p:cNvPr>
          <p:cNvSpPr>
            <a:spLocks noGrp="1"/>
          </p:cNvSpPr>
          <p:nvPr/>
        </p:nvSpPr>
        <p:spPr>
          <a:xfrm>
            <a:off x="609600" y="6477000"/>
            <a:ext cx="9144000" cy="2381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l">
              <a:defRPr sz="1275" b="0">
                <a:solidFill>
                  <a:srgbClr val="566C8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566C83"/>
                </a:solidFill>
                <a:latin typeface="Microsoft YaHei"/>
                <a:ea typeface="Microsoft YaHei"/>
                <a:cs typeface="Microsoft YaHei"/>
              </a:rPr>
              <a:t>Prism · 实际数据与验证</a:t>
            </a:r>
          </a:p>
        </p:txBody>
      </p:sp>
      <p:sp>
        <p:nvSpPr>
          <p:cNvPr id="5" name="page-number">
            <a:extLst>
              <a:ext uri="{FF2B5EF4-FFF2-40B4-BE49-F238E27FC236}">
                <a16:creationId xmlns:a16="http://schemas.microsoft.com/office/drawing/2014/main" id="{190DB35A-E901-40ED-97FC-FF487BFC5DE4}"/>
              </a:ext>
            </a:extLst>
          </p:cNvPr>
          <p:cNvSpPr>
            <a:spLocks noGrp="1"/>
          </p:cNvSpPr>
          <p:nvPr/>
        </p:nvSpPr>
        <p:spPr>
          <a:xfrm>
            <a:off x="11049000" y="6477000"/>
            <a:ext cx="523875" cy="2381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r">
              <a:defRPr sz="1275" b="0">
                <a:solidFill>
                  <a:srgbClr val="566C8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566C83"/>
                </a:solidFill>
                <a:latin typeface="Microsoft YaHei"/>
                <a:ea typeface="Microsoft YaHei"/>
                <a:cs typeface="Microsoft YaHei"/>
              </a:rPr>
              <a:t>24</a:t>
            </a:r>
          </a:p>
        </p:txBody>
      </p:sp>
      <p:sp>
        <p:nvSpPr>
          <p:cNvPr id="6" name="diagram-node">
            <a:extLst>
              <a:ext uri="{FF2B5EF4-FFF2-40B4-BE49-F238E27FC236}">
                <a16:creationId xmlns:a16="http://schemas.microsoft.com/office/drawing/2014/main" id="{E120F456-BE0D-4D05-976A-A902B4C873B7}"/>
              </a:ext>
            </a:extLst>
          </p:cNvPr>
          <p:cNvSpPr>
            <a:spLocks noGrp="1"/>
          </p:cNvSpPr>
          <p:nvPr/>
        </p:nvSpPr>
        <p:spPr>
          <a:xfrm>
            <a:off x="609600" y="1971675"/>
            <a:ext cx="2550319" cy="1047750"/>
          </a:xfrm>
          <a:prstGeom prst="roundRect">
            <a:avLst>
              <a:gd name="adj" fmla="val 9091"/>
            </a:avLst>
          </a:prstGeom>
          <a:solidFill>
            <a:srgbClr val="E7EFFF"/>
          </a:solidFill>
          <a:ln w="11430">
            <a:solidFill>
              <a:srgbClr val="BBCBDE"/>
            </a:solidFill>
          </a:ln>
        </p:spPr>
        <p:txBody>
          <a:bodyPr lIns="95250" tIns="76200" rIns="95250" bIns="76200" anchor="ctr">
            <a:noAutofit/>
          </a:bodyPr>
          <a:lstStyle/>
          <a:p>
            <a:pPr algn="ctr">
              <a:defRPr sz="1950">
                <a:solidFill>
                  <a:srgbClr val="20344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>
                <a:solidFill>
                  <a:srgbClr val="20344F"/>
                </a:solidFill>
                <a:latin typeface="Microsoft YaHei"/>
                <a:ea typeface="Microsoft YaHei"/>
                <a:cs typeface="Microsoft YaHei"/>
              </a:rPr>
              <a:t>用户归属</a:t>
            </a:r>
          </a:p>
          <a:p>
            <a:pPr algn="ctr">
              <a:defRPr sz="1950">
                <a:solidFill>
                  <a:srgbClr val="20344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>
                <a:solidFill>
                  <a:srgbClr val="20344F"/>
                </a:solidFill>
                <a:latin typeface="Microsoft YaHei"/>
                <a:ea typeface="Microsoft YaHei"/>
                <a:cs typeface="Microsoft YaHei"/>
              </a:rPr>
              <a:t>owner_id</a:t>
            </a:r>
          </a:p>
        </p:txBody>
      </p:sp>
      <p:sp>
        <p:nvSpPr>
          <p:cNvPr id="7" name="diagram-node">
            <a:extLst>
              <a:ext uri="{FF2B5EF4-FFF2-40B4-BE49-F238E27FC236}">
                <a16:creationId xmlns:a16="http://schemas.microsoft.com/office/drawing/2014/main" id="{02C5B0D6-BE3E-48E7-9487-6CF869358C7E}"/>
              </a:ext>
            </a:extLst>
          </p:cNvPr>
          <p:cNvSpPr>
            <a:spLocks noGrp="1"/>
          </p:cNvSpPr>
          <p:nvPr/>
        </p:nvSpPr>
        <p:spPr>
          <a:xfrm>
            <a:off x="3417094" y="1971675"/>
            <a:ext cx="2550319" cy="1047750"/>
          </a:xfrm>
          <a:prstGeom prst="roundRect">
            <a:avLst>
              <a:gd name="adj" fmla="val 9091"/>
            </a:avLst>
          </a:prstGeom>
          <a:solidFill>
            <a:srgbClr val="E7EFFF"/>
          </a:solidFill>
          <a:ln w="11430">
            <a:solidFill>
              <a:srgbClr val="BBCBDE"/>
            </a:solidFill>
          </a:ln>
        </p:spPr>
        <p:txBody>
          <a:bodyPr lIns="95250" tIns="76200" rIns="95250" bIns="76200" anchor="ctr">
            <a:noAutofit/>
          </a:bodyPr>
          <a:lstStyle/>
          <a:p>
            <a:pPr algn="ctr">
              <a:defRPr sz="1950">
                <a:solidFill>
                  <a:srgbClr val="20344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>
                <a:solidFill>
                  <a:srgbClr val="20344F"/>
                </a:solidFill>
                <a:latin typeface="Microsoft YaHei"/>
                <a:ea typeface="Microsoft YaHei"/>
                <a:cs typeface="Microsoft YaHei"/>
              </a:rPr>
              <a:t>SQLite / PostgreSQL</a:t>
            </a:r>
          </a:p>
          <a:p>
            <a:pPr algn="ctr">
              <a:defRPr sz="1950">
                <a:solidFill>
                  <a:srgbClr val="20344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>
                <a:solidFill>
                  <a:srgbClr val="20344F"/>
                </a:solidFill>
                <a:latin typeface="Microsoft YaHei"/>
                <a:ea typeface="Microsoft YaHei"/>
                <a:cs typeface="Microsoft YaHei"/>
              </a:rPr>
              <a:t>上下文与事件</a:t>
            </a:r>
          </a:p>
        </p:txBody>
      </p:sp>
      <p:sp>
        <p:nvSpPr>
          <p:cNvPr id="8" name="diagram-node">
            <a:extLst>
              <a:ext uri="{FF2B5EF4-FFF2-40B4-BE49-F238E27FC236}">
                <a16:creationId xmlns:a16="http://schemas.microsoft.com/office/drawing/2014/main" id="{8FDB8D59-7D69-4397-B9DC-E8764FA4B88A}"/>
              </a:ext>
            </a:extLst>
          </p:cNvPr>
          <p:cNvSpPr>
            <a:spLocks noGrp="1"/>
          </p:cNvSpPr>
          <p:nvPr/>
        </p:nvSpPr>
        <p:spPr>
          <a:xfrm>
            <a:off x="6224588" y="1971675"/>
            <a:ext cx="2550319" cy="1047750"/>
          </a:xfrm>
          <a:prstGeom prst="roundRect">
            <a:avLst>
              <a:gd name="adj" fmla="val 9091"/>
            </a:avLst>
          </a:prstGeom>
          <a:solidFill>
            <a:srgbClr val="E7EFFF"/>
          </a:solidFill>
          <a:ln w="11430">
            <a:solidFill>
              <a:srgbClr val="BBCBDE"/>
            </a:solidFill>
          </a:ln>
        </p:spPr>
        <p:txBody>
          <a:bodyPr lIns="95250" tIns="76200" rIns="95250" bIns="76200" anchor="ctr">
            <a:noAutofit/>
          </a:bodyPr>
          <a:lstStyle/>
          <a:p>
            <a:pPr algn="ctr">
              <a:defRPr sz="1950">
                <a:solidFill>
                  <a:srgbClr val="20344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>
                <a:solidFill>
                  <a:srgbClr val="20344F"/>
                </a:solidFill>
                <a:latin typeface="Microsoft YaHei"/>
                <a:ea typeface="Microsoft YaHei"/>
                <a:cs typeface="Microsoft YaHei"/>
              </a:rPr>
              <a:t>SHA-256 · 版本</a:t>
            </a:r>
          </a:p>
          <a:p>
            <a:pPr algn="ctr">
              <a:defRPr sz="1950">
                <a:solidFill>
                  <a:srgbClr val="20344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>
                <a:solidFill>
                  <a:srgbClr val="20344F"/>
                </a:solidFill>
                <a:latin typeface="Microsoft YaHei"/>
                <a:ea typeface="Microsoft YaHei"/>
                <a:cs typeface="Microsoft YaHei"/>
              </a:rPr>
              <a:t>引用与回执</a:t>
            </a:r>
          </a:p>
        </p:txBody>
      </p:sp>
      <p:sp>
        <p:nvSpPr>
          <p:cNvPr id="9" name="diagram-node">
            <a:extLst>
              <a:ext uri="{FF2B5EF4-FFF2-40B4-BE49-F238E27FC236}">
                <a16:creationId xmlns:a16="http://schemas.microsoft.com/office/drawing/2014/main" id="{4919D30C-B547-4435-8B8B-F6FAD0374B65}"/>
              </a:ext>
            </a:extLst>
          </p:cNvPr>
          <p:cNvSpPr>
            <a:spLocks noGrp="1"/>
          </p:cNvSpPr>
          <p:nvPr/>
        </p:nvSpPr>
        <p:spPr>
          <a:xfrm>
            <a:off x="9032081" y="1971675"/>
            <a:ext cx="2550319" cy="1047750"/>
          </a:xfrm>
          <a:prstGeom prst="roundRect">
            <a:avLst>
              <a:gd name="adj" fmla="val 9091"/>
            </a:avLst>
          </a:prstGeom>
          <a:solidFill>
            <a:srgbClr val="E7EFFF"/>
          </a:solidFill>
          <a:ln w="11430">
            <a:solidFill>
              <a:srgbClr val="BBCBDE"/>
            </a:solidFill>
          </a:ln>
        </p:spPr>
        <p:txBody>
          <a:bodyPr lIns="95250" tIns="76200" rIns="95250" bIns="76200" anchor="ctr">
            <a:noAutofit/>
          </a:bodyPr>
          <a:lstStyle/>
          <a:p>
            <a:pPr algn="ctr">
              <a:defRPr sz="1950">
                <a:solidFill>
                  <a:srgbClr val="20344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>
                <a:solidFill>
                  <a:srgbClr val="20344F"/>
                </a:solidFill>
                <a:latin typeface="Microsoft YaHei"/>
                <a:ea typeface="Microsoft YaHei"/>
                <a:cs typeface="Microsoft YaHei"/>
              </a:rPr>
              <a:t>历史解释</a:t>
            </a:r>
          </a:p>
          <a:p>
            <a:pPr algn="ctr">
              <a:defRPr sz="1950">
                <a:solidFill>
                  <a:srgbClr val="20344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>
                <a:solidFill>
                  <a:srgbClr val="20344F"/>
                </a:solidFill>
                <a:latin typeface="Microsoft YaHei"/>
                <a:ea typeface="Microsoft YaHei"/>
                <a:cs typeface="Microsoft YaHei"/>
              </a:rPr>
              <a:t>证据审计</a:t>
            </a:r>
          </a:p>
        </p:txBody>
      </p:sp>
      <p:cxnSp>
        <p:nvCxnSpPr>
          <p:cNvPr id="24" name="直接箭头连接符 23"/>
          <p:cNvCxnSpPr>
            <a:stCxn id="6" idx="3"/>
            <a:endCxn id="7" idx="1"/>
          </p:cNvCxnSpPr>
          <p:nvPr/>
        </p:nvCxnSpPr>
        <p:spPr>
          <a:xfrm>
            <a:off x="3159919" y="2495550"/>
            <a:ext cx="257175" cy="0"/>
          </a:xfrm>
          <a:prstGeom prst="straightConnector1">
            <a:avLst/>
          </a:prstGeom>
          <a:ln w="19050">
            <a:solidFill>
              <a:srgbClr val="6C829D"/>
            </a:solidFill>
            <a:headEnd type="triangle" w="sm" len="sm"/>
          </a:ln>
        </p:spPr>
      </p:cxnSp>
      <p:cxnSp>
        <p:nvCxnSpPr>
          <p:cNvPr id="25" name="直接箭头连接符 24"/>
          <p:cNvCxnSpPr>
            <a:stCxn id="7" idx="3"/>
            <a:endCxn id="8" idx="1"/>
          </p:cNvCxnSpPr>
          <p:nvPr/>
        </p:nvCxnSpPr>
        <p:spPr>
          <a:xfrm>
            <a:off x="5967413" y="2495550"/>
            <a:ext cx="257175" cy="0"/>
          </a:xfrm>
          <a:prstGeom prst="straightConnector1">
            <a:avLst/>
          </a:prstGeom>
          <a:ln w="19050">
            <a:solidFill>
              <a:srgbClr val="6C829D"/>
            </a:solidFill>
            <a:headEnd type="triangle" w="sm" len="sm"/>
          </a:ln>
        </p:spPr>
      </p:cxnSp>
      <p:cxnSp>
        <p:nvCxnSpPr>
          <p:cNvPr id="26" name="直接箭头连接符 25"/>
          <p:cNvCxnSpPr>
            <a:stCxn id="8" idx="3"/>
            <a:endCxn id="9" idx="1"/>
          </p:cNvCxnSpPr>
          <p:nvPr/>
        </p:nvCxnSpPr>
        <p:spPr>
          <a:xfrm>
            <a:off x="8774907" y="2495550"/>
            <a:ext cx="257174" cy="0"/>
          </a:xfrm>
          <a:prstGeom prst="straightConnector1">
            <a:avLst/>
          </a:prstGeom>
          <a:ln w="19050">
            <a:solidFill>
              <a:srgbClr val="6C829D"/>
            </a:solidFill>
            <a:headEnd type="triangle" w="sm" len="sm"/>
          </a:ln>
        </p:spPr>
      </p:cxnSp>
      <p:sp>
        <p:nvSpPr>
          <p:cNvPr id="13" name="text">
            <a:extLst>
              <a:ext uri="{FF2B5EF4-FFF2-40B4-BE49-F238E27FC236}">
                <a16:creationId xmlns:a16="http://schemas.microsoft.com/office/drawing/2014/main" id="{7A57B014-2859-4C54-8028-9F75F67F30F8}"/>
              </a:ext>
            </a:extLst>
          </p:cNvPr>
          <p:cNvSpPr>
            <a:spLocks noGrp="1"/>
          </p:cNvSpPr>
          <p:nvPr/>
        </p:nvSpPr>
        <p:spPr>
          <a:xfrm>
            <a:off x="609600" y="3762375"/>
            <a:ext cx="10972800" cy="4286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l">
              <a:defRPr sz="2250" b="0">
                <a:solidFill>
                  <a:srgbClr val="2867B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0">
                <a:solidFill>
                  <a:srgbClr val="2867BF"/>
                </a:solidFill>
                <a:latin typeface="Microsoft YaHei"/>
                <a:ea typeface="Microsoft YaHei"/>
                <a:cs typeface="Microsoft YaHei"/>
              </a:rPr>
              <a:t>DPAPI / ctypes → 服务端凭据保护</a:t>
            </a:r>
          </a:p>
        </p:txBody>
      </p:sp>
      <p:sp>
        <p:nvSpPr>
          <p:cNvPr id="14" name="text">
            <a:extLst>
              <a:ext uri="{FF2B5EF4-FFF2-40B4-BE49-F238E27FC236}">
                <a16:creationId xmlns:a16="http://schemas.microsoft.com/office/drawing/2014/main" id="{41C46876-8551-4152-A793-052CA0531EAC}"/>
              </a:ext>
            </a:extLst>
          </p:cNvPr>
          <p:cNvSpPr>
            <a:spLocks noGrp="1"/>
          </p:cNvSpPr>
          <p:nvPr/>
        </p:nvSpPr>
        <p:spPr>
          <a:xfrm>
            <a:off x="609600" y="4524375"/>
            <a:ext cx="10972800" cy="4286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l">
              <a:defRPr sz="2175" b="0">
                <a:solidFill>
                  <a:srgbClr val="20344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0">
                <a:solidFill>
                  <a:srgbClr val="20344F"/>
                </a:solidFill>
                <a:latin typeface="Microsoft YaHei"/>
                <a:ea typeface="Microsoft YaHei"/>
                <a:cs typeface="Microsoft YaHei"/>
              </a:rPr>
              <a:t>marked → DOMPurify → DOM 片段 → 研究结果展示</a:t>
            </a:r>
          </a:p>
        </p:txBody>
      </p:sp>
    </p:spTree>
    <p:extLst>
      <p:ext uri="{BB962C8B-B14F-4D97-AF65-F5344CB8AC3E}">
        <p14:creationId xmlns:p14="http://schemas.microsoft.com/office/powerpoint/2010/main" val="1767852299"/>
      </p:ext>
    </p:extLst>
  </p:cSld>
  <p:clrMapOvr>
    <a:masterClrMapping/>
  </p:clrMapOvr>
  <p:transition>
    <p:fade thruBlk="1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6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460"/>
                            </p:stCondLst>
                            <p:childTnLst>
                              <p:par>
                                <p:cTn id="9" presetID="10" presetClass="entr" presetSubtype="0" fill="hold" grpId="0" nodeType="afterEffect">
                                  <p:stCondLst>
                                    <p:cond delay="6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4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920"/>
                            </p:stCondLst>
                            <p:childTnLst>
                              <p:par>
                                <p:cTn id="13" presetID="10" presetClass="entr" presetSubtype="0" fill="hold" grpId="0" nodeType="afterEffect">
                                  <p:stCondLst>
                                    <p:cond delay="6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4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1380"/>
                            </p:stCondLst>
                            <p:childTnLst>
                              <p:par>
                                <p:cTn id="17" presetID="10" presetClass="entr" presetSubtype="0" fill="hold" grpId="0" nodeType="afterEffect">
                                  <p:stCondLst>
                                    <p:cond delay="6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4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1840"/>
                            </p:stCondLst>
                            <p:childTnLst>
                              <p:par>
                                <p:cTn id="21" presetID="10" presetClass="entr" presetSubtype="0" fill="hold" grpId="0" nodeType="afterEffect">
                                  <p:stCondLst>
                                    <p:cond delay="6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4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2300"/>
                            </p:stCondLst>
                            <p:childTnLst>
                              <p:par>
                                <p:cTn id="25" presetID="10" presetClass="entr" presetSubtype="0" fill="hold" grpId="0" nodeType="afterEffect">
                                  <p:stCondLst>
                                    <p:cond delay="6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4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>
                            <p:stCondLst>
                              <p:cond delay="2760"/>
                            </p:stCondLst>
                            <p:childTnLst>
                              <p:par>
                                <p:cTn id="29" presetID="10" presetClass="entr" presetSubtype="0" fill="hold" nodeType="afterEffect">
                                  <p:stCondLst>
                                    <p:cond delay="6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4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2" fill="hold">
                            <p:stCondLst>
                              <p:cond delay="3220"/>
                            </p:stCondLst>
                            <p:childTnLst>
                              <p:par>
                                <p:cTn id="33" presetID="10" presetClass="entr" presetSubtype="0" fill="hold" nodeType="afterEffect">
                                  <p:stCondLst>
                                    <p:cond delay="6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4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6" fill="hold">
                            <p:stCondLst>
                              <p:cond delay="3680"/>
                            </p:stCondLst>
                            <p:childTnLst>
                              <p:par>
                                <p:cTn id="37" presetID="10" presetClass="entr" presetSubtype="0" fill="hold" nodeType="afterEffect">
                                  <p:stCondLst>
                                    <p:cond delay="6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4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0" fill="hold">
                            <p:stCondLst>
                              <p:cond delay="4140"/>
                            </p:stCondLst>
                            <p:childTnLst>
                              <p:par>
                                <p:cTn id="41" presetID="10" presetClass="entr" presetSubtype="0" fill="hold" grpId="0" nodeType="afterEffect">
                                  <p:stCondLst>
                                    <p:cond delay="6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4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4" fill="hold">
                            <p:stCondLst>
                              <p:cond delay="4600"/>
                            </p:stCondLst>
                            <p:childTnLst>
                              <p:par>
                                <p:cTn id="45" presetID="10" presetClass="entr" presetSubtype="0" fill="hold" grpId="0" nodeType="afterEffect">
                                  <p:stCondLst>
                                    <p:cond delay="6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4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8" fill="hold">
                            <p:stCondLst>
                              <p:cond delay="5060"/>
                            </p:stCondLst>
                            <p:childTnLst>
                              <p:par>
                                <p:cTn id="49" presetID="10" presetClass="entr" presetSubtype="0" fill="hold" grpId="0" nodeType="afterEffect">
                                  <p:stCondLst>
                                    <p:cond delay="6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1" dur="4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2" fill="hold">
                            <p:stCondLst>
                              <p:cond delay="5520"/>
                            </p:stCondLst>
                            <p:childTnLst>
                              <p:par>
                                <p:cTn id="53" presetID="10" presetClass="entr" presetSubtype="0" fill="hold" grpId="0" nodeType="afterEffect">
                                  <p:stCondLst>
                                    <p:cond delay="6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4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6" fill="hold">
                            <p:stCondLst>
                              <p:cond delay="5980"/>
                            </p:stCondLst>
                            <p:childTnLst>
                              <p:par>
                                <p:cTn id="57" presetID="10" presetClass="entr" presetSubtype="0" fill="hold" grpId="0" nodeType="afterEffect">
                                  <p:stCondLst>
                                    <p:cond delay="6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9" dur="4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/>
      <p:bldP spid="2" grpId="0"/>
      <p:bldP spid="3" grpId="0"/>
      <p:bldP spid="4" grpId="0"/>
      <p:bldP spid="5" grpId="0"/>
      <p:bldP spid="6" grpId="0" animBg="1"/>
      <p:bldP spid="7" grpId="0" animBg="1"/>
      <p:bldP spid="8" grpId="0" animBg="1"/>
      <p:bldP spid="9" grpId="0" animBg="1"/>
      <p:bldP spid="13" grpId="0"/>
      <p:bldP spid="14" grpId="0"/>
    </p:bld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slide-title">
            <a:extLst>
              <a:ext uri="{FF2B5EF4-FFF2-40B4-BE49-F238E27FC236}">
                <a16:creationId xmlns:a16="http://schemas.microsoft.com/office/drawing/2014/main" id="{88BD06E9-6C8D-4D3E-B580-07E164F0E6EB}"/>
              </a:ext>
            </a:extLst>
          </p:cNvPr>
          <p:cNvSpPr>
            <a:spLocks noGrp="1"/>
          </p:cNvSpPr>
          <p:nvPr/>
        </p:nvSpPr>
        <p:spPr>
          <a:xfrm>
            <a:off x="609600" y="419100"/>
            <a:ext cx="10972800" cy="6096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l">
              <a:defRPr sz="3000" b="1">
                <a:solidFill>
                  <a:srgbClr val="20344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000" b="1">
                <a:solidFill>
                  <a:srgbClr val="20344F"/>
                </a:solidFill>
                <a:latin typeface="Microsoft YaHei"/>
                <a:ea typeface="Microsoft YaHei"/>
                <a:cs typeface="Microsoft YaHei"/>
              </a:rPr>
              <a:t>实现技术与文档对应索引</a:t>
            </a:r>
          </a:p>
        </p:txBody>
      </p:sp>
      <p:sp>
        <p:nvSpPr>
          <p:cNvPr id="2" name="document-heading">
            <a:extLst>
              <a:ext uri="{FF2B5EF4-FFF2-40B4-BE49-F238E27FC236}">
                <a16:creationId xmlns:a16="http://schemas.microsoft.com/office/drawing/2014/main" id="{4A166378-8C32-442F-93A2-BF31253021EE}"/>
              </a:ext>
            </a:extLst>
          </p:cNvPr>
          <p:cNvSpPr>
            <a:spLocks noGrp="1"/>
          </p:cNvSpPr>
          <p:nvPr/>
        </p:nvSpPr>
        <p:spPr>
          <a:xfrm>
            <a:off x="609600" y="1085850"/>
            <a:ext cx="10972800" cy="3238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l">
              <a:defRPr sz="1575" b="0">
                <a:solidFill>
                  <a:srgbClr val="566C8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566C83"/>
                </a:solidFill>
                <a:latin typeface="Microsoft YaHei"/>
                <a:ea typeface="Microsoft YaHei"/>
                <a:cs typeface="Microsoft YaHei"/>
              </a:rPr>
              <a:t>5.3 核心技术 / 第六章 创新亮点</a:t>
            </a:r>
          </a:p>
        </p:txBody>
      </p:sp>
      <p:sp>
        <p:nvSpPr>
          <p:cNvPr id="3" name="figure-introduction">
            <a:extLst>
              <a:ext uri="{FF2B5EF4-FFF2-40B4-BE49-F238E27FC236}">
                <a16:creationId xmlns:a16="http://schemas.microsoft.com/office/drawing/2014/main" id="{F80C8DA0-3513-42D2-8E26-290B24605CE1}"/>
              </a:ext>
            </a:extLst>
          </p:cNvPr>
          <p:cNvSpPr>
            <a:spLocks noGrp="1"/>
          </p:cNvSpPr>
          <p:nvPr/>
        </p:nvSpPr>
        <p:spPr>
          <a:xfrm>
            <a:off x="609600" y="5524500"/>
            <a:ext cx="10972800" cy="8382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l">
              <a:defRPr sz="1725" b="0">
                <a:solidFill>
                  <a:srgbClr val="566C8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566C83"/>
                </a:solidFill>
                <a:latin typeface="Microsoft YaHei"/>
                <a:ea typeface="Microsoft YaHei"/>
                <a:cs typeface="Microsoft YaHei"/>
              </a:rPr>
              <a:t>核心技术与创新机制使用同一套已核对的代码位置。完整对应表继续列出直接依赖、标准库、金融 Provider、前端工具和可选研究能力，具体条件与实际证据分别记录。</a:t>
            </a:r>
          </a:p>
        </p:txBody>
      </p:sp>
      <p:sp>
        <p:nvSpPr>
          <p:cNvPr id="4" name="footer">
            <a:extLst>
              <a:ext uri="{FF2B5EF4-FFF2-40B4-BE49-F238E27FC236}">
                <a16:creationId xmlns:a16="http://schemas.microsoft.com/office/drawing/2014/main" id="{127F4689-B8DE-4680-9A8A-36BD8E99F815}"/>
              </a:ext>
            </a:extLst>
          </p:cNvPr>
          <p:cNvSpPr>
            <a:spLocks noGrp="1"/>
          </p:cNvSpPr>
          <p:nvPr/>
        </p:nvSpPr>
        <p:spPr>
          <a:xfrm>
            <a:off x="609600" y="6477000"/>
            <a:ext cx="9144000" cy="2381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l">
              <a:defRPr sz="1275" b="0">
                <a:solidFill>
                  <a:srgbClr val="566C8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566C83"/>
                </a:solidFill>
                <a:latin typeface="Microsoft YaHei"/>
                <a:ea typeface="Microsoft YaHei"/>
                <a:cs typeface="Microsoft YaHei"/>
              </a:rPr>
              <a:t>Prism · 实际数据与验证</a:t>
            </a:r>
          </a:p>
        </p:txBody>
      </p:sp>
      <p:sp>
        <p:nvSpPr>
          <p:cNvPr id="5" name="page-number">
            <a:extLst>
              <a:ext uri="{FF2B5EF4-FFF2-40B4-BE49-F238E27FC236}">
                <a16:creationId xmlns:a16="http://schemas.microsoft.com/office/drawing/2014/main" id="{A8C9DA8C-13D4-4A8D-ADCB-EFE0EAF4238B}"/>
              </a:ext>
            </a:extLst>
          </p:cNvPr>
          <p:cNvSpPr>
            <a:spLocks noGrp="1"/>
          </p:cNvSpPr>
          <p:nvPr/>
        </p:nvSpPr>
        <p:spPr>
          <a:xfrm>
            <a:off x="11049000" y="6477000"/>
            <a:ext cx="523875" cy="2381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r">
              <a:defRPr sz="1275" b="0">
                <a:solidFill>
                  <a:srgbClr val="566C8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566C83"/>
                </a:solidFill>
                <a:latin typeface="Microsoft YaHei"/>
                <a:ea typeface="Microsoft YaHei"/>
                <a:cs typeface="Microsoft YaHei"/>
              </a:rPr>
              <a:t>25</a:t>
            </a:r>
          </a:p>
        </p:txBody>
      </p:sp>
      <p:graphicFrame>
        <p:nvGraphicFramePr>
          <p:cNvPr id="12" name="表格 11"/>
          <p:cNvGraphicFramePr/>
          <p:nvPr/>
        </p:nvGraphicFramePr>
        <p:xfrm>
          <a:off x="609600" y="1743075"/>
          <a:ext cx="10972800" cy="3400425"/>
        </p:xfrm>
        <a:graphic>
          <a:graphicData uri="http://schemas.openxmlformats.org/drawingml/2006/table">
            <a:tbl>
              <a:tblPr/>
              <a:tblGrid>
                <a:gridCol w="32861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8097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09562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7813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566738"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20344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核心技术</a:t>
                      </a:r>
                    </a:p>
                  </a:txBody>
                  <a:tcPr>
                    <a:solidFill>
                      <a:srgbClr val="E7E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20344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创新条目</a:t>
                      </a:r>
                    </a:p>
                  </a:txBody>
                  <a:tcPr>
                    <a:solidFill>
                      <a:srgbClr val="E7E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20344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关键模块</a:t>
                      </a:r>
                    </a:p>
                  </a:txBody>
                  <a:tcPr>
                    <a:solidFill>
                      <a:srgbClr val="E7E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20344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主要输出</a:t>
                      </a:r>
                    </a:p>
                  </a:txBody>
                  <a:tcPr>
                    <a:solidFill>
                      <a:srgbClr val="E7E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66738"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20344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画像与预算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20344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6.1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20344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profile / risk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20344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风险约束与超限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66738"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20344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来源与证据</a:t>
                      </a:r>
                    </a:p>
                  </a:txBody>
                  <a:tcPr>
                    <a:solidFill>
                      <a:srgbClr val="F6F8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20344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6.2</a:t>
                      </a:r>
                    </a:p>
                  </a:txBody>
                  <a:tcPr>
                    <a:solidFill>
                      <a:srgbClr val="F6F8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20344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research / contracts</a:t>
                      </a:r>
                    </a:p>
                  </a:txBody>
                  <a:tcPr>
                    <a:solidFill>
                      <a:srgbClr val="F6F8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20344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验证状态与引用</a:t>
                      </a:r>
                    </a:p>
                  </a:txBody>
                  <a:tcPr>
                    <a:solidFill>
                      <a:srgbClr val="F6F8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66738"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20344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暴露与集中度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20344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支撑 6.1、6.3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20344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portfolio / risk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20344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暴露、权重与 HHI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66738"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20344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再平衡</a:t>
                      </a:r>
                    </a:p>
                  </a:txBody>
                  <a:tcPr>
                    <a:solidFill>
                      <a:srgbClr val="F6F8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20344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6.3</a:t>
                      </a:r>
                    </a:p>
                  </a:txBody>
                  <a:tcPr>
                    <a:solidFill>
                      <a:srgbClr val="F6F8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20344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service / rebalancing</a:t>
                      </a:r>
                    </a:p>
                  </a:txBody>
                  <a:tcPr>
                    <a:solidFill>
                      <a:srgbClr val="F6F8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20344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数量、费用与现金</a:t>
                      </a:r>
                    </a:p>
                  </a:txBody>
                  <a:tcPr>
                    <a:solidFill>
                      <a:srgbClr val="F6F8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66738"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20344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专业协作与双闸门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20344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6.4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20344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orchestration / gates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20344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建议资格与回执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095141079"/>
      </p:ext>
    </p:extLst>
  </p:cSld>
  <p:clrMapOvr>
    <a:masterClrMapping/>
  </p:clrMapOvr>
  <p:transition>
    <p:fade thruBlk="1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6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460"/>
                            </p:stCondLst>
                            <p:childTnLst>
                              <p:par>
                                <p:cTn id="9" presetID="10" presetClass="entr" presetSubtype="0" fill="hold" grpId="0" nodeType="afterEffect">
                                  <p:stCondLst>
                                    <p:cond delay="6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4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920"/>
                            </p:stCondLst>
                            <p:childTnLst>
                              <p:par>
                                <p:cTn id="13" presetID="10" presetClass="entr" presetSubtype="0" fill="hold" nodeType="afterEffect">
                                  <p:stCondLst>
                                    <p:cond delay="6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4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1380"/>
                            </p:stCondLst>
                            <p:childTnLst>
                              <p:par>
                                <p:cTn id="17" presetID="10" presetClass="entr" presetSubtype="0" fill="hold" grpId="0" nodeType="afterEffect">
                                  <p:stCondLst>
                                    <p:cond delay="6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4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1840"/>
                            </p:stCondLst>
                            <p:childTnLst>
                              <p:par>
                                <p:cTn id="21" presetID="10" presetClass="entr" presetSubtype="0" fill="hold" grpId="0" nodeType="afterEffect">
                                  <p:stCondLst>
                                    <p:cond delay="6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4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2300"/>
                            </p:stCondLst>
                            <p:childTnLst>
                              <p:par>
                                <p:cTn id="25" presetID="10" presetClass="entr" presetSubtype="0" fill="hold" grpId="0" nodeType="afterEffect">
                                  <p:stCondLst>
                                    <p:cond delay="6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4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  <p:bldP spid="2" grpId="0"/>
      <p:bldP spid="3" grpId="0"/>
      <p:bldP spid="4" grpId="0"/>
      <p:bldP spid="5" grpId="0"/>
    </p:bldLst>
  </p:timing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2160</Words>
  <Application>Microsoft Office PowerPoint</Application>
  <DocSecurity>0</DocSecurity>
  <PresentationFormat>宽屏</PresentationFormat>
  <Paragraphs>482</Paragraphs>
  <Slides>25</Slides>
  <Notes>25</Notes>
  <HiddenSlides>0</HiddenSlides>
  <MMClips>0</MMClips>
  <ScaleCrop>false</ScaleCrop>
  <HeadingPairs>
    <vt:vector size="6" baseType="variant">
      <vt:variant>
        <vt:lpstr>已用的字体</vt:lpstr>
      </vt:variant>
      <vt:variant>
        <vt:i4>2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25</vt:i4>
      </vt:variant>
    </vt:vector>
  </HeadingPairs>
  <TitlesOfParts>
    <vt:vector size="28" baseType="lpstr">
      <vt:lpstr>Microsoft YaHei</vt:lpstr>
      <vt:lpstr>Calibri</vt:lpstr>
      <vt:lpstr>ChatGPT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</dc:title>
  <dc:creator>Walnut Exporter</dc:creator>
  <cp:lastModifiedBy>粽子 稻叶</cp:lastModifiedBy>
  <cp:revision>1</cp:revision>
  <dcterms:created xsi:type="dcterms:W3CDTF">2026-10-04T14:05:48Z</dcterms:created>
  <dcterms:modified xsi:type="dcterms:W3CDTF">2026-10-04T14:06:18Z</dcterms:modified>
</cp:coreProperties>
</file>