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自然语言或明确语义规则提出目录内定义草稿。引用与依赖校验通过后，用户确认保存。主体、期间、单位与分母检查在程序执行时进行。示意数据：20万元净利润除以100万元营业收入，净利率为20%。CALCULATED不等于事实已验证。实现依据：app/service/research_method_builder.py；app/service/personal_research.py。</a:t>
            </a:r>
          </a:p>
          <a:p>
            <a:r>
              <a:t>来源图片：docs/submission/figures/innovation-details-20261007/01-constrained-method-definition.png。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复核指纹覆盖配置、状态、来源与指标值。相同内容仍更新复核时间，不新增变化事件。不同内容记录事件。H1、H2为符号标识。资料不足与方法版本变化保留明确状态。实现依据：app/service/investment_hypotheses.py；app/service/research_lab_store.py。</a:t>
            </a:r>
          </a:p>
          <a:p>
            <a:r>
              <a:t>来源图片：docs/submission/figures/innovation-details-20261007/02-content-fingerprint-events.png。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示意组合为直接持仓10000元与ETF10000元。ETF披露公司A占基金10%，间接敞口1000元，直接和间接合计11000元，占总资产55%。未披露90%即9000元单列，不外推。公告文本变化不表示股价因果。实现依据：app/service/announcement_impact.py；app/portfolio/exposure.py。</a:t>
            </a:r>
          </a:p>
          <a:p>
            <a:r>
              <a:t>来源图片：docs/submission/figures/innovation-details-20261007/03-announcement-exposure-paths.png。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策略共享基线、报价和费用条件，各自保留虚拟账本。指标条件选择目标，复用调仓服务。调仓规则、组合体检、完整风险预算及现金数量条件共同控制是否应用交易。未通过时保留数量和现金，报价变化仍可改变估值。三个检查阶段不是风险与合规双闸门的替代名称。只记录前向虚拟测算，不提交真实订单。实现依据：app/service/shadow_portfolios.py；app/service/portfolio_rebalancing.py。</a:t>
            </a:r>
          </a:p>
          <a:p>
            <a:r>
              <a:t>来源图片：docs/submission/figures/innovation-details-20261007/04-gated-virtual-ledger.png。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示意数据：2026年10月7日初始现金30000元，10月8日需求40000元分配30000元，近期缺口10000元，分配后余额0元。11月7日确认收入20000元到期入池，后续可用余额20000元。未来收入不提前使用，不追溯消除已记录近期缺口，同一笔资金只分配一次。实现依据：app/service/funding_goals.py。</a:t>
            </a:r>
          </a:p>
          <a:p>
            <a:r>
              <a:t>来源图片：docs/submission/figures/innovation-details-20261007/05-dated-funding-pool.png。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9F3FF"/>
            </a:gs>
            <a:gs pos="17000">
              <a:srgbClr val="FFFFFF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FE4C7189-AEE5-4976-8BB6-CB319B5D614A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2776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3225" b="1">
                <a:solidFill>
                  <a:srgbClr val="184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4A7A"/>
                </a:solidFill>
                <a:latin typeface="Microsoft YaHei"/>
                <a:ea typeface="Microsoft YaHei"/>
                <a:cs typeface="Microsoft YaHei"/>
              </a:rPr>
              <a:t>受约束的研究定义生成</a:t>
            </a:r>
          </a:p>
        </p:txBody>
      </p:sp>
      <p:pic>
        <p:nvPicPr>
          <p:cNvPr id="10" name="part-01-研究描述"/>
          <p:cNvPicPr>
            <a:picLocks noChangeAspect="1"/>
          </p:cNvPicPr>
          <p:nvPr/>
        </p:nvPicPr>
        <p:blipFill>
          <a:blip r:embed="rId3"/>
          <a:srcRect t="21254" r="88636" b="21892"/>
          <a:stretch>
            <a:fillRect/>
          </a:stretch>
        </p:blipFill>
        <p:spPr>
          <a:xfrm>
            <a:off x="457200" y="2034294"/>
            <a:ext cx="1281545" cy="3608562"/>
          </a:xfrm>
          <a:prstGeom prst="rect">
            <a:avLst/>
          </a:prstGeom>
        </p:spPr>
      </p:pic>
      <p:pic>
        <p:nvPicPr>
          <p:cNvPr id="11" name="part-02-意图解析"/>
          <p:cNvPicPr>
            <a:picLocks noChangeAspect="1"/>
          </p:cNvPicPr>
          <p:nvPr/>
        </p:nvPicPr>
        <p:blipFill>
          <a:blip r:embed="rId3"/>
          <a:srcRect l="11364" t="21254" r="76077" b="21892"/>
          <a:stretch>
            <a:fillRect/>
          </a:stretch>
        </p:blipFill>
        <p:spPr>
          <a:xfrm>
            <a:off x="1738745" y="2034294"/>
            <a:ext cx="1416445" cy="3608562"/>
          </a:xfrm>
          <a:prstGeom prst="rect">
            <a:avLst/>
          </a:prstGeom>
        </p:spPr>
      </p:pic>
      <p:pic>
        <p:nvPicPr>
          <p:cNvPr id="12" name="part-03-字段与算子目录"/>
          <p:cNvPicPr>
            <a:picLocks noChangeAspect="1"/>
          </p:cNvPicPr>
          <p:nvPr/>
        </p:nvPicPr>
        <p:blipFill>
          <a:blip r:embed="rId3"/>
          <a:srcRect l="23923" t="21254" r="58732" b="21892"/>
          <a:stretch>
            <a:fillRect/>
          </a:stretch>
        </p:blipFill>
        <p:spPr>
          <a:xfrm>
            <a:off x="3155190" y="2034294"/>
            <a:ext cx="1956043" cy="3608562"/>
          </a:xfrm>
          <a:prstGeom prst="rect">
            <a:avLst/>
          </a:prstGeom>
        </p:spPr>
      </p:pic>
      <p:pic>
        <p:nvPicPr>
          <p:cNvPr id="13" name="part-04-指标与观察定义"/>
          <p:cNvPicPr>
            <a:picLocks noChangeAspect="1"/>
          </p:cNvPicPr>
          <p:nvPr/>
        </p:nvPicPr>
        <p:blipFill>
          <a:blip r:embed="rId3"/>
          <a:srcRect l="41268" t="21254" r="31519" b="21892"/>
          <a:stretch>
            <a:fillRect/>
          </a:stretch>
        </p:blipFill>
        <p:spPr>
          <a:xfrm>
            <a:off x="5111233" y="2034294"/>
            <a:ext cx="3068964" cy="3608562"/>
          </a:xfrm>
          <a:prstGeom prst="rect">
            <a:avLst/>
          </a:prstGeom>
        </p:spPr>
      </p:pic>
      <p:pic>
        <p:nvPicPr>
          <p:cNvPr id="14" name="part-05-用户确认"/>
          <p:cNvPicPr>
            <a:picLocks noChangeAspect="1"/>
          </p:cNvPicPr>
          <p:nvPr/>
        </p:nvPicPr>
        <p:blipFill>
          <a:blip r:embed="rId3"/>
          <a:srcRect l="68481" t="21254" r="21651" b="21892"/>
          <a:stretch>
            <a:fillRect/>
          </a:stretch>
        </p:blipFill>
        <p:spPr>
          <a:xfrm>
            <a:off x="8180198" y="2034294"/>
            <a:ext cx="1112921" cy="3608562"/>
          </a:xfrm>
          <a:prstGeom prst="rect">
            <a:avLst/>
          </a:prstGeom>
        </p:spPr>
      </p:pic>
      <p:pic>
        <p:nvPicPr>
          <p:cNvPr id="15" name="part-06-确定性程序计算"/>
          <p:cNvPicPr>
            <a:picLocks noChangeAspect="1"/>
          </p:cNvPicPr>
          <p:nvPr/>
        </p:nvPicPr>
        <p:blipFill>
          <a:blip r:embed="rId3"/>
          <a:srcRect l="78349" t="21254" r="9390" b="21892"/>
          <a:stretch>
            <a:fillRect/>
          </a:stretch>
        </p:blipFill>
        <p:spPr>
          <a:xfrm>
            <a:off x="9293119" y="2034294"/>
            <a:ext cx="1382720" cy="3608562"/>
          </a:xfrm>
          <a:prstGeom prst="rect">
            <a:avLst/>
          </a:prstGeom>
        </p:spPr>
      </p:pic>
      <p:pic>
        <p:nvPicPr>
          <p:cNvPr id="16" name="part-07-计算结果"/>
          <p:cNvPicPr>
            <a:picLocks noChangeAspect="1"/>
          </p:cNvPicPr>
          <p:nvPr/>
        </p:nvPicPr>
        <p:blipFill>
          <a:blip r:embed="rId3"/>
          <a:srcRect l="90610" t="21254" b="21892"/>
          <a:stretch>
            <a:fillRect/>
          </a:stretch>
        </p:blipFill>
        <p:spPr>
          <a:xfrm>
            <a:off x="10675839" y="2034294"/>
            <a:ext cx="1058961" cy="360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7843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2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8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4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6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9F3FF"/>
            </a:gs>
            <a:gs pos="17000">
              <a:srgbClr val="FFFFFF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FBE0BCFE-C3A9-4281-958C-9B93F551F201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2776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3225" b="1">
                <a:solidFill>
                  <a:srgbClr val="184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4A7A"/>
                </a:solidFill>
                <a:latin typeface="Microsoft YaHei"/>
                <a:ea typeface="Microsoft YaHei"/>
                <a:cs typeface="Microsoft YaHei"/>
              </a:rPr>
              <a:t>内容指纹驱动的变化记录</a:t>
            </a:r>
          </a:p>
        </p:txBody>
      </p:sp>
      <p:pic>
        <p:nvPicPr>
          <p:cNvPr id="9" name="part-01-上次复核"/>
          <p:cNvPicPr>
            <a:picLocks noChangeAspect="1"/>
          </p:cNvPicPr>
          <p:nvPr/>
        </p:nvPicPr>
        <p:blipFill>
          <a:blip r:embed="rId3"/>
          <a:srcRect t="3719" r="78768" b="51647"/>
          <a:stretch>
            <a:fillRect/>
          </a:stretch>
        </p:blipFill>
        <p:spPr>
          <a:xfrm>
            <a:off x="1010920" y="1238250"/>
            <a:ext cx="2159334" cy="2554705"/>
          </a:xfrm>
          <a:prstGeom prst="rect">
            <a:avLst/>
          </a:prstGeom>
        </p:spPr>
      </p:pic>
      <p:pic>
        <p:nvPicPr>
          <p:cNvPr id="10" name="part-02-内容指纹生成"/>
          <p:cNvPicPr>
            <a:picLocks noChangeAspect="1"/>
          </p:cNvPicPr>
          <p:nvPr/>
        </p:nvPicPr>
        <p:blipFill>
          <a:blip r:embed="rId3"/>
          <a:srcRect l="21232" t="3719" r="50658" b="5420"/>
          <a:stretch>
            <a:fillRect/>
          </a:stretch>
        </p:blipFill>
        <p:spPr>
          <a:xfrm>
            <a:off x="3170254" y="1238250"/>
            <a:ext cx="2858837" cy="5200650"/>
          </a:xfrm>
          <a:prstGeom prst="rect">
            <a:avLst/>
          </a:prstGeom>
        </p:spPr>
      </p:pic>
      <p:pic>
        <p:nvPicPr>
          <p:cNvPr id="11" name="part-03-指纹比较"/>
          <p:cNvPicPr>
            <a:picLocks noChangeAspect="1"/>
          </p:cNvPicPr>
          <p:nvPr/>
        </p:nvPicPr>
        <p:blipFill>
          <a:blip r:embed="rId3"/>
          <a:srcRect l="49342" t="3719" r="37201" b="5420"/>
          <a:stretch>
            <a:fillRect/>
          </a:stretch>
        </p:blipFill>
        <p:spPr>
          <a:xfrm>
            <a:off x="6029091" y="1238250"/>
            <a:ext cx="1368592" cy="5200650"/>
          </a:xfrm>
          <a:prstGeom prst="rect">
            <a:avLst/>
          </a:prstGeom>
        </p:spPr>
      </p:pic>
      <p:pic>
        <p:nvPicPr>
          <p:cNvPr id="12" name="part-04-相同内容处理"/>
          <p:cNvPicPr>
            <a:picLocks noChangeAspect="1"/>
          </p:cNvPicPr>
          <p:nvPr/>
        </p:nvPicPr>
        <p:blipFill>
          <a:blip r:embed="rId3"/>
          <a:srcRect l="62799" t="3719" b="51647"/>
          <a:stretch>
            <a:fillRect/>
          </a:stretch>
        </p:blipFill>
        <p:spPr>
          <a:xfrm>
            <a:off x="7397683" y="1238250"/>
            <a:ext cx="3783397" cy="2554705"/>
          </a:xfrm>
          <a:prstGeom prst="rect">
            <a:avLst/>
          </a:prstGeom>
        </p:spPr>
      </p:pic>
      <p:pic>
        <p:nvPicPr>
          <p:cNvPr id="13" name="part-05-本次复核"/>
          <p:cNvPicPr>
            <a:picLocks noChangeAspect="1"/>
          </p:cNvPicPr>
          <p:nvPr/>
        </p:nvPicPr>
        <p:blipFill>
          <a:blip r:embed="rId3"/>
          <a:srcRect t="48353" r="78768" b="5420"/>
          <a:stretch>
            <a:fillRect/>
          </a:stretch>
        </p:blipFill>
        <p:spPr>
          <a:xfrm>
            <a:off x="1010920" y="3792955"/>
            <a:ext cx="2159334" cy="2645945"/>
          </a:xfrm>
          <a:prstGeom prst="rect">
            <a:avLst/>
          </a:prstGeom>
        </p:spPr>
      </p:pic>
      <p:pic>
        <p:nvPicPr>
          <p:cNvPr id="14" name="part-06-变化事件记录"/>
          <p:cNvPicPr>
            <a:picLocks noChangeAspect="1"/>
          </p:cNvPicPr>
          <p:nvPr/>
        </p:nvPicPr>
        <p:blipFill>
          <a:blip r:embed="rId3"/>
          <a:srcRect l="62799" t="48353" b="5420"/>
          <a:stretch>
            <a:fillRect/>
          </a:stretch>
        </p:blipFill>
        <p:spPr>
          <a:xfrm>
            <a:off x="7397683" y="3792955"/>
            <a:ext cx="3783397" cy="264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2419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2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8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4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9F3FF"/>
            </a:gs>
            <a:gs pos="17000">
              <a:srgbClr val="FFFFFF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7F93C56D-44C8-4B0C-885C-8F84DA6176EA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2776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3225" b="1">
                <a:solidFill>
                  <a:srgbClr val="184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4A7A"/>
                </a:solidFill>
                <a:latin typeface="Microsoft YaHei"/>
                <a:ea typeface="Microsoft YaHei"/>
                <a:cs typeface="Microsoft YaHei"/>
              </a:rPr>
              <a:t>公告主体与持仓敞口关联</a:t>
            </a:r>
          </a:p>
        </p:txBody>
      </p:sp>
      <p:pic>
        <p:nvPicPr>
          <p:cNvPr id="12" name="part-01-公告主体"/>
          <p:cNvPicPr>
            <a:picLocks noChangeAspect="1"/>
          </p:cNvPicPr>
          <p:nvPr/>
        </p:nvPicPr>
        <p:blipFill>
          <a:blip r:embed="rId3"/>
          <a:srcRect l="598" t="531" r="79067" b="58555"/>
          <a:stretch>
            <a:fillRect/>
          </a:stretch>
        </p:blipFill>
        <p:spPr>
          <a:xfrm>
            <a:off x="1296294" y="1238250"/>
            <a:ext cx="1975666" cy="2237151"/>
          </a:xfrm>
          <a:prstGeom prst="rect">
            <a:avLst/>
          </a:prstGeom>
        </p:spPr>
      </p:pic>
      <p:pic>
        <p:nvPicPr>
          <p:cNvPr id="13" name="part-02-直接持仓"/>
          <p:cNvPicPr>
            <a:picLocks noChangeAspect="1"/>
          </p:cNvPicPr>
          <p:nvPr/>
        </p:nvPicPr>
        <p:blipFill>
          <a:blip r:embed="rId3"/>
          <a:srcRect l="20933" t="531" r="61124" b="52179"/>
          <a:stretch>
            <a:fillRect/>
          </a:stretch>
        </p:blipFill>
        <p:spPr>
          <a:xfrm>
            <a:off x="3271960" y="1238250"/>
            <a:ext cx="1743235" cy="2585798"/>
          </a:xfrm>
          <a:prstGeom prst="rect">
            <a:avLst/>
          </a:prstGeom>
        </p:spPr>
      </p:pic>
      <p:pic>
        <p:nvPicPr>
          <p:cNvPr id="14" name="part-03-公司主体关联"/>
          <p:cNvPicPr>
            <a:picLocks noChangeAspect="1"/>
          </p:cNvPicPr>
          <p:nvPr/>
        </p:nvPicPr>
        <p:blipFill>
          <a:blip r:embed="rId3"/>
          <a:srcRect l="38876" t="531" r="40191" b="52179"/>
          <a:stretch>
            <a:fillRect/>
          </a:stretch>
        </p:blipFill>
        <p:spPr>
          <a:xfrm>
            <a:off x="5015195" y="1238250"/>
            <a:ext cx="2033774" cy="2585798"/>
          </a:xfrm>
          <a:prstGeom prst="rect">
            <a:avLst/>
          </a:prstGeom>
        </p:spPr>
      </p:pic>
      <p:pic>
        <p:nvPicPr>
          <p:cNvPr id="15" name="part-04-敞口汇合路径"/>
          <p:cNvPicPr>
            <a:picLocks noChangeAspect="1"/>
          </p:cNvPicPr>
          <p:nvPr/>
        </p:nvPicPr>
        <p:blipFill>
          <a:blip r:embed="rId3"/>
          <a:srcRect l="59809" t="531" r="23445" b="4357"/>
          <a:stretch>
            <a:fillRect/>
          </a:stretch>
        </p:blipFill>
        <p:spPr>
          <a:xfrm>
            <a:off x="7048968" y="1238250"/>
            <a:ext cx="1627019" cy="5200650"/>
          </a:xfrm>
          <a:prstGeom prst="rect">
            <a:avLst/>
          </a:prstGeom>
        </p:spPr>
      </p:pic>
      <p:pic>
        <p:nvPicPr>
          <p:cNvPr id="16" name="part-05-已知敞口结果"/>
          <p:cNvPicPr>
            <a:picLocks noChangeAspect="1"/>
          </p:cNvPicPr>
          <p:nvPr/>
        </p:nvPicPr>
        <p:blipFill>
          <a:blip r:embed="rId3"/>
          <a:srcRect l="76555" t="531" r="598" b="4357"/>
          <a:stretch>
            <a:fillRect/>
          </a:stretch>
        </p:blipFill>
        <p:spPr>
          <a:xfrm>
            <a:off x="8675987" y="1238250"/>
            <a:ext cx="2219719" cy="5200650"/>
          </a:xfrm>
          <a:prstGeom prst="rect">
            <a:avLst/>
          </a:prstGeom>
        </p:spPr>
      </p:pic>
      <p:pic>
        <p:nvPicPr>
          <p:cNvPr id="17" name="part-06-基金披露与残余"/>
          <p:cNvPicPr>
            <a:picLocks noChangeAspect="1"/>
          </p:cNvPicPr>
          <p:nvPr/>
        </p:nvPicPr>
        <p:blipFill>
          <a:blip r:embed="rId3"/>
          <a:srcRect l="598" t="41445" r="79067" b="4357"/>
          <a:stretch>
            <a:fillRect/>
          </a:stretch>
        </p:blipFill>
        <p:spPr>
          <a:xfrm>
            <a:off x="1296294" y="3475401"/>
            <a:ext cx="1975666" cy="2963499"/>
          </a:xfrm>
          <a:prstGeom prst="rect">
            <a:avLst/>
          </a:prstGeom>
        </p:spPr>
      </p:pic>
      <p:pic>
        <p:nvPicPr>
          <p:cNvPr id="18" name="part-07-成分穿透"/>
          <p:cNvPicPr>
            <a:picLocks noChangeAspect="1"/>
          </p:cNvPicPr>
          <p:nvPr/>
        </p:nvPicPr>
        <p:blipFill>
          <a:blip r:embed="rId3"/>
          <a:srcRect l="20933" t="47821" r="61124" b="4357"/>
          <a:stretch>
            <a:fillRect/>
          </a:stretch>
        </p:blipFill>
        <p:spPr>
          <a:xfrm>
            <a:off x="3271960" y="3824048"/>
            <a:ext cx="1743235" cy="2614852"/>
          </a:xfrm>
          <a:prstGeom prst="rect">
            <a:avLst/>
          </a:prstGeom>
        </p:spPr>
      </p:pic>
      <p:pic>
        <p:nvPicPr>
          <p:cNvPr id="19" name="part-08-间接敞口"/>
          <p:cNvPicPr>
            <a:picLocks noChangeAspect="1"/>
          </p:cNvPicPr>
          <p:nvPr/>
        </p:nvPicPr>
        <p:blipFill>
          <a:blip r:embed="rId3"/>
          <a:srcRect l="38876" t="47821" r="40191" b="30925"/>
          <a:stretch>
            <a:fillRect/>
          </a:stretch>
        </p:blipFill>
        <p:spPr>
          <a:xfrm>
            <a:off x="5015195" y="3824048"/>
            <a:ext cx="2033774" cy="1162156"/>
          </a:xfrm>
          <a:prstGeom prst="rect">
            <a:avLst/>
          </a:prstGeom>
        </p:spPr>
      </p:pic>
      <p:pic>
        <p:nvPicPr>
          <p:cNvPr id="20" name="part-09-未穿透残余"/>
          <p:cNvPicPr>
            <a:picLocks noChangeAspect="1"/>
          </p:cNvPicPr>
          <p:nvPr/>
        </p:nvPicPr>
        <p:blipFill>
          <a:blip r:embed="rId3"/>
          <a:srcRect l="38876" t="69075" r="40191" b="4357"/>
          <a:stretch>
            <a:fillRect/>
          </a:stretch>
        </p:blipFill>
        <p:spPr>
          <a:xfrm>
            <a:off x="5015195" y="4986204"/>
            <a:ext cx="2033774" cy="145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73520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2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8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4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6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2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8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9F3FF"/>
            </a:gs>
            <a:gs pos="17000">
              <a:srgbClr val="FFFFFF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99991758-F632-4A64-BC42-C339B3AF880B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2776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3225" b="1">
                <a:solidFill>
                  <a:srgbClr val="184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4A7A"/>
                </a:solidFill>
                <a:latin typeface="Microsoft YaHei"/>
                <a:ea typeface="Microsoft YaHei"/>
                <a:cs typeface="Microsoft YaHei"/>
              </a:rPr>
              <a:t>风险检查后的虚拟账本更新</a:t>
            </a:r>
          </a:p>
        </p:txBody>
      </p:sp>
      <p:pic>
        <p:nvPicPr>
          <p:cNvPr id="17" name="part-01-共同报价与费用"/>
          <p:cNvPicPr>
            <a:picLocks noChangeAspect="1"/>
          </p:cNvPicPr>
          <p:nvPr/>
        </p:nvPicPr>
        <p:blipFill>
          <a:blip r:embed="rId3"/>
          <a:srcRect l="16148" t="5313" b="74495"/>
          <a:stretch>
            <a:fillRect/>
          </a:stretch>
        </p:blipFill>
        <p:spPr>
          <a:xfrm>
            <a:off x="2549533" y="1238250"/>
            <a:ext cx="8784712" cy="1190510"/>
          </a:xfrm>
          <a:prstGeom prst="rect">
            <a:avLst/>
          </a:prstGeom>
        </p:spPr>
      </p:pic>
      <p:pic>
        <p:nvPicPr>
          <p:cNvPr id="18" name="part-02-同一初始基线"/>
          <p:cNvPicPr>
            <a:picLocks noChangeAspect="1"/>
          </p:cNvPicPr>
          <p:nvPr/>
        </p:nvPicPr>
        <p:blipFill>
          <a:blip r:embed="rId3"/>
          <a:srcRect t="5313" r="83852" b="6482"/>
          <a:stretch>
            <a:fillRect/>
          </a:stretch>
        </p:blipFill>
        <p:spPr>
          <a:xfrm>
            <a:off x="857755" y="1238250"/>
            <a:ext cx="1691778" cy="5200650"/>
          </a:xfrm>
          <a:prstGeom prst="rect">
            <a:avLst/>
          </a:prstGeom>
        </p:spPr>
      </p:pic>
      <p:pic>
        <p:nvPicPr>
          <p:cNvPr id="19" name="part-03-策略A定义"/>
          <p:cNvPicPr>
            <a:picLocks noChangeAspect="1"/>
          </p:cNvPicPr>
          <p:nvPr/>
        </p:nvPicPr>
        <p:blipFill>
          <a:blip r:embed="rId3"/>
          <a:srcRect l="16148" t="25505" r="68002" b="42614"/>
          <a:stretch>
            <a:fillRect/>
          </a:stretch>
        </p:blipFill>
        <p:spPr>
          <a:xfrm>
            <a:off x="2549533" y="2428760"/>
            <a:ext cx="1660448" cy="1879753"/>
          </a:xfrm>
          <a:prstGeom prst="rect">
            <a:avLst/>
          </a:prstGeom>
        </p:spPr>
      </p:pic>
      <p:pic>
        <p:nvPicPr>
          <p:cNvPr id="20" name="part-04-策略A条件与目标"/>
          <p:cNvPicPr>
            <a:picLocks noChangeAspect="1"/>
          </p:cNvPicPr>
          <p:nvPr/>
        </p:nvPicPr>
        <p:blipFill>
          <a:blip r:embed="rId3"/>
          <a:srcRect l="31998" t="25505" r="57835" b="42614"/>
          <a:stretch>
            <a:fillRect/>
          </a:stretch>
        </p:blipFill>
        <p:spPr>
          <a:xfrm>
            <a:off x="4209981" y="2428760"/>
            <a:ext cx="1065193" cy="1879753"/>
          </a:xfrm>
          <a:prstGeom prst="rect">
            <a:avLst/>
          </a:prstGeom>
        </p:spPr>
      </p:pic>
      <p:pic>
        <p:nvPicPr>
          <p:cNvPr id="21" name="part-05-策略A调仓测算"/>
          <p:cNvPicPr>
            <a:picLocks noChangeAspect="1"/>
          </p:cNvPicPr>
          <p:nvPr/>
        </p:nvPicPr>
        <p:blipFill>
          <a:blip r:embed="rId3"/>
          <a:srcRect l="42165" t="25505" r="48266" b="42614"/>
          <a:stretch>
            <a:fillRect/>
          </a:stretch>
        </p:blipFill>
        <p:spPr>
          <a:xfrm>
            <a:off x="5275175" y="2428760"/>
            <a:ext cx="1002535" cy="1879753"/>
          </a:xfrm>
          <a:prstGeom prst="rect">
            <a:avLst/>
          </a:prstGeom>
        </p:spPr>
      </p:pic>
      <p:pic>
        <p:nvPicPr>
          <p:cNvPr id="22" name="part-06-策略A完整检查"/>
          <p:cNvPicPr>
            <a:picLocks noChangeAspect="1"/>
          </p:cNvPicPr>
          <p:nvPr/>
        </p:nvPicPr>
        <p:blipFill>
          <a:blip r:embed="rId3"/>
          <a:srcRect l="51734" t="25505" r="26734" b="42614"/>
          <a:stretch>
            <a:fillRect/>
          </a:stretch>
        </p:blipFill>
        <p:spPr>
          <a:xfrm>
            <a:off x="6277709" y="2428760"/>
            <a:ext cx="2255704" cy="1879753"/>
          </a:xfrm>
          <a:prstGeom prst="rect">
            <a:avLst/>
          </a:prstGeom>
        </p:spPr>
      </p:pic>
      <p:pic>
        <p:nvPicPr>
          <p:cNvPr id="23" name="part-07-策略A应用动作"/>
          <p:cNvPicPr>
            <a:picLocks noChangeAspect="1"/>
          </p:cNvPicPr>
          <p:nvPr/>
        </p:nvPicPr>
        <p:blipFill>
          <a:blip r:embed="rId3"/>
          <a:srcRect l="73266" t="25505" r="19856" b="42614"/>
          <a:stretch>
            <a:fillRect/>
          </a:stretch>
        </p:blipFill>
        <p:spPr>
          <a:xfrm>
            <a:off x="8533413" y="2428760"/>
            <a:ext cx="720572" cy="1879753"/>
          </a:xfrm>
          <a:prstGeom prst="rect">
            <a:avLst/>
          </a:prstGeom>
        </p:spPr>
      </p:pic>
      <p:pic>
        <p:nvPicPr>
          <p:cNvPr id="24" name="part-08-策略A虚拟账本"/>
          <p:cNvPicPr>
            <a:picLocks noChangeAspect="1"/>
          </p:cNvPicPr>
          <p:nvPr/>
        </p:nvPicPr>
        <p:blipFill>
          <a:blip r:embed="rId3"/>
          <a:srcRect l="80144" t="25505" b="42614"/>
          <a:stretch>
            <a:fillRect/>
          </a:stretch>
        </p:blipFill>
        <p:spPr>
          <a:xfrm>
            <a:off x="9253985" y="2428760"/>
            <a:ext cx="2080260" cy="1879753"/>
          </a:xfrm>
          <a:prstGeom prst="rect">
            <a:avLst/>
          </a:prstGeom>
        </p:spPr>
      </p:pic>
      <p:pic>
        <p:nvPicPr>
          <p:cNvPr id="25" name="part-09-策略B定义"/>
          <p:cNvPicPr>
            <a:picLocks noChangeAspect="1"/>
          </p:cNvPicPr>
          <p:nvPr/>
        </p:nvPicPr>
        <p:blipFill>
          <a:blip r:embed="rId3"/>
          <a:srcRect l="16148" t="57386" r="68002" b="6482"/>
          <a:stretch>
            <a:fillRect/>
          </a:stretch>
        </p:blipFill>
        <p:spPr>
          <a:xfrm>
            <a:off x="2549533" y="4308513"/>
            <a:ext cx="1660448" cy="2130387"/>
          </a:xfrm>
          <a:prstGeom prst="rect">
            <a:avLst/>
          </a:prstGeom>
        </p:spPr>
      </p:pic>
      <p:pic>
        <p:nvPicPr>
          <p:cNvPr id="26" name="part-10-策略B条件与目标"/>
          <p:cNvPicPr>
            <a:picLocks noChangeAspect="1"/>
          </p:cNvPicPr>
          <p:nvPr/>
        </p:nvPicPr>
        <p:blipFill>
          <a:blip r:embed="rId3"/>
          <a:srcRect l="31998" t="57386" r="57835" b="6482"/>
          <a:stretch>
            <a:fillRect/>
          </a:stretch>
        </p:blipFill>
        <p:spPr>
          <a:xfrm>
            <a:off x="4209981" y="4308513"/>
            <a:ext cx="1065193" cy="2130387"/>
          </a:xfrm>
          <a:prstGeom prst="rect">
            <a:avLst/>
          </a:prstGeom>
        </p:spPr>
      </p:pic>
      <p:pic>
        <p:nvPicPr>
          <p:cNvPr id="27" name="part-11-策略B调仓测算"/>
          <p:cNvPicPr>
            <a:picLocks noChangeAspect="1"/>
          </p:cNvPicPr>
          <p:nvPr/>
        </p:nvPicPr>
        <p:blipFill>
          <a:blip r:embed="rId3"/>
          <a:srcRect l="42165" t="57386" r="48266" b="6482"/>
          <a:stretch>
            <a:fillRect/>
          </a:stretch>
        </p:blipFill>
        <p:spPr>
          <a:xfrm>
            <a:off x="5275175" y="4308513"/>
            <a:ext cx="1002535" cy="2130387"/>
          </a:xfrm>
          <a:prstGeom prst="rect">
            <a:avLst/>
          </a:prstGeom>
        </p:spPr>
      </p:pic>
      <p:pic>
        <p:nvPicPr>
          <p:cNvPr id="28" name="part-12-策略B完整检查"/>
          <p:cNvPicPr>
            <a:picLocks noChangeAspect="1"/>
          </p:cNvPicPr>
          <p:nvPr/>
        </p:nvPicPr>
        <p:blipFill>
          <a:blip r:embed="rId3"/>
          <a:srcRect l="51734" t="57386" r="24641" b="6482"/>
          <a:stretch>
            <a:fillRect/>
          </a:stretch>
        </p:blipFill>
        <p:spPr>
          <a:xfrm>
            <a:off x="6277709" y="4308513"/>
            <a:ext cx="2475008" cy="2130387"/>
          </a:xfrm>
          <a:prstGeom prst="rect">
            <a:avLst/>
          </a:prstGeom>
        </p:spPr>
      </p:pic>
      <p:pic>
        <p:nvPicPr>
          <p:cNvPr id="29" name="part-13-策略B拦截边界"/>
          <p:cNvPicPr>
            <a:picLocks noChangeAspect="1"/>
          </p:cNvPicPr>
          <p:nvPr/>
        </p:nvPicPr>
        <p:blipFill>
          <a:blip r:embed="rId3"/>
          <a:srcRect l="75359" t="57386" r="18062" b="6482"/>
          <a:stretch>
            <a:fillRect/>
          </a:stretch>
        </p:blipFill>
        <p:spPr>
          <a:xfrm>
            <a:off x="8752718" y="4308513"/>
            <a:ext cx="689243" cy="2130387"/>
          </a:xfrm>
          <a:prstGeom prst="rect">
            <a:avLst/>
          </a:prstGeom>
        </p:spPr>
      </p:pic>
      <p:pic>
        <p:nvPicPr>
          <p:cNvPr id="30" name="part-14-策略B保留账本"/>
          <p:cNvPicPr>
            <a:picLocks noChangeAspect="1"/>
          </p:cNvPicPr>
          <p:nvPr/>
        </p:nvPicPr>
        <p:blipFill>
          <a:blip r:embed="rId3"/>
          <a:srcRect l="81938" t="57386" b="6482"/>
          <a:stretch>
            <a:fillRect/>
          </a:stretch>
        </p:blipFill>
        <p:spPr>
          <a:xfrm>
            <a:off x="9441960" y="4308513"/>
            <a:ext cx="1892285" cy="213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3301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2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8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4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6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2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8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4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46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92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38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9F3FF"/>
            </a:gs>
            <a:gs pos="17000">
              <a:srgbClr val="FFFFFF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73EF9677-E294-4E7D-9BA6-C0A8420D8CB9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112776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 sz="3225" b="1">
                <a:solidFill>
                  <a:srgbClr val="184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4A7A"/>
                </a:solidFill>
                <a:latin typeface="Microsoft YaHei"/>
                <a:ea typeface="Microsoft YaHei"/>
                <a:cs typeface="Microsoft YaHei"/>
              </a:rPr>
              <a:t>按日期分配同一资金池</a:t>
            </a:r>
          </a:p>
        </p:txBody>
      </p:sp>
      <p:pic>
        <p:nvPicPr>
          <p:cNvPr id="9" name="part-01-初始现金"/>
          <p:cNvPicPr>
            <a:picLocks noChangeAspect="1"/>
          </p:cNvPicPr>
          <p:nvPr/>
        </p:nvPicPr>
        <p:blipFill>
          <a:blip r:embed="rId3"/>
          <a:srcRect l="3289" t="7970" r="75478" b="19766"/>
          <a:stretch>
            <a:fillRect/>
          </a:stretch>
        </p:blipFill>
        <p:spPr>
          <a:xfrm>
            <a:off x="911602" y="1238250"/>
            <a:ext cx="2307788" cy="4420553"/>
          </a:xfrm>
          <a:prstGeom prst="rect">
            <a:avLst/>
          </a:prstGeom>
        </p:spPr>
      </p:pic>
      <p:pic>
        <p:nvPicPr>
          <p:cNvPr id="10" name="part-02-当前分配与余额"/>
          <p:cNvPicPr>
            <a:picLocks noChangeAspect="1"/>
          </p:cNvPicPr>
          <p:nvPr/>
        </p:nvPicPr>
        <p:blipFill>
          <a:blip r:embed="rId3"/>
          <a:srcRect l="24522" t="7970" r="61423" b="19766"/>
          <a:stretch>
            <a:fillRect/>
          </a:stretch>
        </p:blipFill>
        <p:spPr>
          <a:xfrm>
            <a:off x="3219390" y="1238250"/>
            <a:ext cx="1527691" cy="4420553"/>
          </a:xfrm>
          <a:prstGeom prst="rect">
            <a:avLst/>
          </a:prstGeom>
        </p:spPr>
      </p:pic>
      <p:pic>
        <p:nvPicPr>
          <p:cNvPr id="11" name="part-03-近期需求与缺口"/>
          <p:cNvPicPr>
            <a:picLocks noChangeAspect="1"/>
          </p:cNvPicPr>
          <p:nvPr/>
        </p:nvPicPr>
        <p:blipFill>
          <a:blip r:embed="rId3"/>
          <a:srcRect l="38577" t="7970" r="40191" b="19766"/>
          <a:stretch>
            <a:fillRect/>
          </a:stretch>
        </p:blipFill>
        <p:spPr>
          <a:xfrm>
            <a:off x="4747081" y="1238250"/>
            <a:ext cx="2307788" cy="4420553"/>
          </a:xfrm>
          <a:prstGeom prst="rect">
            <a:avLst/>
          </a:prstGeom>
        </p:spPr>
      </p:pic>
      <p:pic>
        <p:nvPicPr>
          <p:cNvPr id="12" name="part-04-未来资金时间约束"/>
          <p:cNvPicPr>
            <a:picLocks noChangeAspect="1"/>
          </p:cNvPicPr>
          <p:nvPr/>
        </p:nvPicPr>
        <p:blipFill>
          <a:blip r:embed="rId3"/>
          <a:srcRect l="59809" t="7970" r="24641" b="19766"/>
          <a:stretch>
            <a:fillRect/>
          </a:stretch>
        </p:blipFill>
        <p:spPr>
          <a:xfrm>
            <a:off x="7054870" y="1238250"/>
            <a:ext cx="1690211" cy="4420553"/>
          </a:xfrm>
          <a:prstGeom prst="rect">
            <a:avLst/>
          </a:prstGeom>
        </p:spPr>
      </p:pic>
      <p:pic>
        <p:nvPicPr>
          <p:cNvPr id="13" name="part-05-到期收入与余额"/>
          <p:cNvPicPr>
            <a:picLocks noChangeAspect="1"/>
          </p:cNvPicPr>
          <p:nvPr/>
        </p:nvPicPr>
        <p:blipFill>
          <a:blip r:embed="rId3"/>
          <a:srcRect l="75359" t="7970" r="1316" b="19766"/>
          <a:stretch>
            <a:fillRect/>
          </a:stretch>
        </p:blipFill>
        <p:spPr>
          <a:xfrm>
            <a:off x="8745081" y="1238250"/>
            <a:ext cx="2535317" cy="4420553"/>
          </a:xfrm>
          <a:prstGeom prst="rect">
            <a:avLst/>
          </a:prstGeom>
        </p:spPr>
      </p:pic>
      <p:pic>
        <p:nvPicPr>
          <p:cNvPr id="14" name="part-06-资金日期时间轴"/>
          <p:cNvPicPr>
            <a:picLocks noChangeAspect="1"/>
          </p:cNvPicPr>
          <p:nvPr/>
        </p:nvPicPr>
        <p:blipFill>
          <a:blip r:embed="rId3"/>
          <a:srcRect l="3289" t="80234" r="1316" b="7014"/>
          <a:stretch>
            <a:fillRect/>
          </a:stretch>
        </p:blipFill>
        <p:spPr>
          <a:xfrm>
            <a:off x="911602" y="5658803"/>
            <a:ext cx="10368796" cy="78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67024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2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8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4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Microsoft Office PowerPoint</Application>
  <DocSecurity>0</DocSecurity>
  <PresentationFormat>宽屏</PresentationFormat>
  <Paragraphs>15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Weizheng Bian</cp:lastModifiedBy>
  <cp:revision>1</cp:revision>
  <dcterms:created xsi:type="dcterms:W3CDTF">2026-10-07T09:10:31Z</dcterms:created>
  <dcterms:modified xsi:type="dcterms:W3CDTF">2026-10-07T09:15:47Z</dcterms:modified>
</cp:coreProperties>
</file>