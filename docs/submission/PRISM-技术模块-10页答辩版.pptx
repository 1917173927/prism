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5a1a6f238f4702" /><Relationship Type="http://schemas.openxmlformats.org/officeDocument/2006/relationships/extended-properties" Target="/docProps/app.xml" Id="R7b5b52a814b84d32" /><Relationship Type="http://schemas.openxmlformats.org/officeDocument/2006/relationships/officeDocument" Target="/ppt/presentation.xml" Id="R8b70aab9cf6c47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00f1c0504d4272"/>
  </p:sldMasterIdLst>
  <p:notesMasterIdLst>
    <p:notesMasterId xmlns:r="http://schemas.openxmlformats.org/officeDocument/2006/relationships" r:id="Re3c237996e254e77"/>
  </p:notesMasterIdLst>
  <p:sldIdLst>
    <p:sldId xmlns:r="http://schemas.openxmlformats.org/officeDocument/2006/relationships" id="256" r:id="R7d54ddfd9dd34c34"/>
    <p:sldId xmlns:r="http://schemas.openxmlformats.org/officeDocument/2006/relationships" id="257" r:id="R84b213bc15384379"/>
    <p:sldId xmlns:r="http://schemas.openxmlformats.org/officeDocument/2006/relationships" id="258" r:id="Rb825230371c34855"/>
    <p:sldId xmlns:r="http://schemas.openxmlformats.org/officeDocument/2006/relationships" id="259" r:id="R6fce23716e3e4c79"/>
    <p:sldId xmlns:r="http://schemas.openxmlformats.org/officeDocument/2006/relationships" id="260" r:id="Rcdc23a18b86c493d"/>
    <p:sldId xmlns:r="http://schemas.openxmlformats.org/officeDocument/2006/relationships" id="261" r:id="R71a644fc95134bee"/>
    <p:sldId xmlns:r="http://schemas.openxmlformats.org/officeDocument/2006/relationships" id="262" r:id="Rb251defd85604d0f"/>
    <p:sldId xmlns:r="http://schemas.openxmlformats.org/officeDocument/2006/relationships" id="263" r:id="R25811d2a5c7241c0"/>
    <p:sldId xmlns:r="http://schemas.openxmlformats.org/officeDocument/2006/relationships" id="264" r:id="R94fff5bda0d5496a"/>
    <p:sldId xmlns:r="http://schemas.openxmlformats.org/officeDocument/2006/relationships" id="265" r:id="Re60d01ce7ea84a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789a9f3c184b91" /><Relationship Type="http://schemas.openxmlformats.org/officeDocument/2006/relationships/slideMaster" Target="/ppt/slideMasters/slideMaster1.xml" Id="R2400f1c0504d4272" /><Relationship Type="http://schemas.openxmlformats.org/officeDocument/2006/relationships/notesMaster" Target="/ppt/notesMasters/notesMaster1.xml" Id="Re3c237996e254e77" /><Relationship Type="http://schemas.openxmlformats.org/officeDocument/2006/relationships/presProps" Target="/ppt/presProps.xml" Id="R23c3b215f17b4daa" /><Relationship Type="http://schemas.openxmlformats.org/officeDocument/2006/relationships/tableStyles" Target="/ppt/tableStyles.xml" Id="R5d69adfc2a5543c0" /><Relationship Type="http://schemas.openxmlformats.org/officeDocument/2006/relationships/slide" Target="/ppt/slides/slide1.xml" Id="R7d54ddfd9dd34c34" /><Relationship Type="http://schemas.openxmlformats.org/officeDocument/2006/relationships/slide" Target="/ppt/slides/slide2.xml" Id="R84b213bc15384379" /><Relationship Type="http://schemas.openxmlformats.org/officeDocument/2006/relationships/slide" Target="/ppt/slides/slide3.xml" Id="Rb825230371c34855" /><Relationship Type="http://schemas.openxmlformats.org/officeDocument/2006/relationships/slide" Target="/ppt/slides/slide4.xml" Id="R6fce23716e3e4c79" /><Relationship Type="http://schemas.openxmlformats.org/officeDocument/2006/relationships/slide" Target="/ppt/slides/slide5.xml" Id="Rcdc23a18b86c493d" /><Relationship Type="http://schemas.openxmlformats.org/officeDocument/2006/relationships/slide" Target="/ppt/slides/slide6.xml" Id="R71a644fc95134bee" /><Relationship Type="http://schemas.openxmlformats.org/officeDocument/2006/relationships/slide" Target="/ppt/slides/slide7.xml" Id="Rb251defd85604d0f" /><Relationship Type="http://schemas.openxmlformats.org/officeDocument/2006/relationships/slide" Target="/ppt/slides/slide8.xml" Id="R25811d2a5c7241c0" /><Relationship Type="http://schemas.openxmlformats.org/officeDocument/2006/relationships/slide" Target="/ppt/slides/slide9.xml" Id="R94fff5bda0d5496a" /><Relationship Type="http://schemas.openxmlformats.org/officeDocument/2006/relationships/slide" Target="/ppt/slides/slide10.xml" Id="Re60d01ce7ea84a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bda5bbf65b46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2b9fa665c94a52" /><Relationship Type="http://schemas.openxmlformats.org/officeDocument/2006/relationships/notesMaster" Target="/ppt/notesMasters/notesMaster1.xml" Id="R1fa253a3eb7943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0ef2fb6a6d44aa" /><Relationship Type="http://schemas.openxmlformats.org/officeDocument/2006/relationships/notesMaster" Target="/ppt/notesMasters/notesMaster1.xml" Id="R74e7b5403c5648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07fa44f9214151" /><Relationship Type="http://schemas.openxmlformats.org/officeDocument/2006/relationships/notesMaster" Target="/ppt/notesMasters/notesMaster1.xml" Id="Raf179995b6c74c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fbdf8d30f347e5" /><Relationship Type="http://schemas.openxmlformats.org/officeDocument/2006/relationships/notesMaster" Target="/ppt/notesMasters/notesMaster1.xml" Id="R010605f6379846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a0fe1a4afe4682" /><Relationship Type="http://schemas.openxmlformats.org/officeDocument/2006/relationships/notesMaster" Target="/ppt/notesMasters/notesMaster1.xml" Id="Rc84b0e85981d4e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4e3a88b3d04072" /><Relationship Type="http://schemas.openxmlformats.org/officeDocument/2006/relationships/notesMaster" Target="/ppt/notesMasters/notesMaster1.xml" Id="R7755d49f7c2841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71f7c1646b4626" /><Relationship Type="http://schemas.openxmlformats.org/officeDocument/2006/relationships/notesMaster" Target="/ppt/notesMasters/notesMaster1.xml" Id="R1db6e8785c2249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cab1f2bc354c62" /><Relationship Type="http://schemas.openxmlformats.org/officeDocument/2006/relationships/notesMaster" Target="/ppt/notesMasters/notesMaster1.xml" Id="R516d04a1044e41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31caefb0994c7c" /><Relationship Type="http://schemas.openxmlformats.org/officeDocument/2006/relationships/notesMaster" Target="/ppt/notesMasters/notesMaster1.xml" Id="R55b9da1cf55648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68377f88c74ada" /><Relationship Type="http://schemas.openxmlformats.org/officeDocument/2006/relationships/notesMaster" Target="/ppt/notesMasters/notesMaster1.xml" Id="R8ceabaa6f6dc41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讲清系统的责任边界。用户通过工作台或对话入口提出问题，LLM只负责识别意图、提取槽位和生成解释。只有经过确认的结构化输入，才能进入研究与计算层。金融数据由Provider取得，研究任务由有界DAG调度，金额、权重、暴露、HHI和调仓数量全部由确定性模块计算。最后风险闸门和合规闸门独立审查，只有双重通过才形成DecisionReceipt，并保存DecisionEvent用于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- docs/submission/technical-report.md 第3章</a:t>
            </a:r>
          </a:p>
          <a:p xmlns:a="http://schemas.openxmlformats.org/drawingml/2006/main">
            <a:r>
              <a:t>- README.md 处理链路与职责边界</a:t>
            </a:r>
          </a:p>
          <a:p xmlns:a="http://schemas.openxmlformats.org/drawingml/2006/main">
            <a:r>
              <a:t>- app/service/advisor_query.py</a:t>
            </a:r>
          </a:p>
          <a:p xmlns:a="http://schemas.openxmlformats.org/drawingml/2006/main">
            <a:r>
              <a:t>- app/gates/ 与 app/recommendation/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前端没有引入庞大的SPA框架，而是使用原生HTML、CSS和JavaScript，通过Hash路由组织页面，SSE提供流式对话，AntV X6承载工作流画布，Lightweight Charts负责行情图。后端使用FastAPI、Pydantic和Uvicorn，金融计算统一使用Decimal。默认存储是SQLite，也提供PostgreSQL适配。右侧是真实OpenAPI路由截图，证明系统不是概念架构，而是具备完整接口边界的可运行模块化单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- pyproject.toml</a:t>
            </a:r>
          </a:p>
          <a:p xmlns:a="http://schemas.openxmlformats.org/drawingml/2006/main">
            <a:r>
              <a:t>- package.json</a:t>
            </a:r>
          </a:p>
          <a:p xmlns:a="http://schemas.openxmlformats.org/drawingml/2006/main">
            <a:r>
              <a:t>- app/api/main.py</a:t>
            </a:r>
          </a:p>
          <a:p xmlns:a="http://schemas.openxmlformats.org/drawingml/2006/main">
            <a:r>
              <a:t>- docs/showcase/backend_api_full_architecture.png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区分当前实现和目标嵌入。底层的问财SkillHub已经通过项目内九项版本化Skill清单接入，公告、新闻和研报走综合搜索接口，结构化金融查询走query2data。PRISM不改造平台底层，而是在上层增加画像编译、证据校验、组合计算、再平衡和双闸门。上方问财APP、iFinD机构工作台和外部API属于交付入口，因此使用虚线表示目标嵌入，不把尚未完成的平台内上线表述为现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- docs/iwencai-live-provider.md</a:t>
            </a:r>
          </a:p>
          <a:p xmlns:a="http://schemas.openxmlformats.org/drawingml/2006/main">
            <a:r>
              <a:t>- app/providers/skillhub.py</a:t>
            </a:r>
          </a:p>
          <a:p xmlns:a="http://schemas.openxmlformats.org/drawingml/2006/main">
            <a:r>
              <a:t>- app/providers/iwencai_skills.json</a:t>
            </a:r>
          </a:p>
          <a:p xmlns:a="http://schemas.openxmlformats.org/drawingml/2006/main">
            <a:r>
              <a:t>- docs/submission/technical-report.md 第3.4节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提供两类部署形态。演示环境是当前可运行的单机模式，浏览器与FastAPI同源部署，SQLite使用WAL，凭据在Windows下通过DPAPI保护，并按owner隔离数据。生产落地可以替换为PostgreSQL，并在前方接入身份服务、反向代理、限流和监控。后者是部署目标，不把公网身份、长期监控或99.9%可用性描述为已完成。无论采用哪种部署，系统都保持Advisory Only，不接管账户和交易。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- docs/local-deployment.md</a:t>
            </a:r>
          </a:p>
          <a:p xmlns:a="http://schemas.openxmlformats.org/drawingml/2006/main">
            <a:r>
              <a:t>- docs/adr/0001-modular-monolith.md</a:t>
            </a:r>
          </a:p>
          <a:p xmlns:a="http://schemas.openxmlformats.org/drawingml/2006/main">
            <a:r>
              <a:t>- app/store/sqlite.py</a:t>
            </a:r>
          </a:p>
          <a:p xmlns:a="http://schemas.openxmlformats.org/drawingml/2006/main">
            <a:r>
              <a:t>- app/store/postgres.py</a:t>
            </a:r>
          </a:p>
          <a:p xmlns:a="http://schemas.openxmlformats.org/drawingml/2006/main">
            <a:r>
              <a:t>- README.md 当前边界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个具体问题贯穿这条链路。用户先完成注册和归属确认，再通过19题问卷生成八维画像与C1到C5适当性等级。持仓可以通过文本或截图OCR导入，低置信内容必须确认。系统把问题转为研究计划，由DAG执行专业节点，再把Provider结果转成Evidence、Fact和Finding。风险与合规双闸门通过后，才输出带来源和失效条件的报告与回执。右下角是真实工作台，画像边界和持仓状态在同一页面呈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- docs/submission/competition-technical-solution.md 第3章与第5章</a:t>
            </a:r>
          </a:p>
          <a:p xmlns:a="http://schemas.openxmlformats.org/drawingml/2006/main">
            <a:r>
              <a:t>- app/profile/questionnaire.py</a:t>
            </a:r>
          </a:p>
          <a:p xmlns:a="http://schemas.openxmlformats.org/drawingml/2006/main">
            <a:r>
              <a:t>- app/portfolio/</a:t>
            </a:r>
          </a:p>
          <a:p xmlns:a="http://schemas.openxmlformats.org/drawingml/2006/main">
            <a:r>
              <a:t>- app/research/</a:t>
            </a:r>
          </a:p>
          <a:p xmlns:a="http://schemas.openxmlformats.org/drawingml/2006/main">
            <a:r>
              <a:t>- docs/showcase/01_v3_investor_workbench_overview.png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轮对话最重要的不是记得更多，而是避免旧状态污染新计算。系统把短期消息窗口、中期会话事实和长期显式记忆分开。进行金融分析前，服务端锁定画像版本、持仓版本和数据模式，并计算SHA-256指纹。请求必须携带预期修订号，发现漂移后停止沿用旧结论。普通交流可以直接由模型回答，金融查询必须进入Provider和证据链，持仓测算必须进入确定性工具。最终通过SSE流式返回内容、来源与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- app/service/session_truth.py</a:t>
            </a:r>
          </a:p>
          <a:p xmlns:a="http://schemas.openxmlformats.org/drawingml/2006/main">
            <a:r>
              <a:t>- app/service/semantic_memory.py</a:t>
            </a:r>
          </a:p>
          <a:p xmlns:a="http://schemas.openxmlformats.org/drawingml/2006/main">
            <a:r>
              <a:t>- docs/archive/context-memory.md</a:t>
            </a:r>
          </a:p>
          <a:p xmlns:a="http://schemas.openxmlformats.org/drawingml/2006/main">
            <a:r>
              <a:t>- app/api/main.py /api/v1/copilot/chat</a:t>
            </a:r>
          </a:p>
          <a:p xmlns:a="http://schemas.openxmlformats.org/drawingml/2006/main">
            <a:r>
              <a:t>- docs/showcase/current-pages-snapshot-workbench-20260917.png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持仓分析先做数据确认，再把基金和ETF穿透到底层资产和行业，计算HHI，并与当前画像的风险预算比较。识别超限项后，系统生成目标权重，但不会停留在金额层。它先过滤0.50%的小偏差，严格先卖后买，再按100股整手、有效报价、印花税、过户费、佣金和现金下限计算可执行数量。买入手数使用二分法寻找可承受最大值。最后重新构造交易后组合并执行完整体检。这个算法是序贯确定性求解，不宣称全局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- app/service/portfolio_rebalancing.py</a:t>
            </a:r>
          </a:p>
          <a:p xmlns:a="http://schemas.openxmlformats.org/drawingml/2006/main">
            <a:r>
              <a:t>- app/rebalancing/contracts.py</a:t>
            </a:r>
          </a:p>
          <a:p xmlns:a="http://schemas.openxmlformats.org/drawingml/2006/main">
            <a:r>
              <a:t>- docs/portfolio-analysis-agent.md</a:t>
            </a:r>
          </a:p>
          <a:p xmlns:a="http://schemas.openxmlformats.org/drawingml/2006/main">
            <a:r>
              <a:t>- docs/showcase/04_v3_rebalancing_plan_stepper.png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组算法把19题问卷转为八个0到100分维度，并形成C1到C5适当性展示。为了兼容当前确定性闸门，系统再把有效画像编译为保守、平衡和成长三档内部规则，并生成单一资产、行业、科技行业和未分类暴露上限。第二组算法解决多智能体重复同一信息的问题。验证器只认可显式lineage，同一来源的多条记录先去重，至少两个独立来源一致，事实才进入SUPPORTED。来源冲突或数据不足会保留为复核状态，不用多数票掩盖分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- app/profile/questionnaire.py</a:t>
            </a:r>
          </a:p>
          <a:p xmlns:a="http://schemas.openxmlformats.org/drawingml/2006/main">
            <a:r>
              <a:t>- app/profile/behavior.py</a:t>
            </a:r>
          </a:p>
          <a:p xmlns:a="http://schemas.openxmlformats.org/drawingml/2006/main">
            <a:r>
              <a:t>- app/profile/presentation.py</a:t>
            </a:r>
          </a:p>
          <a:p xmlns:a="http://schemas.openxmlformats.org/drawingml/2006/main">
            <a:r>
              <a:t>- app/risk/budget.py</a:t>
            </a:r>
          </a:p>
          <a:p xmlns:a="http://schemas.openxmlformats.org/drawingml/2006/main">
            <a:r>
              <a:t>- app/research/cross_validation.py</a:t>
            </a:r>
          </a:p>
          <a:p xmlns:a="http://schemas.openxmlformats.org/drawingml/2006/main">
            <a:r>
              <a:t>- docs/showcase/current-pages-snapshot-profile-20260917.png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算法解决基金表面分散、底层集中看不见的问题。股票直接按100%归属，基金和ETF按披露成分拆分，没有披露的残值必须保留为未分类，直接暴露、穿透暴露和未分类暴露严格闭合组合总值。HHI在权重取整前计算。右侧是有界DAG。研究计划提前固定拓扑、节点超时和总截止时间，依赖就绪的节点并行运行。必需节点失败会使运行失败，可选节点不完整只能降级为部分结果，取消和超时都显式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- app/portfolio/exposure.py</a:t>
            </a:r>
          </a:p>
          <a:p xmlns:a="http://schemas.openxmlformats.org/drawingml/2006/main">
            <a:r>
              <a:t>- app/risk/concentration.py</a:t>
            </a:r>
          </a:p>
          <a:p xmlns:a="http://schemas.openxmlformats.org/drawingml/2006/main">
            <a:r>
              <a:t>- app/orchestration/contracts.py</a:t>
            </a:r>
          </a:p>
          <a:p xmlns:a="http://schemas.openxmlformats.org/drawingml/2006/main">
            <a:r>
              <a:t>- app/orchestration/executor.py</a:t>
            </a:r>
          </a:p>
          <a:p xmlns:a="http://schemas.openxmlformats.org/drawingml/2006/main">
            <a:r>
              <a:t>- docs/archive/bounded-orchestration.md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把四项控制放在同一张图里。离散再平衡把目标金额转换为受整手、费用和现金约束的数量。双闸门独立审查风险与合规，状态聚合遵循阻断优先、复核其次、通过最后，只有双PASS才能输出正式建议。分层记忆用revision和指纹阻止旧状态进入新计算。历史记录检索始终标记为Historical Only，必须由用户确认恢复，恢复后还要清空旧的研究、优化和建议结果。四项机制共同保证结果可复算、过程可追踪、输出可阻断、历史可受控恢复。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- app/service/portfolio_rebalancing.py</a:t>
            </a:r>
          </a:p>
          <a:p xmlns:a="http://schemas.openxmlformats.org/drawingml/2006/main">
            <a:r>
              <a:t>- app/gates/pipeline.py</a:t>
            </a:r>
          </a:p>
          <a:p xmlns:a="http://schemas.openxmlformats.org/drawingml/2006/main">
            <a:r>
              <a:t>- app/service/session_truth.py</a:t>
            </a:r>
          </a:p>
          <a:p xmlns:a="http://schemas.openxmlformats.org/drawingml/2006/main">
            <a:r>
              <a:t>- app/service/semantic_memory.py</a:t>
            </a:r>
          </a:p>
          <a:p xmlns:a="http://schemas.openxmlformats.org/drawingml/2006/main">
            <a:r>
              <a:t>- docs/archive/risk-compliance-gates.md</a:t>
            </a:r>
          </a:p>
          <a:p xmlns:a="http://schemas.openxmlformats.org/drawingml/2006/main">
            <a:r>
              <a:t>- docs/archive/context-memory.md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ddac427cf48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529b6c21e24e97" /><Relationship Type="http://schemas.openxmlformats.org/officeDocument/2006/relationships/slideLayout" Target="/ppt/slideLayouts/slideLayout1.xml" Id="R3d61e961f90e49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61e961f90e49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c362d23694f41" /><Relationship Type="http://schemas.openxmlformats.org/officeDocument/2006/relationships/notesSlide" Target="/ppt/notesSlides/notesSlide1.xml" Id="R2ba16722a31a46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31891c41a4cce" /><Relationship Type="http://schemas.openxmlformats.org/officeDocument/2006/relationships/image" Target="/ppt/media/image.png" Id="R6c16b588ba5b4d36" /><Relationship Type="http://schemas.openxmlformats.org/officeDocument/2006/relationships/notesSlide" Target="/ppt/notesSlides/notesSlide2.xml" Id="R05247ca98f36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a929c58e94106" /><Relationship Type="http://schemas.openxmlformats.org/officeDocument/2006/relationships/notesSlide" Target="/ppt/notesSlides/notesSlide3.xml" Id="R651989e5e0074e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4ad26190d4a71" /><Relationship Type="http://schemas.openxmlformats.org/officeDocument/2006/relationships/notesSlide" Target="/ppt/notesSlides/notesSlide4.xml" Id="R452b9a45e4c847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20083318b4e99" /><Relationship Type="http://schemas.openxmlformats.org/officeDocument/2006/relationships/image" Target="/ppt/media/image2.png" Id="R1b9c3c591b0c4aae" /><Relationship Type="http://schemas.openxmlformats.org/officeDocument/2006/relationships/notesSlide" Target="/ppt/notesSlides/notesSlide5.xml" Id="Rc335598fc7554b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06c80cc6948ec" /><Relationship Type="http://schemas.openxmlformats.org/officeDocument/2006/relationships/image" Target="/ppt/media/image3.png" Id="R93ce63f44a434384" /><Relationship Type="http://schemas.openxmlformats.org/officeDocument/2006/relationships/notesSlide" Target="/ppt/notesSlides/notesSlide6.xml" Id="R8bb3631f0e044a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857dc6aeb43b1" /><Relationship Type="http://schemas.openxmlformats.org/officeDocument/2006/relationships/image" Target="/ppt/media/image4.png" Id="R7e91eaf4423743a1" /><Relationship Type="http://schemas.openxmlformats.org/officeDocument/2006/relationships/notesSlide" Target="/ppt/notesSlides/notesSlide7.xml" Id="R95904a97813b42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4481739074460" /><Relationship Type="http://schemas.openxmlformats.org/officeDocument/2006/relationships/image" Target="/ppt/media/image5.png" Id="Rb0868a38112a44ca" /><Relationship Type="http://schemas.openxmlformats.org/officeDocument/2006/relationships/notesSlide" Target="/ppt/notesSlides/notesSlide8.xml" Id="Rfac9fdf633ea47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2183652074bb5" /><Relationship Type="http://schemas.openxmlformats.org/officeDocument/2006/relationships/notesSlide" Target="/ppt/notesSlides/notesSlide9.xml" Id="R64ec70a1dc0449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34df60c5e4cbc" /><Relationship Type="http://schemas.openxmlformats.org/officeDocument/2006/relationships/notesSlide" Target="/ppt/notesSlides/notesSlide10.xml" Id="R65c69349ba6149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CF586E-7FBA-4B70-A852-166F53B7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01  整体架构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1F5B9-26E1-4B42-80C4-F950BD20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系统总体分层架构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42A68-803F-4E23-B0C9-25AD6A7E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语言模型负责理解与表达，金融数值和建议资格由确定性模块裁决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2C9A4-5BAF-4D02-92EA-EA15C141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CD8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04C82-FE2B-4057-888C-348750EB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B9E7E-7F22-4575-90DB-538C1DA7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10871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7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D8D67-FEA6-46B4-94BC-29E15C14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11087100" cy="148590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EFC7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9A826-E0B9-4296-A8FC-8A07B03F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11087100" cy="139065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6DD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2EB4B-049B-4CA2-97A2-F4332D16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600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183B5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86239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交互与任务层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4AD85-3DDE-4A05-8B64-88994A44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600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A4A"/>
          </a:solidFill>
          <a:ln xmlns:a="http://schemas.openxmlformats.org/drawingml/2006/main" w="9525">
            <a:solidFill>
              <a:srgbClr val="E47A4A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86239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研究与计算层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B9834-E44A-4505-8985-2768DE8A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600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7A57"/>
          </a:solidFill>
          <a:ln xmlns:a="http://schemas.openxmlformats.org/drawingml/2006/main" w="9525">
            <a:solidFill>
              <a:srgbClr val="3D7A5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86239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验证与交付层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33206-E830-4F4A-A255-8634A5BA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12573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808D4-5CDE-4744-A31D-6DB8A3B3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71675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46F17-DFE3-45C1-8619-CB616945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14478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A155C-BDF6-4A85-A4A9-A70E2FA1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71675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静态工作台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463A2-CEC7-4B3A-B968-3564B6F2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15049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E77C3-2527-4240-AD88-3B5DCFF7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95475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  <a:p xmlns:a="http://schemas.openxmlformats.org/drawingml/2006/main">
            <a:pPr algn="ctr">
              <a:def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HTTP / SSE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EE26B-CBA8-4535-9227-85A5D136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17907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0C284-6755-4AA3-BFD2-648C2453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3832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  <a:p xmlns:a="http://schemas.openxmlformats.org/drawingml/2006/main">
            <a:pPr algn="ctr">
              <a:def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意图 / 槽位 / 解释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12EDA-D799-4210-AB1B-1148411F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43100"/>
            <a:ext cx="1352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51348A-0CAF-4159-B540-216215F3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71675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结构化输入</a:t>
            </a:r>
          </a:p>
        </p:txBody>
      </p:sp>
      <p:cxnSp>
        <p:nvCxnSpPr>
          <p:cNvPr id="78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905250" y="22193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619750" y="22193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410450" y="2219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505950" y="22193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37EE2-09DB-4BA2-A792-86C0D203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62100"/>
            <a:ext cx="1943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DEA"/>
          </a:solidFill>
          <a:ln xmlns:a="http://schemas.openxmlformats.org/drawingml/2006/main" w="9525">
            <a:solidFill>
              <a:srgbClr val="E9C0B8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rPr>
              <a:t>不可直接生成金融事实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C1629A-C8CF-48A5-8AA6-B62D48A1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0"/>
            <a:ext cx="15811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89C9E4-E727-4866-B88B-5EECD49F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62325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SkillHub 与</a:t>
            </a:r>
          </a:p>
          <a:p xmlns:a="http://schemas.openxmlformats.org/drawingml/2006/main">
            <a:pPr algn="ctr">
              <a:def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数据 Provider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193FAA-0E3F-4BD8-B3CA-36A22DF1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14859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8A9037-B15B-4762-99D9-7B59905A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62325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有界 DAG</a:t>
            </a:r>
          </a:p>
          <a:p xmlns:a="http://schemas.openxmlformats.org/drawingml/2006/main">
            <a:pPr algn="ctr">
              <a:def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研究矩阵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02483E-5637-43A3-9169-6A23B488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16954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041011-E51C-47CF-A968-03728F03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6232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证据与来源</a:t>
            </a:r>
          </a:p>
          <a:p xmlns:a="http://schemas.openxmlformats.org/drawingml/2006/main">
            <a:pPr algn="ctr">
              <a:defRPr sz="14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一致性校验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084F31-935B-4053-B63D-F62D9574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000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575948-4E1C-494B-97C9-DF87E493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6232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确定性金融计算</a:t>
            </a:r>
          </a:p>
        </p:txBody>
      </p:sp>
      <p:cxnSp>
        <p:nvCxnSpPr>
          <p:cNvPr id="91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4229100" y="36671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019800" y="36671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8020050" y="3667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01C323-442F-4F2A-8D2E-51A2A398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57650"/>
            <a:ext cx="767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金额　权重　穿透暴露　HHI　风险预算　整手数量　费用　现金约束</a:t>
            </a:r>
          </a:p>
        </p:txBody>
      </p:sp>
      <p:cxnSp>
        <p:nvCxnSpPr>
          <p:cNvPr id="95" name=""/>
          <p:cNvCxnSpPr>
            <a:stCxn xmlns:a="http://schemas.openxmlformats.org/drawingml/2006/main" id="20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5276850" y="2495550"/>
            <a:ext cx="5324475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F6966F-3213-4A74-B083-610646FA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15811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DF3119-E366-4B59-A180-50C0A759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38725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风险闸门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930B79-8D36-42DC-A73D-DE381F01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10150"/>
            <a:ext cx="15811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D2A64A-478A-47B6-B000-37E70055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38725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合规闸门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0869F6-6543-4E9A-B562-A3AA3D0C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0150"/>
            <a:ext cx="18859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94F255-83C2-4631-913B-855BB0E1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387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DecisionReceipt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65F2AA-A250-4540-8276-D8883F4B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14900"/>
            <a:ext cx="16764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750841-40C6-4FCB-B861-23B498B7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43475"/>
            <a:ext cx="1600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DecisionEvent</a:t>
            </a:r>
          </a:p>
          <a:p xmlns:a="http://schemas.openxmlformats.org/drawingml/2006/main">
            <a:pPr algn="ctr">
              <a:def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审计回放</a:t>
            </a:r>
          </a:p>
        </p:txBody>
      </p:sp>
      <p:cxnSp>
        <p:nvCxnSpPr>
          <p:cNvPr id="104" name=""/>
          <p:cNvCxnSpPr>
            <a:stCxn xmlns:a="http://schemas.openxmlformats.org/drawingml/2006/main" id="33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 flipH="1">
            <a:off x="3648075" y="4000500"/>
            <a:ext cx="5753100" cy="1009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31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5705475" y="4000500"/>
            <a:ext cx="1466850" cy="1009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0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4438650" y="5295900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2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6496050" y="52959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4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991600" y="5295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1D3736-8D2A-44B1-9F0E-C1DFFE1C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695950"/>
            <a:ext cx="2590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FBA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双 PASS 才生成正式建议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2032F6-63FA-4F8A-BF7D-7B69AD08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PRISM 技术模块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F3DE44-A387-4950-A8BA-12527C84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ADVISORY_ONLY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E1421C-196B-4F26-AF63-18C4B4CF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8603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D422DC-E837-4414-AC4F-7CFB9168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02  整体架构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42A4B-F369-495D-B635-BB6B34E4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前后端技术栈与环境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46700-3F14-4F47-8C20-903A9430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模块化单体降低竞赛部署成本，清晰接口为后续拆分保留边界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BB314-9763-476B-A7AA-FB887155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CD8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C4B80-D9D5-45B0-AC3F-458B129A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A27A1-7920-4675-A57D-2E153654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9431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DD9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F281B-F49E-45EC-999A-9A50687E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浏览器工作台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FF685-8D2B-447D-AE38-F6EF38CE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9086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原生 HTML / CSS / JS</a:t>
            </a:r>
          </a:p>
          <a:p xmlns:a="http://schemas.openxmlformats.org/drawingml/2006/main">
            <a:pPr algn="ctr">
              <a:def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Hash 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04428-07F3-4AFA-A02E-3F764798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9431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CDD9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8F685-D67E-4568-9B43-62E99015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57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交互与可视化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BEFF1-903C-449B-9574-BA03E26D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09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SSE 流式输出</a:t>
            </a:r>
          </a:p>
          <a:p xmlns:a="http://schemas.openxmlformats.org/drawingml/2006/main">
            <a:pPr algn="ctr">
              <a:def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AntV X6 / Charts</a:t>
            </a:r>
          </a:p>
        </p:txBody>
      </p: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95550" y="2352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A2060-9F7F-40F8-8A94-82B05E6C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19431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EEC5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E498C-70A5-4A71-BA66-2C118D12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57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服务端接口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6FEE5-2E27-404A-A971-92A3322A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FastAPI / Pydantic</a:t>
            </a:r>
          </a:p>
          <a:p xmlns:a="http://schemas.openxmlformats.org/drawingml/2006/main">
            <a:pPr algn="ctr">
              <a:def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Uvicorn</a:t>
            </a:r>
          </a:p>
        </p:txBody>
      </p: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05350" y="2352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CFE2F-4DD1-40B4-B14F-E866C6C6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52600"/>
            <a:ext cx="19431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DD9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26CAD-2DC2-4F65-B658-86129F2C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57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确定性领域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0E282-D435-4B99-B99E-8708BD07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09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Python Decimal</a:t>
            </a:r>
          </a:p>
          <a:p xmlns:a="http://schemas.openxmlformats.org/drawingml/2006/main">
            <a:pPr algn="ctr">
              <a:def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规则与状态机</a:t>
            </a:r>
          </a:p>
        </p:txBody>
      </p: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915150" y="2352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3A414-E706-4E2E-9C2E-C95ABF4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52600"/>
            <a:ext cx="19431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CDD9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0599B-0B00-4578-BBD3-4DB3E3E8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57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数据与存储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3F6265-409C-4EFD-B178-79F930A7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2247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SQLite / PostgreSQL</a:t>
            </a:r>
          </a:p>
          <a:p xmlns:a="http://schemas.openxmlformats.org/drawingml/2006/main">
            <a:pPr algn="ctr">
              <a:def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SkillHub / Fuyao</a:t>
            </a:r>
          </a:p>
        </p:txBody>
      </p: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124950" y="2352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0D5A65-6032-4B32-9C35-50F7688F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Python 3.11 / 3.12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CE1850-34A1-4DDD-8A26-0370E533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05150"/>
            <a:ext cx="1162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RapidOCR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5997BB-AB57-47D4-8278-F979DE1E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05150"/>
            <a:ext cx="1524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C1A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9 项问财 Skill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34F348-716A-47FA-B1BF-A2167968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0515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C99E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iFinD 兼容注入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FEF47A-7C15-4AFE-A2BF-6FE1B054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AD8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同源部署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7D44DF-E399-47A0-95A8-D7C1A3B7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4000500" cy="2228850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183B5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F24FF-0B94-4FBC-8340-7B4AD336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模块化单体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33E4FE-4387-4CB4-9414-676D073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3448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EAF2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EAF2F5"/>
                </a:solidFill>
                <a:latin typeface="Microsoft YaHei"/>
                <a:ea typeface="Microsoft YaHei"/>
                <a:cs typeface="Microsoft YaHei"/>
              </a:rPr>
              <a:t>接口层、应用服务、研究证据、确定性计算和存储位于同一进程，但通过领域契约隔离。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7B60C6-EFAF-489D-BA5A-FBF81395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524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F68"/>
          </a:solidFill>
          <a:ln xmlns:a="http://schemas.openxmlformats.org/drawingml/2006/main" w="9525">
            <a:solidFill>
              <a:srgbClr val="53758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低部署复杂度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879A91-254B-49C5-B120-ADFE7737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19700"/>
            <a:ext cx="1371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F68"/>
          </a:solidFill>
          <a:ln xmlns:a="http://schemas.openxmlformats.org/drawingml/2006/main" w="9525">
            <a:solidFill>
              <a:srgbClr val="53758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可测试边界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9F8F5F-2093-490D-BE78-3B47D305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38550"/>
            <a:ext cx="68199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6b588ba5b4d36"/>
          <a:srcRect xmlns:a="http://schemas.openxmlformats.org/drawingml/2006/main" l="0" t="39917" r="0" b="39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850" y="3676650"/>
            <a:ext cx="6743700" cy="2209800"/>
          </a:xfrm>
          <a:prstGeom xmlns:a="http://schemas.openxmlformats.org/drawingml/2006/main" prst="roundRect">
            <a:avLst>
              <a:gd name="adj" fmla="val 6034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990818-F99F-451A-8DDB-A7045B43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2925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DD7C4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真实 API 路由证据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596F5A-8452-4B97-B4CB-31F2928A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PRISM 技术模块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0A4892-283E-4E71-BC39-9FEFC3F7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ADVISORY_ONLY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AFAF62-191E-4D36-B751-C97C162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7009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4344D7-91F8-427E-9937-7427C776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03  嵌入集成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80688-B6C9-4A2A-9F92-95A9A499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与同花顺 SkillHub 平台集成方案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62D4B-2BF5-42A3-882B-FF808882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复用底层金融数据与模型能力，在上层补齐个性化决策闭环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63764-4E35-4F08-81AD-EA997BA2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CD8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DE719-2E85-4410-86BD-C1C70BDF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6E673-37C8-4AC0-86C1-582B64B4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目标交付入口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016AD-1AA2-46E6-9DD6-902FBCE9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62100"/>
            <a:ext cx="2000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E3CFA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09596-154D-45F7-94B8-A308DF70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590675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问财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A58F4-88EA-4E52-BC3A-8D229D3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562100"/>
            <a:ext cx="23241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E3CF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C4AB8-5D7C-4046-90E9-D7902514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9067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iFinD 机构工作台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94BA0-A642-4078-AEEB-D7C2DA32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62100"/>
            <a:ext cx="23241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E3CF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65152-756E-4FDC-9985-9AB06F2E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9067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外部 API 调用方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233E9-E69E-490E-AF26-67D719D6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001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E1CCA0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虚线表示目标嵌入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4E7BA-C150-4884-AA87-E20D8568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334500" cy="163830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183B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FEFD3-5D4E-4D5C-8ED6-1811878C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62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7381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PRISM 智能体应用层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86A5A-4724-412D-A607-7A4FBBEA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1562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F68"/>
          </a:solidFill>
          <a:ln xmlns:a="http://schemas.openxmlformats.org/drawingml/2006/main" w="9525">
            <a:solidFill>
              <a:srgbClr val="53758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画像编译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5BCB2-4EB4-4354-BB1F-6D462F42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1562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F68"/>
          </a:solidFill>
          <a:ln xmlns:a="http://schemas.openxmlformats.org/drawingml/2006/main" w="9525">
            <a:solidFill>
              <a:srgbClr val="53758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E9F4C-80FD-42A4-A491-65104401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562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F68"/>
          </a:solidFill>
          <a:ln xmlns:a="http://schemas.openxmlformats.org/drawingml/2006/main" w="9525">
            <a:solidFill>
              <a:srgbClr val="53758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穿透与 HHI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4CB8F-1B4B-4576-85B0-C9852021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52800"/>
            <a:ext cx="1562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F68"/>
          </a:solidFill>
          <a:ln xmlns:a="http://schemas.openxmlformats.org/drawingml/2006/main" w="9525">
            <a:solidFill>
              <a:srgbClr val="53758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序贯再平衡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29E77-DAB5-4F31-8F77-13E519B0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52800"/>
            <a:ext cx="1562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B46"/>
          </a:solidFill>
          <a:ln xmlns:a="http://schemas.openxmlformats.org/drawingml/2006/main" w="9525">
            <a:solidFill>
              <a:srgbClr val="6E9A7D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双闸门与回执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836DC-A689-42C3-B35E-0823A15E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290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DCE8ED"/>
                </a:solidFill>
                <a:latin typeface="Microsoft YaHei"/>
                <a:ea typeface="Microsoft YaHei"/>
                <a:cs typeface="Microsoft YaHei"/>
              </a:rPr>
              <a:t>不改造 SkillHub 底层，通过 API 与模块化适配器接入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0A701-B84B-4618-B218-B5A05555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平台与数据底座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A7E32-7380-4E81-A675-71D14086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72000"/>
            <a:ext cx="2133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DA250-7D5C-43FA-B918-6FEB24E5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00575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问财 SkillHub</a:t>
            </a:r>
          </a:p>
          <a:p xmlns:a="http://schemas.openxmlformats.org/drawingml/2006/main">
            <a:pPr algn="ctr">
              <a:def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九项官方 Skill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200577-4C08-45A3-A9FF-5C748A98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72000"/>
            <a:ext cx="23241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B52EA8-077C-4F44-9512-C383D5DD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00575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HithinkGPT /</a:t>
            </a:r>
          </a:p>
          <a:p xmlns:a="http://schemas.openxmlformats.org/drawingml/2006/main">
            <a:pPr algn="ctr">
              <a:def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兼容 OpenAI 模型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97AD97-2183-472A-A651-2167287E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2133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176D8E-042C-4B9C-9476-40D3C53D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00575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iFinD 兼容适配器</a:t>
            </a:r>
          </a:p>
          <a:p xmlns:a="http://schemas.openxmlformats.org/drawingml/2006/main">
            <a:pPr algn="ctr">
              <a:def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显式注入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ED8F7F-B549-4062-8E8F-799AA50C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19750"/>
            <a:ext cx="7505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E2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公告　新闻　研报　行情　财务　行业　宏观　基金　转债</a:t>
            </a:r>
          </a:p>
        </p:txBody>
      </p:sp>
      <p:cxnSp>
        <p:nvCxnSpPr>
          <p:cNvPr id="70" name=""/>
          <p:cNvCxnSpPr>
            <a:stCxn xmlns:a="http://schemas.openxmlformats.org/drawingml/2006/main" id="14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3571875" y="2152650"/>
            <a:ext cx="2524125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6A22"/>
            </a:solidFill>
            <a:prstDash val="dash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4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6096000" y="2152650"/>
            <a:ext cx="266700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6A22"/>
            </a:solidFill>
            <a:prstDash val="dash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4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6096000" y="2152650"/>
            <a:ext cx="3219450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6A22"/>
            </a:solidFill>
            <a:prstDash val="dash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3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3409950" y="4286250"/>
            <a:ext cx="2686050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5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6096000" y="42862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7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H="1" flipV="1">
            <a:off x="6096000" y="4286250"/>
            <a:ext cx="2686050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9A35A5-3AEB-4406-B3A3-9D9576AC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86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6DAE3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Bearer 鉴权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62A420-491E-44DF-B2AE-5108D0DD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67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4DCC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四态结果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548190-9198-4CBB-A4F1-069297AB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PRISM 技术模块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5C2EA7-CC6F-4B52-B9CC-FD067AE6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ADVISORY_ONLY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C84823-028A-409C-ADF5-99C42943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5043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D7F7C2-01D7-4A46-A1C3-33EC38E4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04  嵌入集成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63674-7807-4C48-9513-C855D211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部署与交付形态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898E2-E824-46C6-891E-8CBCBE33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同一套业务规则支持单机演示与生产化存储配置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B8BB6-A7B9-4235-9205-4B389852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E5CE9E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部署方案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B1B98-7C44-4D33-83FF-070E224F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E77D2-148B-4FF1-8647-8E0A23E2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524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183B5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817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演示环境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F409E-7BF1-4E1F-B1FC-DF87CDCE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6A22"/>
          </a:solidFill>
          <a:ln xmlns:a="http://schemas.openxmlformats.org/drawingml/2006/main" w="9525">
            <a:solidFill>
              <a:srgbClr val="9A6A22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817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生产落地目标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D9B57-BD4D-42A1-B019-7FE96B52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19250"/>
            <a:ext cx="1314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BD6C3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当前可运行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20EDA-25AF-4558-A919-94E8DFED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19250"/>
            <a:ext cx="2381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DFC99D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需部署方补充基础设施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A88D1-6065-4970-967C-6746CDB2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0383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740A1-B57B-4A42-B085-DD9B5FDA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浏览器工作台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08CF1-C11F-4FF3-8818-DC84FEC5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0383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145BA-04F8-40CD-AD54-9E2E5AFC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FastAPI 单进程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32EE6-2663-47D1-9FB3-9B43A1BD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0383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0DC38-246A-47D9-ABEF-C529DAC3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SQLite + WAL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7622F-88AC-4B59-AE19-0A98286D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0383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84A60-FC07-4D8D-9A38-6FBF63E0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DPAPI 保护凭据</a:t>
            </a:r>
          </a:p>
        </p:txBody>
      </p:sp>
      <p:cxnSp>
        <p:nvCxnSpPr>
          <p:cNvPr id="58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762125" y="26860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762125" y="35433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762125" y="44005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A4815-2A67-4701-A169-78F6A68F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26289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D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一键启动　离线回放　owner 隔离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73A73-F81B-41B0-9767-6A13A280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33600"/>
            <a:ext cx="2286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E3CFA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2154A-37FD-4B78-9C8F-88212737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反向代理 / 身份服务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8AAD5B-A4E1-4591-B5BF-AB4DC58A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2286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213DA8-20BC-4888-9486-32920EAB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194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FastAPI 实例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6DFFAE-843C-4790-B6B5-7C849456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2286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30F6A1-6C4F-4792-A09C-ABDA444D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7667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6337FF-F183-4D6C-B835-113DFD1A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5350"/>
            <a:ext cx="2286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9CF02C-627B-4ECA-8F96-5ED85C90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339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监控 / 限流 / 审计</a:t>
            </a:r>
          </a:p>
        </p:txBody>
      </p:sp>
      <p:cxnSp>
        <p:nvCxnSpPr>
          <p:cNvPr id="70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7658100" y="26860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6A22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4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658100" y="35433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6A22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26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7658100" y="44005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6A22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8AED1C-B10F-41E6-AC9E-7D79D8D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24384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C99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698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Provider 配额、权限、长期 SLA</a:t>
            </a:r>
          </a:p>
          <a:p xmlns:a="http://schemas.openxmlformats.org/drawingml/2006/main">
            <a:pPr algn="ctr">
              <a:defRPr sz="150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按实际部署单独验收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33F121-5774-45CB-BC1B-4E5D3F43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87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CEDEA"/>
          </a:solidFill>
          <a:ln xmlns:a="http://schemas.openxmlformats.org/drawingml/2006/main" w="9525">
            <a:solidFill>
              <a:srgbClr val="E9C1B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971464-8796-4B4E-A970-09A5AB8E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rPr>
              <a:t>统一运行边界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110D48-7BEB-49E6-BB14-3FFCC3B1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959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rPr>
              <a:t>仅输出分析建议与测算　不连接券商账户　不生成订单　不执行交易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36C93B-653B-4D8A-8DBE-76E3DBB9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715000"/>
            <a:ext cx="1447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493D"/>
          </a:solidFill>
          <a:ln xmlns:a="http://schemas.openxmlformats.org/drawingml/2006/main" w="9525">
            <a:solidFill>
              <a:srgbClr val="B4493D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4909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ADVISORY_ONLY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3B3492-8D88-4DBC-9F3B-74C76E95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PRISM 技术模块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CC4F9F-08A0-4AD6-BEE1-8F4AAF3B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ADVISORY_ONLY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35649A-C01E-4090-8185-7ACE3CF8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90346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6D0DA6-781F-4920-AE7B-360DCEC8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05  工作链路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CC273-108D-4D64-A9AB-C8462A71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完整业务工作总链路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87A18-01FB-4553-83D8-EE416D64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画像、持仓、证据、闸门和回执使用同一用户归属与版本关系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16E80-3078-438A-8D00-7A53D532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CD8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C3351-3A39-41EA-AEDB-CEED79DE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A6FC1-4098-4929-A318-32C79FC9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583EE-2B40-44E2-AA61-D48856D6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F2142-D963-407B-982B-CE30AEAD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146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注册与归属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0D64A-A729-4603-8C9C-F6AE5D94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48B81-33A4-4CFC-A031-E08A4E4F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43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9F095-0CE3-412E-BF5E-8D004740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146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19 题问卷</a:t>
            </a:r>
          </a:p>
        </p:txBody>
      </p:sp>
      <p:cxnSp>
        <p:nvCxnSpPr>
          <p:cNvPr id="65" name=""/>
          <p:cNvCxnSpPr>
            <a:stCxn xmlns:a="http://schemas.openxmlformats.org/drawingml/2006/main" id="6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085850" y="2190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2E7F0-B80B-47FB-B06C-3C3CEA5E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94C13-1C54-4877-95C2-662EC14F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43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C2750-E5F4-4F62-9907-373DD0AC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146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八维画像</a:t>
            </a:r>
          </a:p>
          <a:p xmlns:a="http://schemas.openxmlformats.org/drawingml/2006/main">
            <a:pPr algn="ctr">
              <a:def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C1-C5</a:t>
            </a:r>
          </a:p>
        </p:txBody>
      </p:sp>
      <p:cxnSp>
        <p:nvCxnSpPr>
          <p:cNvPr id="69" name=""/>
          <p:cNvCxnSpPr>
            <a:stCxn xmlns:a="http://schemas.openxmlformats.org/drawingml/2006/main" id="9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2305050" y="2190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4C1EB-8030-482F-8F51-7A3C303B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74BCE-10DC-4948-BDAA-A76D784C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43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32E01-1B9F-48C2-AC71-5ABAAA84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146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3897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持仓导入</a:t>
            </a:r>
          </a:p>
          <a:p xmlns:a="http://schemas.openxmlformats.org/drawingml/2006/main">
            <a:pPr algn="ctr">
              <a:def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OCR / 文本</a:t>
            </a:r>
          </a:p>
        </p:txBody>
      </p:sp>
      <p:cxnSp>
        <p:nvCxnSpPr>
          <p:cNvPr id="73" name=""/>
          <p:cNvCxnSpPr>
            <a:stCxn xmlns:a="http://schemas.openxmlformats.org/drawingml/2006/main" id="13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3524250" y="2190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8B6D1-BAFE-4A35-A22C-06A2D550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A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13A5BD-4D4F-4C1B-9341-BF63B1D5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43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D0454F-BB22-46CD-ADC8-6A818148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意图与计划</a:t>
            </a:r>
          </a:p>
        </p:txBody>
      </p:sp>
      <p:cxnSp>
        <p:nvCxnSpPr>
          <p:cNvPr id="77" name=""/>
          <p:cNvCxnSpPr>
            <a:stCxn xmlns:a="http://schemas.openxmlformats.org/drawingml/2006/main" id="17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4743450" y="2190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94683-0B6D-453C-B337-25EAED00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A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B09A3-7829-4EE1-8F78-C4E0E9D0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43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ADB42-66FD-4F3D-8770-56DFDEF8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DAG 研究</a:t>
            </a:r>
          </a:p>
        </p:txBody>
      </p:sp>
      <p:cxnSp>
        <p:nvCxnSpPr>
          <p:cNvPr id="81" name=""/>
          <p:cNvCxnSpPr>
            <a:stCxn xmlns:a="http://schemas.openxmlformats.org/drawingml/2006/main" id="21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5962650" y="2190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7345E2-BFC3-4240-B78E-AD28956C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A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ED320A-FF93-4F76-9B01-4E10DF40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43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CD7884-8C79-480F-A9E2-EB124DF5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146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证据校验</a:t>
            </a:r>
          </a:p>
        </p:txBody>
      </p:sp>
      <p:cxnSp>
        <p:nvCxnSpPr>
          <p:cNvPr id="85" name=""/>
          <p:cNvCxnSpPr>
            <a:stCxn xmlns:a="http://schemas.openxmlformats.org/drawingml/2006/main" id="25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7181850" y="2190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85F486-CFEC-447F-8F0B-5F9729F3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7A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6D4CCB-5ED3-4B40-8642-5BAC1A9E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43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BF003F-5D7B-4AE0-BB56-99D15B5F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146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双闸门</a:t>
            </a:r>
          </a:p>
        </p:txBody>
      </p:sp>
      <p:cxnSp>
        <p:nvCxnSpPr>
          <p:cNvPr id="89" name=""/>
          <p:cNvCxnSpPr>
            <a:stCxn xmlns:a="http://schemas.openxmlformats.org/drawingml/2006/main" id="29" idx="6"/>
            <a:endCxn xmlns:a="http://schemas.openxmlformats.org/drawingml/2006/main" id="33" idx="2"/>
          </p:cNvCxnSpPr>
          <p:nvPr/>
        </p:nvCxnSpPr>
        <p:spPr>
          <a:xfrm xmlns:a="http://schemas.openxmlformats.org/drawingml/2006/main">
            <a:off x="8401050" y="2190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6B6EF5-B800-427A-830B-601682D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7A5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A5E39E-8534-43DE-B217-4E247768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43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2A9361-1FEB-425C-83FE-5B26ADEA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146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报告与回执</a:t>
            </a:r>
          </a:p>
        </p:txBody>
      </p:sp>
      <p:cxnSp>
        <p:nvCxnSpPr>
          <p:cNvPr id="93" name=""/>
          <p:cNvCxnSpPr>
            <a:stCxn xmlns:a="http://schemas.openxmlformats.org/drawingml/2006/main" id="33" idx="6"/>
            <a:endCxn xmlns:a="http://schemas.openxmlformats.org/drawingml/2006/main" id="37" idx="2"/>
          </p:cNvCxnSpPr>
          <p:nvPr/>
        </p:nvCxnSpPr>
        <p:spPr>
          <a:xfrm xmlns:a="http://schemas.openxmlformats.org/drawingml/2006/main">
            <a:off x="9620250" y="2190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E727A2-ACB4-4165-857C-E045824A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114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9E1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VERSIONED PROFILE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D8090D-CD86-4A37-89A2-174A7FF8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95650"/>
            <a:ext cx="2152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1DAC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VERIFIED EVIDENCE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735A1D-1A1A-4B3D-9803-5F11F9A6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9565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EBC3B1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DECISION RECEIPT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0D43B2-56C8-4823-94B0-46C0F267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5334000" cy="2152650"/>
          </a:xfrm>
          <a:prstGeom xmlns:a="http://schemas.openxmlformats.org/drawingml/2006/main" prst="roundRect">
            <a:avLst>
              <a:gd name="adj" fmla="val 88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12F336-3E30-41C3-B246-A6FFB494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一次问题的闭环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96A5EE-1BEF-41EE-8309-E5F8C400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6863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ADCE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5691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“我想控制回撤，这套持仓需要怎么调整？”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0C9C64-234D-4BDC-BE94-1E4A8947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每条建议绑定画像版本、持仓快照、研究结果、证据引用、闸门状态和失效条件。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0D2E10-6D81-4B07-91DA-4F999681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90950"/>
            <a:ext cx="5543550" cy="22288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c3c591b0c4aae"/>
          <a:srcRect xmlns:a="http://schemas.openxmlformats.org/drawingml/2006/main" l="0" t="20002" r="0" b="200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3829050"/>
            <a:ext cx="5467350" cy="2152650"/>
          </a:xfrm>
          <a:prstGeom xmlns:a="http://schemas.openxmlformats.org/drawingml/2006/main" prst="roundRect">
            <a:avLst>
              <a:gd name="adj" fmla="val 6195"/>
            </a:avLst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FD8A96-1FF7-49EC-8755-4AD4B001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581650"/>
            <a:ext cx="1447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BD6C3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真实工作台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AED761-3C61-432A-87AA-C4092514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PRISM 技术模块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A1BABF-10CE-4246-85C6-3128C4C8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ADVISORY_ONLY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FBFCFF-51E7-4436-B3CD-66900C4B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51833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039C49-5064-4E22-BE36-1C5277FF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06  工作链路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ED21E-BEE1-43B3-9741-7D4E5D7C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AI 对话多轮交互链路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41DD9-E3B2-487A-A450-FDE9AC56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先锁定分析前提，再允许模型调用金融工具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29C1C-4B38-4AED-92B0-56CDA7C5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CD8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0E16B-2BDD-4AF0-93CD-1DAE8691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75C38-5E9C-4CA0-9E5B-C80F16BE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分层记忆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34FA6-ED26-4E51-AC46-4A243E5F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5049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1298F-910C-4BFE-868A-3D4397DF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短期</a:t>
            </a:r>
          </a:p>
          <a:p xmlns:a="http://schemas.openxmlformats.org/drawingml/2006/main">
            <a:pPr algn="ctr">
              <a:def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消息窗口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04FA1-83EB-4009-9210-7907EC9D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50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B7DC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708AD-A69A-4CF9-AF93-6153A4D0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  <a:p xmlns:a="http://schemas.openxmlformats.org/drawingml/2006/main">
            <a:pPr algn="ctr">
              <a:defRPr sz="1350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会话事实 + revision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40D40-D335-4599-A0CC-59059E8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50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0E6D5-8041-457E-B8D1-2762806A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长期</a:t>
            </a:r>
          </a:p>
          <a:p xmlns:a="http://schemas.openxmlformats.org/drawingml/2006/main">
            <a:pPr algn="ctr">
              <a:defRPr sz="135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显式结构化记忆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7F4AE-4ED8-49CA-A2D4-B97C06FE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504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DFC99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HISTORICAL_ONLY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A01E4-1F2E-4657-9327-011B4829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28575">
            <a:solidFill>
              <a:srgbClr val="7FA0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C83D2-B820-41BE-A2FC-3B4E31D7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173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会话前提锁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6BFF9-ADA4-4E10-B518-C67F8EB9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90900"/>
            <a:ext cx="1581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6247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7F0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E7F0F4"/>
                </a:solidFill>
                <a:latin typeface="Microsoft YaHei"/>
                <a:ea typeface="Microsoft YaHei"/>
                <a:cs typeface="Microsoft YaHei"/>
              </a:rPr>
              <a:t>画像版本</a:t>
            </a:r>
          </a:p>
          <a:p xmlns:a="http://schemas.openxmlformats.org/drawingml/2006/main">
            <a:pPr algn="ctr">
              <a:defRPr sz="1350" b="0" i="0">
                <a:solidFill>
                  <a:srgbClr val="E7F0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E7F0F4"/>
                </a:solidFill>
                <a:latin typeface="Microsoft YaHei"/>
                <a:ea typeface="Microsoft YaHei"/>
                <a:cs typeface="Microsoft YaHei"/>
              </a:rPr>
              <a:t>持仓版本</a:t>
            </a:r>
          </a:p>
          <a:p xmlns:a="http://schemas.openxmlformats.org/drawingml/2006/main">
            <a:pPr algn="ctr">
              <a:defRPr sz="1350" b="0" i="0">
                <a:solidFill>
                  <a:srgbClr val="E7F0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E7F0F4"/>
                </a:solidFill>
                <a:latin typeface="Microsoft YaHei"/>
                <a:ea typeface="Microsoft YaHei"/>
                <a:cs typeface="Microsoft YaHei"/>
              </a:rPr>
              <a:t>数据模式</a:t>
            </a:r>
          </a:p>
          <a:p xmlns:a="http://schemas.openxmlformats.org/drawingml/2006/main">
            <a:pPr algn="ctr">
              <a:defRPr sz="1350" b="0" i="0">
                <a:solidFill>
                  <a:srgbClr val="E7F0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E7F0F4"/>
                </a:solidFill>
                <a:latin typeface="Microsoft YaHei"/>
                <a:ea typeface="Microsoft YaHei"/>
                <a:cs typeface="Microsoft YaHei"/>
              </a:rPr>
              <a:t>SHA-256 fingerprint</a:t>
            </a:r>
          </a:p>
        </p:txBody>
      </p: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2152650" y="2381250"/>
            <a:ext cx="1009650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2152650" y="3352800"/>
            <a:ext cx="100965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1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2152650" y="3705225"/>
            <a:ext cx="100965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2A806-176C-4AB2-B60A-36BC0B22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1866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6D9E2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expected_revision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824B2-E298-4778-A5EB-7AD5C6A2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34000"/>
            <a:ext cx="1866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DEA"/>
          </a:solidFill>
          <a:ln xmlns:a="http://schemas.openxmlformats.org/drawingml/2006/main" w="9525">
            <a:solidFill>
              <a:srgbClr val="E8C1BA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rPr>
              <a:t>DRIFT_DETECTED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3D1ED-F2CB-4CCB-84C6-B249E9D6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57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工具路由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382EF-745C-46E7-98A0-E1E4F16C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3835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CFA46-B172-487D-AF82-AF2E5E0C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66925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普通交流</a:t>
            </a:r>
          </a:p>
          <a:p xmlns:a="http://schemas.openxmlformats.org/drawingml/2006/main">
            <a:pPr algn="ctr">
              <a:def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语言模型回答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0457C-AAD6-4565-A1DF-75FA5B3B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6705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6C61CC-168F-42F0-9DF5-644366BD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95625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金融查询</a:t>
            </a:r>
          </a:p>
          <a:p xmlns:a="http://schemas.openxmlformats.org/drawingml/2006/main">
            <a:pPr algn="ctr">
              <a:defRPr sz="14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Provider + 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35C2F1-0569-4CD1-8EC6-9045CAA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CE2751-B29F-4271-B819-07A2B4EB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24325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持仓测算</a:t>
            </a:r>
          </a:p>
          <a:p xmlns:a="http://schemas.openxmlformats.org/drawingml/2006/main">
            <a:pPr algn="ctr">
              <a:def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确定性工具</a:t>
            </a:r>
          </a:p>
        </p:txBody>
      </p:sp>
      <p:cxnSp>
        <p:nvCxnSpPr>
          <p:cNvPr id="71" name=""/>
          <p:cNvCxnSpPr>
            <a:stCxn xmlns:a="http://schemas.openxmlformats.org/drawingml/2006/main" id="14" idx="6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5353050" y="2381250"/>
            <a:ext cx="590550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4" idx="6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5353050" y="3409950"/>
            <a:ext cx="59055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4" idx="6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353050" y="3705225"/>
            <a:ext cx="59055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E5FD47-3A10-4E9C-8CBA-CEBCAE49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1970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F0BD6B-6A75-40FD-B376-35931CDE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48275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SSE 流式回复</a:t>
            </a:r>
          </a:p>
          <a:p xmlns:a="http://schemas.openxmlformats.org/drawingml/2006/main">
            <a:pPr algn="ctr">
              <a:def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来源与状态同时输出</a:t>
            </a:r>
          </a:p>
        </p:txBody>
      </p:sp>
      <p:cxnSp>
        <p:nvCxnSpPr>
          <p:cNvPr id="76" name=""/>
          <p:cNvCxnSpPr>
            <a:stCxn xmlns:a="http://schemas.openxmlformats.org/drawingml/2006/main" id="23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5829300" y="2724150"/>
            <a:ext cx="1019175" cy="24955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25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5829300" y="3752850"/>
            <a:ext cx="1019175" cy="14668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27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6848475" y="47815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35CCD8-F519-4D84-8311-6E58B171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3524250" cy="419100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e63f44a434384"/>
          <a:srcRect xmlns:a="http://schemas.openxmlformats.org/drawingml/2006/main" l="16103" t="0" r="161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790700"/>
            <a:ext cx="3448050" cy="4114800"/>
          </a:xfrm>
          <a:prstGeom xmlns:a="http://schemas.openxmlformats.org/drawingml/2006/main" prst="roundRect">
            <a:avLst>
              <a:gd name="adj" fmla="val 3867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55CFE6-748A-4D72-8D4F-503C33F7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86400"/>
            <a:ext cx="2800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ED8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对话入口共享同一画像与持仓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C4AE92-5E0A-47FF-8651-EDC35B41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PRISM 技术模块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8F51F8-B05D-4EEA-90ED-63250AA8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ADVISORY_ONLY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00DDC9-ED9B-435B-8D1B-7A2810AE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45229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3A15F1-9686-49ED-962C-735ECE40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07  工作链路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CF495-60F2-488B-ABFF-D296D224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持仓分析与再平衡工作链路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A2826-282A-48B8-80BB-1D237C8C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目标权重必须转换为可交易股数，并通过交易后完整复核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D224A-D260-4499-BBAB-B69EB8CB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CD8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D4775-BDA8-42F7-8A1A-ACB538A9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87C00-6899-4028-B823-6866D53D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诊断漏斗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02E20-EAFF-4EE7-B280-DF6B6B34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31432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C179C-5907-4E8F-8DDF-166D0D5D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持仓导入与确认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DE67D-A190-4877-95BE-18C4BF17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8575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B7DC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C76E3-019B-4285-A2F9-0E3F3D32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基金 / ETF 穿透暴露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B09A1-C802-4D85-928C-4ADEC5C6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2571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CB0EA-E992-445D-BF36-1F3F93E3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62325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HHI 与画像风险预算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05F8E-5142-4D50-B6D5-AE3B0873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22860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E746E-F83C-4481-9D1C-7553C419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0025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识别超限项与目标权重</a:t>
            </a:r>
          </a:p>
        </p:txBody>
      </p:sp>
      <p:cxnSp>
        <p:nvCxnSpPr>
          <p:cNvPr id="58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219325" y="2552700"/>
            <a:ext cx="14287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362200" y="3200400"/>
            <a:ext cx="14287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505075" y="3848100"/>
            <a:ext cx="14287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5DF2C-E4DB-404C-8609-6D8DD533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38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执行阶梯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11007-14AD-49B1-861F-42D5F01A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1428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5EA12-329F-49A9-B92D-46D07114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0.50% 死区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8B38E-1B89-4414-B98B-32A13D60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1428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98105-A905-457C-932F-624099EC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8607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先卖后买</a:t>
            </a:r>
          </a:p>
        </p:txBody>
      </p:sp>
      <p:cxnSp>
        <p:nvCxnSpPr>
          <p:cNvPr id="66" name=""/>
          <p:cNvCxnSpPr>
            <a:stCxn xmlns:a="http://schemas.openxmlformats.org/drawingml/2006/main" id="19" idx="2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4876800" y="2667000"/>
            <a:ext cx="161925" cy="4286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32C9C7-EEFF-46FF-B258-C9DB5C19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24250"/>
            <a:ext cx="1428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F4209-6962-48B5-B3CA-01A4F62F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5282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100 股整手</a:t>
            </a:r>
          </a:p>
        </p:txBody>
      </p:sp>
      <p:cxnSp>
        <p:nvCxnSpPr>
          <p:cNvPr id="69" name=""/>
          <p:cNvCxnSpPr>
            <a:stCxn xmlns:a="http://schemas.openxmlformats.org/drawingml/2006/main" id="21" idx="2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5429250" y="3333750"/>
            <a:ext cx="161925" cy="4286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0A87D9-1C11-42F8-9B66-0C824AFB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91000"/>
            <a:ext cx="1428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B7DC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645395-ABB0-4DDF-9397-8C28D8FB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957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费用与现金</a:t>
            </a:r>
          </a:p>
        </p:txBody>
      </p:sp>
      <p:cxnSp>
        <p:nvCxnSpPr>
          <p:cNvPr id="72" name=""/>
          <p:cNvCxnSpPr>
            <a:stCxn xmlns:a="http://schemas.openxmlformats.org/drawingml/2006/main" id="24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5981700" y="4000500"/>
            <a:ext cx="161925" cy="4286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5F9E74-450F-4F97-BFF1-6FFEA9BC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57750"/>
            <a:ext cx="14287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A5F581-AD1A-4B5B-8863-7E1A0473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8632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交易后体检</a:t>
            </a:r>
          </a:p>
        </p:txBody>
      </p:sp>
      <p:cxnSp>
        <p:nvCxnSpPr>
          <p:cNvPr id="75" name=""/>
          <p:cNvCxnSpPr>
            <a:stCxn xmlns:a="http://schemas.openxmlformats.org/drawingml/2006/main" id="27" idx="2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6534150" y="4667250"/>
            <a:ext cx="161925" cy="4286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3860C7-57FB-4849-910C-83E7750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466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F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Decimal 算术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5D59A0-E424-4A1F-A24B-F9D803C3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76800"/>
            <a:ext cx="2343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2B0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二分求可承受买入手数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22682F-BDF1-4F1F-A481-F3D041AC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2228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AD8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印花税 / 过户费 / 佣金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91C44D-ADC2-4B0E-B3D1-FF540062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7685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8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换手上限 / 现金下限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D6B148-F223-4F1B-8150-3CC6D0A9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429000" cy="2590800"/>
          </a:xfrm>
          <a:prstGeom xmlns:a="http://schemas.openxmlformats.org/drawingml/2006/main" prst="roundRect">
            <a:avLst>
              <a:gd name="adj" fmla="val 6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1eaf4423743a1"/>
          <a:srcRect xmlns:a="http://schemas.openxmlformats.org/drawingml/2006/main" l="6250" t="0" r="6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2343150"/>
            <a:ext cx="3352800" cy="2514600"/>
          </a:xfrm>
          <a:prstGeom xmlns:a="http://schemas.openxmlformats.org/drawingml/2006/main" prst="roundRect">
            <a:avLst>
              <a:gd name="adj" fmla="val 5303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FEEB53-F8CF-4BC3-B843-E42319E9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48250"/>
            <a:ext cx="2781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DD7C4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真实执行步骤：SELL、SELL、BUY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FFFF01-FADB-4550-996C-BD5E55F6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67350"/>
            <a:ext cx="2076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EBC2B0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序贯确定性求解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B1A47B-09CF-4D9A-8C7D-FA05BE57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PRISM 技术模块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24FD44-E8FA-467D-8EF1-489D4E7E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ADVISORY_ONLY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8442E2-0998-4E24-A8DC-ACB69A0C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6833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745A32-715B-423F-AD4A-29F1235A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08  自研算法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FF201-7D33-4E4C-98FE-AE70E10C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自研算法① 画像、风险与证据验证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C438C-67A3-45EA-A9E1-8C7E2E6F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画像转换为约束，事实升级依赖独立来源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0C9C7-D1A3-4BE2-9C57-EB57C6A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CD8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F0F1F-BCCC-4431-B71C-DD965EB9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7ADFE-2ADD-47F2-AB4B-789BEA4C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181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183B5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画像条件化风险预算映射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0A8D8-E8B1-4305-8F18-65D81BE1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19250"/>
            <a:ext cx="2952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7A57"/>
          </a:solidFill>
          <a:ln xmlns:a="http://schemas.openxmlformats.org/drawingml/2006/main" w="9525">
            <a:solidFill>
              <a:srgbClr val="3D7A5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来源等价类证据验证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BA651-B276-41F9-8FE3-12900B98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3525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0E341-2B1E-492C-B937-A9938305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19 题问卷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040C3-111B-4E0D-B4D2-F055BC9C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574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1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风险承受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0BAD2-A774-4879-A8E1-02A35B6E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1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投资经验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920B5-970E-49A7-80DD-DDCA5AF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146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9D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操作活跃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88A25-95A6-458A-AD69-65AF35A3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146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9D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研究习惯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CC025-D95F-42F3-8EE9-CBF35FCE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718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9D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信息投入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1F477-66FF-4CC9-AF79-17C7378B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718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9D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AI 信任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7B333-B636-4AA3-B454-09F5182F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9D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个性需求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DD49E-29B9-43D2-8DBD-E62289EB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290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9D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辅助需求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FE316-233E-42F7-B350-1A798C0F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12001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6BF43-0E79-4987-B3F8-6E8573FE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19325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C1-C5</a:t>
            </a:r>
          </a:p>
          <a:p xmlns:a="http://schemas.openxmlformats.org/drawingml/2006/main">
            <a:pPr algn="ctr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适当性展示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AE03D-618D-4342-A45D-40845322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14668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10A1E-7F08-4253-84B0-05B49184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71825"/>
            <a:ext cx="1390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内部规则层</a:t>
            </a:r>
          </a:p>
          <a:p xmlns:a="http://schemas.openxmlformats.org/drawingml/2006/main">
            <a:pPr algn="ctr">
              <a:defRPr sz="9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CONSERVATIVE</a:t>
            </a:r>
          </a:p>
          <a:p xmlns:a="http://schemas.openxmlformats.org/drawingml/2006/main">
            <a:pPr algn="ctr">
              <a:defRPr sz="9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BALANCED</a:t>
            </a:r>
          </a:p>
          <a:p xmlns:a="http://schemas.openxmlformats.org/drawingml/2006/main">
            <a:pPr algn="ctr">
              <a:defRPr sz="9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GROWTH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021D4-E7B4-4BBC-A542-64040EE7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13144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D2BA3-8136-455B-ADFA-6DA54390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81525"/>
            <a:ext cx="123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风险预算</a:t>
            </a:r>
          </a:p>
          <a:p xmlns:a="http://schemas.openxmlformats.org/drawingml/2006/main">
            <a:pPr algn="ctr">
              <a:defRPr sz="12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资产 / 行业 / 科技</a:t>
            </a:r>
          </a:p>
          <a:p xmlns:a="http://schemas.openxmlformats.org/drawingml/2006/main">
            <a:pPr algn="ctr">
              <a:defRPr sz="12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未分类上限</a:t>
            </a:r>
          </a:p>
        </p:txBody>
      </p:sp>
      <p:cxnSp>
        <p:nvCxnSpPr>
          <p:cNvPr id="74" name=""/>
          <p:cNvCxnSpPr>
            <a:stCxn xmlns:a="http://schemas.openxmlformats.org/drawingml/2006/main" id="8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038350" y="2447925"/>
            <a:ext cx="260985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5114925" y="2857500"/>
            <a:ext cx="1333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114925" y="4267200"/>
            <a:ext cx="762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B4595-DC11-4A84-8A51-200228D6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30670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68a38112a44ca"/>
          <a:srcRect xmlns:a="http://schemas.openxmlformats.org/drawingml/2006/main" l="0" t="16030" r="0" b="16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29100"/>
            <a:ext cx="2990850" cy="1333500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E3381-57D8-457A-B773-3AB301CA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14287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AFCFB7-53B4-4566-9BD4-3523890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19325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记录 A1</a:t>
            </a:r>
          </a:p>
          <a:p xmlns:a="http://schemas.openxmlformats.org/drawingml/2006/main">
            <a:pPr algn="ctr">
              <a:defRPr sz="12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lineage-A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EC7C34-1625-49B3-A8DE-FB222BFD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14287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FBB5A2-1344-4A57-828F-7D0DB612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记录 A2</a:t>
            </a:r>
          </a:p>
          <a:p xmlns:a="http://schemas.openxmlformats.org/drawingml/2006/main">
            <a:pPr algn="ctr">
              <a:defRPr sz="12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lineage-A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9A99D8-79F9-4349-80B0-D1E3FF55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29050"/>
            <a:ext cx="14287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B7DC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72B4A5-854D-4D66-BEEC-2B958670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记录 B1</a:t>
            </a:r>
          </a:p>
          <a:p xmlns:a="http://schemas.openxmlformats.org/drawingml/2006/main">
            <a:pPr algn="ctr">
              <a:def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lineage-B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F75931-710C-42AB-B885-32D9212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12573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9C7EBB-C556-41F3-B92D-AD70A2EE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52725"/>
            <a:ext cx="1181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按 lineage</a:t>
            </a:r>
          </a:p>
          <a:p xmlns:a="http://schemas.openxmlformats.org/drawingml/2006/main">
            <a:pPr algn="ctr">
              <a:defRPr sz="135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去重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C512CC-69B6-4C5B-B426-1BE4A22C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12573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D0A13E-2E1F-4996-AAD8-AE75CCC7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76675"/>
            <a:ext cx="1181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独立来源</a:t>
            </a:r>
          </a:p>
          <a:p xmlns:a="http://schemas.openxmlformats.org/drawingml/2006/main">
            <a:pPr algn="ctr">
              <a:defRPr sz="13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一致性验证</a:t>
            </a:r>
          </a:p>
        </p:txBody>
      </p:sp>
      <p:cxnSp>
        <p:nvCxnSpPr>
          <p:cNvPr id="89" name=""/>
          <p:cNvCxnSpPr>
            <a:stCxn xmlns:a="http://schemas.openxmlformats.org/drawingml/2006/main" id="29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962900" y="2476500"/>
            <a:ext cx="45720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V="1">
            <a:off x="7962900" y="3067050"/>
            <a:ext cx="45720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962900" y="4114800"/>
            <a:ext cx="4572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C80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35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9048750" y="34099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C7F513-BB22-4088-BBF5-4CEDBCD5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3D7A5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SUPPORTED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3B0005-FA0D-4275-A620-0008C9DE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DEA"/>
          </a:solidFill>
          <a:ln xmlns:a="http://schemas.openxmlformats.org/drawingml/2006/main" w="9525">
            <a:solidFill>
              <a:srgbClr val="B4493D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rPr>
              <a:t>CONTRADICTED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64FF22-46A6-4086-BB1A-3CA9D58F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480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9A6A22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UNRESOLVED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D6DB83-2EF8-4F73-8194-992A0562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4F575B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INSUFFICIENT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40F8CB-8763-438A-BE26-8B3B9CAD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57750"/>
            <a:ext cx="51054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C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同一来源重复记录只计一次</a:t>
            </a:r>
          </a:p>
          <a:p xmlns:a="http://schemas.openxmlformats.org/drawingml/2006/main">
            <a:pPr algn="ctr">
              <a:defRPr sz="15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至少两个独立 lineage 才能形成支持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E02147-0747-4F44-A725-FD0A5201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PRISM 技术模块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5FE614-98C7-45E0-A1F2-29768806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ADVISORY_ONLY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CC390B-EC44-4858-88DD-9F2CD9E6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65839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7F4453-9576-4A6D-B90C-0F5C9F6E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09  自研算法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138FE-ABF8-40A2-8AC4-FEF2F5AA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自研算法② 组合计算与任务调度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C1FE5-9CFB-4772-9A23-E79A67A3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穿透计算保持守恒，研究调度具有节点预算与总预算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17C0A-1EF5-4F9E-BBFB-E4558E91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CD8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68FF3-DF94-42C1-AC2E-014303AF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176C9-0F20-496C-A74A-2FD56901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724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A4A"/>
          </a:solidFill>
          <a:ln xmlns:a="http://schemas.openxmlformats.org/drawingml/2006/main" w="9525">
            <a:solidFill>
              <a:srgbClr val="E47A4A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穿透暴露矩阵与 HHI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CE21B-A6CC-49DB-ACC8-819EA5A3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2590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183B5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时间预算约束 DAG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39D04-D285-4508-B63F-83B4EE7B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4668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FA2FA-C60D-409C-8063-19443823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764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股票持仓</a:t>
            </a:r>
          </a:p>
          <a:p xmlns:a="http://schemas.openxmlformats.org/drawingml/2006/main">
            <a:pPr algn="ctr">
              <a:def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100% 归属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98E70-A17B-4490-A1EE-D45C3121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4668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B7DC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F30B1-8E1F-4815-A246-591E1463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28975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基金 / ETF</a:t>
            </a:r>
          </a:p>
          <a:p xmlns:a="http://schemas.openxmlformats.org/drawingml/2006/main">
            <a:pPr algn="ctr">
              <a:def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按披露比例拆分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E92E7-0274-429F-9406-842236DD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4668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30180-E5DE-49E0-ADA2-FA01999B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未披露残值</a:t>
            </a:r>
          </a:p>
          <a:p xmlns:a="http://schemas.openxmlformats.org/drawingml/2006/main">
            <a:pPr algn="ctr">
              <a:defRPr sz="12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保留为未分类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96958-8401-4899-B2A6-57DC8DA0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14287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603C4-6DC7-4C0D-9A21-5CC27CBC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81225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新能源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898F8-0BCC-4F6B-8B10-5462DAFE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14287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2AF84-C2CF-4609-B9E2-7974B270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81325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半导体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161AF-9F10-4CEF-A648-9B592C0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52850"/>
            <a:ext cx="14287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E4411-0CD2-4737-A0C3-7F4F1A35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81425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其他行业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A7F31-54AC-4A7E-8A0B-50F71A13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52950"/>
            <a:ext cx="16192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F9A94-6939-4E1D-83DF-17A55758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81525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UNCLASSIFIED</a:t>
            </a:r>
          </a:p>
        </p:txBody>
      </p:sp>
      <p:cxnSp>
        <p:nvCxnSpPr>
          <p:cNvPr id="79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133600" y="2400300"/>
            <a:ext cx="10096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8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133600" y="2590800"/>
            <a:ext cx="1009650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133600" y="2400300"/>
            <a:ext cx="100965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2133600" y="3200400"/>
            <a:ext cx="15811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133600" y="3581400"/>
            <a:ext cx="10096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2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133600" y="4629150"/>
            <a:ext cx="15811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575B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0AF078-70A4-4F6F-BC65-A18DE82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20955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2B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57243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E_g = Σ v_i w_i,g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512FC2-2B44-4CDB-9717-5883A758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34000"/>
            <a:ext cx="276225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2B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57243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HHI = 10000 Σ(E_g/V)²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5CB075-78EB-4E18-BFAD-009C7A90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29300"/>
            <a:ext cx="3619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DD8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直接 + 穿透 + 未分类 = 组合总值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92DC1-7DD3-455A-B423-CBBD98E1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1809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162C66-3B71-4920-8D88-66D3C04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19325"/>
            <a:ext cx="1733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研究计划</a:t>
            </a:r>
          </a:p>
          <a:p xmlns:a="http://schemas.openxmlformats.org/drawingml/2006/main">
            <a:pPr algn="ctr">
              <a:def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固定拓扑与总预算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BF914C-EC08-4AC5-A5E3-D47079B3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13716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B7DC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79DF01-CCFB-449B-A44A-3C4C2F44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宏观节点</a:t>
            </a:r>
          </a:p>
          <a:p xmlns:a="http://schemas.openxmlformats.org/drawingml/2006/main">
            <a:pPr algn="ctr">
              <a:def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295BAF-F167-4CBD-B0C1-6AAF9E62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13716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B7DC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7137E6-9B03-425E-B31F-B683802C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05175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行业节点</a:t>
            </a:r>
          </a:p>
          <a:p xmlns:a="http://schemas.openxmlformats.org/drawingml/2006/main">
            <a:pPr algn="ctr">
              <a:def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26A12A-077B-4B98-83B5-C10139A0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76600"/>
            <a:ext cx="13716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10B48A-1E07-49D3-B781-E09D88CF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05175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个股节点</a:t>
            </a:r>
          </a:p>
          <a:p xmlns:a="http://schemas.openxmlformats.org/drawingml/2006/main">
            <a:pPr algn="ctr">
              <a:defRPr sz="12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WAIT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2D3D9F-1880-4748-85F6-1AEDEF1F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48150"/>
            <a:ext cx="13716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E3CFA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72307D-7089-4C0F-9E5F-8D4F8B16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76725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基金节点</a:t>
            </a:r>
          </a:p>
          <a:p xmlns:a="http://schemas.openxmlformats.org/drawingml/2006/main">
            <a:pPr algn="ctr">
              <a:defRPr sz="120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OPTIONAL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CF1565-4360-4D7B-99E0-B88671D1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48150"/>
            <a:ext cx="16764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0250AC-E670-4E42-9E79-EAE7FA81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7672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证据校验</a:t>
            </a:r>
          </a:p>
          <a:p xmlns:a="http://schemas.openxmlformats.org/drawingml/2006/main">
            <a:pPr algn="ctr">
              <a:defRPr sz="12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COMPLETE / PARTIAL</a:t>
            </a:r>
          </a:p>
        </p:txBody>
      </p:sp>
      <p:cxnSp>
        <p:nvCxnSpPr>
          <p:cNvPr id="100" name="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7067550" y="2857500"/>
            <a:ext cx="52387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31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7591425" y="2857500"/>
            <a:ext cx="10382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1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7591425" y="2857500"/>
            <a:ext cx="26003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35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8629650" y="38671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6A22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33" idx="2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067550" y="3867150"/>
            <a:ext cx="2552700" cy="7143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35" idx="2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629650" y="3867150"/>
            <a:ext cx="990600" cy="7143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37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10191750" y="3867150"/>
            <a:ext cx="2667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39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9315450" y="4543425"/>
            <a:ext cx="3048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955B27-DA5F-4643-BD09-3D40C8D5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1390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DFC99E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节点 timeout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792F7B-70DD-4790-8D9F-4B89DB4B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1390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DEA"/>
          </a:solidFill>
          <a:ln xmlns:a="http://schemas.openxmlformats.org/drawingml/2006/main" w="9525">
            <a:solidFill>
              <a:srgbClr val="E9C0B8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rPr>
              <a:t>总 deadline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7A9B04-37F5-4AE1-8546-08D7C24C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1676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1D5D4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取消向下传播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8502BA-E7CD-4086-86D4-11193A65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531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rPr>
              <a:t>失败不会被静默改写为成功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703F30-1DED-42A1-B342-8109A5C4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PRISM 技术模块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6BFE34-4D3F-4BAC-8AA5-D4103CAF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ADVISORY_ONLY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20CA8B-158E-4F82-A979-877ED7C7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63681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413DFB-B4A4-4869-BA35-8999FB1A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10  自研算法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13562-CDE1-4E4C-8D01-4DAA6796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72D3D"/>
                </a:solidFill>
                <a:latin typeface="Microsoft YaHei"/>
                <a:ea typeface="Microsoft YaHei"/>
                <a:cs typeface="Microsoft YaHei"/>
              </a:rPr>
              <a:t>自研算法③ 决策控制与会话记忆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6F75E-5B25-4EE1-BDBF-7EE352C7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四项控制共同决定建议是否具备输出资格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F9963-0E2E-45AE-B36D-3030AB20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BCD8C5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60F72-845D-41E6-8D23-D7348EE9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FE8BA-E811-4900-BD91-BFB27E53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4476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EDC4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BE4B3-D8F7-4E3D-9FF2-E449CDBB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724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7A4A"/>
          </a:solidFill>
          <a:ln xmlns:a="http://schemas.openxmlformats.org/drawingml/2006/main" w="9525">
            <a:solidFill>
              <a:srgbClr val="E47A4A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离散交易约束再平衡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021EB-C5DC-4DB7-A7C1-02C6F77B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047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C2B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目标金额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14629-D36A-4E80-8FB0-2B99DB6A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00300"/>
            <a:ext cx="1047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C2B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整手股数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0FAD9-D5C4-43A7-891C-80F0C007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00300"/>
            <a:ext cx="1162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C2B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费用与现金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11A10-989F-4720-B87C-5502D49F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先卖后买，交易后重新计算风险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632B5-A76D-467D-A106-E2C85888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52600"/>
            <a:ext cx="4476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3DC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1F238-E49B-48C9-9413-2A14EAAD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05000"/>
            <a:ext cx="2324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7A57"/>
          </a:solidFill>
          <a:ln xmlns:a="http://schemas.openxmlformats.org/drawingml/2006/main" w="9525">
            <a:solidFill>
              <a:srgbClr val="3D7A5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 双闸门状态聚合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BEDFD-A12B-4DB7-919D-BAA82A19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11620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1C5B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0D19F-CFF6-4114-B269-4AF64C34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90775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风险闸门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2C25C-668E-4D3C-A65F-5C9F529E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52750"/>
            <a:ext cx="11620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5F0B3-B3EC-488F-8F6A-E15311E3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81325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合规闸门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15E46-1486-431B-BB8D-24537156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47950"/>
            <a:ext cx="12382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8DC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7B931-4444-4E15-9B4B-FFB7A9FD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65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双 PASS</a:t>
            </a:r>
          </a:p>
        </p:txBody>
      </p:sp>
      <p:cxnSp>
        <p:nvCxnSpPr>
          <p:cNvPr id="73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34400" y="2571750"/>
            <a:ext cx="13716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8534400" y="2886075"/>
            <a:ext cx="137160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86282-B0FE-46BB-8B22-33D76620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0040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优先级：BLOCKED &gt; REVIEW_REQUIRED &gt;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DC673-8EEE-4112-B97C-97E87FCA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76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C5D9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8D734A-1DA8-472B-B633-A92F444A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571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183B5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 分层记忆与版本状态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7DEEF0-7108-406C-86E6-D82ABE11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1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短期消息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1E1B10-0D53-4FAD-9D0C-6BFF8CB3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529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9D7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7C80"/>
                </a:solidFill>
                <a:latin typeface="Microsoft YaHei"/>
                <a:ea typeface="Microsoft YaHei"/>
                <a:cs typeface="Microsoft YaHei"/>
              </a:rPr>
              <a:t>会话事实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57D7DA-69B3-41F9-BD05-A7B722D7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529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显式记忆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E30C53-8E91-4C1B-A6F2-57A44D2F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revision + fingerprint 阻止旧状态进入新计算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EEB789-BFF0-48F8-9CDB-710EA6C9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86200"/>
            <a:ext cx="4476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DFC99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8C5D11-E780-489B-9159-89DF08A4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38600"/>
            <a:ext cx="2647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6A22"/>
          </a:solidFill>
          <a:ln xmlns:a="http://schemas.openxmlformats.org/drawingml/2006/main" w="9525">
            <a:solidFill>
              <a:srgbClr val="9A6A22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 历史检索与受控恢复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56D44E-B1D2-4D27-9F74-6D38144E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52950"/>
            <a:ext cx="14668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F3F0"/>
          </a:solidFill>
          <a:ln xmlns:a="http://schemas.openxmlformats.org/drawingml/2006/main" w="9525">
            <a:solidFill>
              <a:srgbClr val="D6D9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24AEF8-992F-4E73-9624-CBC0439C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815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检索最近</a:t>
            </a:r>
          </a:p>
          <a:p xmlns:a="http://schemas.openxmlformats.org/drawingml/2006/main">
            <a:pPr algn="ctr">
              <a:defRPr sz="120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F575B"/>
                </a:solidFill>
                <a:latin typeface="Microsoft YaHei"/>
                <a:ea typeface="Microsoft YaHei"/>
                <a:cs typeface="Microsoft YaHei"/>
              </a:rPr>
              <a:t>100 条显式保存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EFFAEA-878A-4F78-9C76-CC2C5B79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29150"/>
            <a:ext cx="1143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BF4E7"/>
          </a:solidFill>
          <a:ln xmlns:a="http://schemas.openxmlformats.org/drawingml/2006/main" w="9525">
            <a:solidFill>
              <a:srgbClr val="E3CFA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013970-852B-47A4-A800-4E8F63E1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57725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F8AA5A-E61E-471B-A834-86F414A5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52950"/>
            <a:ext cx="9525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9525">
            <a:solidFill>
              <a:srgbClr val="C8DDC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98070B-8A44-4364-967F-95CC8DE9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581525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恢复后</a:t>
            </a:r>
          </a:p>
          <a:p xmlns:a="http://schemas.openxmlformats.org/drawingml/2006/main">
            <a:pPr algn="ctr">
              <a:def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清空旧派生结果</a:t>
            </a:r>
          </a:p>
        </p:txBody>
      </p:sp>
      <p:cxnSp>
        <p:nvCxnSpPr>
          <p:cNvPr id="90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8763000" y="48768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6A22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0153650" y="4876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0B4C21-F333-4F84-A115-B352CF12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7685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18E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HISTORICAL_ONLY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24D14F-3C3D-4153-AB9E-E7EBE59E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A15AA2-C319-475C-8302-DF26DEA4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1470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建议资格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5453DB-86A2-489C-A761-B960B816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909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E4ED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E4EDF1"/>
                </a:solidFill>
                <a:latin typeface="Microsoft YaHei"/>
                <a:ea typeface="Microsoft YaHei"/>
                <a:cs typeface="Microsoft YaHei"/>
              </a:rPr>
              <a:t>PASS 才输出</a:t>
            </a:r>
          </a:p>
        </p:txBody>
      </p:sp>
      <p:cxnSp>
        <p:nvCxnSpPr>
          <p:cNvPr id="96" name=""/>
          <p:cNvCxnSpPr>
            <a:stCxn xmlns:a="http://schemas.openxmlformats.org/drawingml/2006/main" id="6" idx="2"/>
            <a:endCxn xmlns:a="http://schemas.openxmlformats.org/drawingml/2006/main" id="40" idx="2"/>
          </p:cNvCxnSpPr>
          <p:nvPr/>
        </p:nvCxnSpPr>
        <p:spPr>
          <a:xfrm xmlns:a="http://schemas.openxmlformats.org/drawingml/2006/main">
            <a:off x="2905125" y="3562350"/>
            <a:ext cx="2428875" cy="2095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E47A4A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12" idx="2"/>
            <a:endCxn xmlns:a="http://schemas.openxmlformats.org/drawingml/2006/main" id="40" idx="6"/>
          </p:cNvCxnSpPr>
          <p:nvPr/>
        </p:nvCxnSpPr>
        <p:spPr>
          <a:xfrm xmlns:a="http://schemas.openxmlformats.org/drawingml/2006/main" flipH="1">
            <a:off x="6858000" y="3562350"/>
            <a:ext cx="2428875" cy="2095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3D7A57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23" idx="0"/>
            <a:endCxn xmlns:a="http://schemas.openxmlformats.org/drawingml/2006/main" id="40" idx="2"/>
          </p:cNvCxnSpPr>
          <p:nvPr/>
        </p:nvCxnSpPr>
        <p:spPr>
          <a:xfrm xmlns:a="http://schemas.openxmlformats.org/drawingml/2006/main" flipV="1">
            <a:off x="2905125" y="3771900"/>
            <a:ext cx="2428875" cy="1143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2F6684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29" idx="0"/>
            <a:endCxn xmlns:a="http://schemas.openxmlformats.org/drawingml/2006/main" id="40" idx="6"/>
          </p:cNvCxnSpPr>
          <p:nvPr/>
        </p:nvCxnSpPr>
        <p:spPr>
          <a:xfrm xmlns:a="http://schemas.openxmlformats.org/drawingml/2006/main" flipH="1" flipV="1">
            <a:off x="6858000" y="3771900"/>
            <a:ext cx="2428875" cy="1143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9A6A22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5191B6-1E33-49FE-8451-7D031EEF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436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7A4A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47A4A"/>
                </a:solidFill>
                <a:latin typeface="Microsoft YaHei"/>
                <a:ea typeface="Microsoft YaHei"/>
                <a:cs typeface="Microsoft YaHei"/>
              </a:rPr>
              <a:t>可复算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C17831-8976-4B54-8422-A8658AC7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436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84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F6684"/>
                </a:solidFill>
                <a:latin typeface="Microsoft YaHei"/>
                <a:ea typeface="Microsoft YaHei"/>
                <a:cs typeface="Microsoft YaHei"/>
              </a:rPr>
              <a:t>可追踪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9D502D-5371-4D7A-8E6D-C755A495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436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493D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B4493D"/>
                </a:solidFill>
                <a:latin typeface="Microsoft YaHei"/>
                <a:ea typeface="Microsoft YaHei"/>
                <a:cs typeface="Microsoft YaHei"/>
              </a:rPr>
              <a:t>可阻断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BCD73A-8591-45B9-B58D-C6FBE3D7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4360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7A57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rmAutofit fontScale="9131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3D7A57"/>
                </a:solidFill>
                <a:latin typeface="Microsoft YaHei"/>
                <a:ea typeface="Microsoft YaHei"/>
                <a:cs typeface="Microsoft YaHei"/>
              </a:rPr>
              <a:t>可恢复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C4FA49-73A5-4E5C-B0CE-60981358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783"/>
                </a:solidFill>
                <a:latin typeface="Microsoft YaHei"/>
                <a:ea typeface="Microsoft YaHei"/>
                <a:cs typeface="Microsoft YaHei"/>
              </a:rPr>
              <a:t>PRISM 技术模块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324464-D1DA-4B82-8BC2-1240C0C6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A6A22"/>
                </a:solidFill>
                <a:latin typeface="Microsoft YaHei"/>
                <a:ea typeface="Microsoft YaHei"/>
                <a:cs typeface="Microsoft YaHei"/>
              </a:rPr>
              <a:t>ADVISORY_ONLY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0DE004-E6B3-4CB0-8903-B263AA28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83B5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2248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2026-09-18T16:38:05.0160000Z</dcterms:created>
  <dcterms:modified xsi:type="dcterms:W3CDTF">2026-09-18T16:38:05.0160000Z</dcterms:modified>
</coreProperties>
</file>