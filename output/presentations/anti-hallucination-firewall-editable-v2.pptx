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cd8d60f5384f3f" /><Relationship Type="http://schemas.openxmlformats.org/officeDocument/2006/relationships/extended-properties" Target="/docProps/app.xml" Id="R8621cef664c144d3" /><Relationship Type="http://schemas.openxmlformats.org/officeDocument/2006/relationships/officeDocument" Target="/ppt/presentation.xml" Id="Re96b49f434b74d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30e0b28c33470c"/>
  </p:sldMasterIdLst>
  <p:notesMasterIdLst>
    <p:notesMasterId xmlns:r="http://schemas.openxmlformats.org/officeDocument/2006/relationships" r:id="R7a86e1490c5848a9"/>
  </p:notesMasterIdLst>
  <p:sldIdLst>
    <p:sldId xmlns:r="http://schemas.openxmlformats.org/officeDocument/2006/relationships" id="256" r:id="Rfad5993b69604c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4772d5d4f14296" /><Relationship Type="http://schemas.openxmlformats.org/officeDocument/2006/relationships/slideMaster" Target="/ppt/slideMasters/slideMaster1.xml" Id="R8a30e0b28c33470c" /><Relationship Type="http://schemas.openxmlformats.org/officeDocument/2006/relationships/notesMaster" Target="/ppt/notesMasters/notesMaster1.xml" Id="R7a86e1490c5848a9" /><Relationship Type="http://schemas.openxmlformats.org/officeDocument/2006/relationships/presProps" Target="/ppt/presProps.xml" Id="Rb0033abb1d0b4282" /><Relationship Type="http://schemas.openxmlformats.org/officeDocument/2006/relationships/tableStyles" Target="/ppt/tableStyles.xml" Id="R6746be49f6844f94" /><Relationship Type="http://schemas.openxmlformats.org/officeDocument/2006/relationships/slide" Target="/ppt/slides/slide1.xml" Id="Rfad5993b69604c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d2a7eb78aa46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09894e1b9649eb" /><Relationship Type="http://schemas.openxmlformats.org/officeDocument/2006/relationships/notesMaster" Target="/ppt/notesMasters/notesMaster1.xml" Id="Rc9b46b31930440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本页根据用户提供的参考图片重建。除橙色光点背景外，标题、面板、节点、箭头与状态框均为可编辑的 PowerPoint 原生组件。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5588f0edb46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dbc77ff59c49fa" /><Relationship Type="http://schemas.openxmlformats.org/officeDocument/2006/relationships/slideLayout" Target="/ppt/slideLayouts/slideLayout1.xml" Id="Ref70e48f297d43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70e48f297d43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2f071ab13437c" /><Relationship Type="http://schemas.openxmlformats.org/officeDocument/2006/relationships/image" Target="/ppt/media/image.png" Id="R3a967542d2964591" /><Relationship Type="http://schemas.openxmlformats.org/officeDocument/2006/relationships/notesSlide" Target="/ppt/notesSlides/notesSlide1.xml" Id="R5736cfa2529e45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85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67542d29645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rt-label-background">
            <a:extLst xmlns:a="http://schemas.openxmlformats.org/drawingml/2006/main">
              <a:ext uri="{FF2B5EF4-FFF2-40B4-BE49-F238E27FC236}">
                <a16:creationId xmlns:a16="http://schemas.microsoft.com/office/drawing/2014/main" id="{B1D1869C-2B30-4C0C-8CD1-98985C2D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2428875" cy="600075"/>
          </a:xfrm>
          <a:prstGeom xmlns:a="http://schemas.openxmlformats.org/drawingml/2006/main" prst="roundRect">
            <a:avLst>
              <a:gd name="adj" fmla="val 25397"/>
            </a:avLst>
          </a:prstGeom>
          <a:gradFill xmlns:a="http://schemas.openxmlformats.org/drawingml/2006/main">
            <a:gsLst>
              <a:gs pos="0">
                <a:srgbClr val="FFF000"/>
              </a:gs>
              <a:gs pos="100000">
                <a:srgbClr val="FFA800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part-label">
            <a:extLst xmlns:a="http://schemas.openxmlformats.org/drawingml/2006/main">
              <a:ext uri="{FF2B5EF4-FFF2-40B4-BE49-F238E27FC236}">
                <a16:creationId xmlns:a16="http://schemas.microsoft.com/office/drawing/2014/main" id="{17477FC1-FEB4-48E3-A6F2-17A9849F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2764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8684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5AC560-5AAE-4E37-BD8B-1BBD25A3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48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幻觉治理｜证据防火墙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8C08FD9-9452-4EC1-8DB9-E29314F1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04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843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未经验证的结论不得进入正式建议</a:t>
            </a:r>
          </a:p>
        </p:txBody>
      </p:sp>
      <p:sp>
        <p:nvSpPr>
          <p:cNvPr id="6" name="main-content-surface">
            <a:extLst xmlns:a="http://schemas.openxmlformats.org/drawingml/2006/main">
              <a:ext uri="{FF2B5EF4-FFF2-40B4-BE49-F238E27FC236}">
                <a16:creationId xmlns:a16="http://schemas.microsoft.com/office/drawing/2014/main" id="{1B258740-EFC7-4802-AC79-59C6B1D8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143000"/>
            <a:ext cx="11068050" cy="5248275"/>
          </a:xfrm>
          <a:prstGeom xmlns:a="http://schemas.openxmlformats.org/drawingml/2006/main" prst="roundRect">
            <a:avLst>
              <a:gd name="adj" fmla="val 2541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9050">
            <a:solidFill>
              <a:srgbClr val="FFD6B8"/>
            </a:solidFill>
          </a:ln>
        </p:spPr>
      </p:sp>
      <p:sp>
        <p:nvSpPr>
          <p:cNvPr id="7" name="core-message">
            <a:extLst xmlns:a="http://schemas.openxmlformats.org/drawingml/2006/main">
              <a:ext uri="{FF2B5EF4-FFF2-40B4-BE49-F238E27FC236}">
                <a16:creationId xmlns:a16="http://schemas.microsoft.com/office/drawing/2014/main" id="{909E11D7-6BD9-464E-A9AF-25ECB15E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333500"/>
            <a:ext cx="575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LLM 可以提出候选结论，但没有资格决定金融事实</a:t>
            </a:r>
          </a:p>
        </p:txBody>
      </p:sp>
      <p:sp>
        <p:nvSpPr>
          <p:cNvPr id="8" name="LLM 候选结论-panel">
            <a:extLst xmlns:a="http://schemas.openxmlformats.org/drawingml/2006/main">
              <a:ext uri="{FF2B5EF4-FFF2-40B4-BE49-F238E27FC236}">
                <a16:creationId xmlns:a16="http://schemas.microsoft.com/office/drawing/2014/main" id="{71ED3940-E1BF-48D5-B0D2-AC718E45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00225"/>
            <a:ext cx="2409825" cy="3419475"/>
          </a:xfrm>
          <a:prstGeom xmlns:a="http://schemas.openxmlformats.org/drawingml/2006/main" prst="roundRect">
            <a:avLst>
              <a:gd name="adj" fmla="val 5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A1E23"/>
            </a:solidFill>
          </a:ln>
        </p:spPr>
      </p:sp>
      <p:sp>
        <p:nvSpPr>
          <p:cNvPr id="9" name="LLM 候选结论-title">
            <a:extLst xmlns:a="http://schemas.openxmlformats.org/drawingml/2006/main">
              <a:ext uri="{FF2B5EF4-FFF2-40B4-BE49-F238E27FC236}">
                <a16:creationId xmlns:a16="http://schemas.microsoft.com/office/drawing/2014/main" id="{63B2C965-BC4E-4415-8D5C-B44AA731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33575"/>
            <a:ext cx="2066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LLM 候选结论</a:t>
            </a:r>
          </a:p>
        </p:txBody>
      </p:sp>
      <p:sp>
        <p:nvSpPr>
          <p:cNvPr id="10" name="证据防火墙-panel">
            <a:extLst xmlns:a="http://schemas.openxmlformats.org/drawingml/2006/main">
              <a:ext uri="{FF2B5EF4-FFF2-40B4-BE49-F238E27FC236}">
                <a16:creationId xmlns:a16="http://schemas.microsoft.com/office/drawing/2014/main" id="{066F059F-382E-4276-97F1-229284ED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00225"/>
            <a:ext cx="3857625" cy="3419475"/>
          </a:xfrm>
          <a:prstGeom xmlns:a="http://schemas.openxmlformats.org/drawingml/2006/main" prst="roundRect">
            <a:avLst>
              <a:gd name="adj" fmla="val 3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8117"/>
            </a:solidFill>
          </a:ln>
        </p:spPr>
      </p:sp>
      <p:sp>
        <p:nvSpPr>
          <p:cNvPr id="11" name="证据防火墙-title">
            <a:extLst xmlns:a="http://schemas.openxmlformats.org/drawingml/2006/main">
              <a:ext uri="{FF2B5EF4-FFF2-40B4-BE49-F238E27FC236}">
                <a16:creationId xmlns:a16="http://schemas.microsoft.com/office/drawing/2014/main" id="{729C48E8-6B43-452E-858E-78576307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33575"/>
            <a:ext cx="3514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证据防火墙</a:t>
            </a:r>
          </a:p>
        </p:txBody>
      </p:sp>
      <p:sp>
        <p:nvSpPr>
          <p:cNvPr id="12" name="决策资格-panel">
            <a:extLst xmlns:a="http://schemas.openxmlformats.org/drawingml/2006/main">
              <a:ext uri="{FF2B5EF4-FFF2-40B4-BE49-F238E27FC236}">
                <a16:creationId xmlns:a16="http://schemas.microsoft.com/office/drawing/2014/main" id="{41D600CB-9FBB-4994-A4C6-FEDE4DA2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0225"/>
            <a:ext cx="2790825" cy="3419475"/>
          </a:xfrm>
          <a:prstGeom xmlns:a="http://schemas.openxmlformats.org/drawingml/2006/main" prst="roundRect">
            <a:avLst>
              <a:gd name="adj" fmla="val 44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A1E23"/>
            </a:solidFill>
          </a:ln>
        </p:spPr>
      </p:sp>
      <p:sp>
        <p:nvSpPr>
          <p:cNvPr id="13" name="决策资格-title">
            <a:extLst xmlns:a="http://schemas.openxmlformats.org/drawingml/2006/main">
              <a:ext uri="{FF2B5EF4-FFF2-40B4-BE49-F238E27FC236}">
                <a16:creationId xmlns:a16="http://schemas.microsoft.com/office/drawing/2014/main" id="{8BCD6DA8-775B-451B-B287-CEBA316C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33575"/>
            <a:ext cx="2447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决策资格</a:t>
            </a:r>
          </a:p>
        </p:txBody>
      </p:sp>
      <p:sp>
        <p:nvSpPr>
          <p:cNvPr id="14" name="candidate-claim">
            <a:extLst xmlns:a="http://schemas.openxmlformats.org/drawingml/2006/main">
              <a:ext uri="{FF2B5EF4-FFF2-40B4-BE49-F238E27FC236}">
                <a16:creationId xmlns:a16="http://schemas.microsoft.com/office/drawing/2014/main" id="{C605C11B-DF84-4638-9780-A03CD375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0859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AA1E23"/>
            </a:solidFill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“该事件构成利好</a:t>
            </a:r>
          </a:p>
          <a:p xmlns:a="http://schemas.openxmlformats.org/drawingml/2006/main">
            <a:pPr algn="ctr">
              <a:defRPr sz="127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建议加仓”</a:t>
            </a:r>
          </a:p>
        </p:txBody>
      </p:sp>
      <p:sp>
        <p:nvSpPr>
          <p:cNvPr id="15" name="candidate-caveat">
            <a:extLst xmlns:a="http://schemas.openxmlformats.org/drawingml/2006/main">
              <a:ext uri="{FF2B5EF4-FFF2-40B4-BE49-F238E27FC236}">
                <a16:creationId xmlns:a16="http://schemas.microsoft.com/office/drawing/2014/main" id="{242E541F-6588-46AB-BD47-D52150B0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146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语言流畅，但来源、时效与计算尚未验证</a:t>
            </a:r>
          </a:p>
        </p:txBody>
      </p:sp>
      <p:sp>
        <p:nvSpPr>
          <p:cNvPr id="16" name="candidate-warning">
            <a:extLst xmlns:a="http://schemas.openxmlformats.org/drawingml/2006/main">
              <a:ext uri="{FF2B5EF4-FFF2-40B4-BE49-F238E27FC236}">
                <a16:creationId xmlns:a16="http://schemas.microsoft.com/office/drawing/2014/main" id="{7EF45159-3220-4DB8-9D33-3B34338A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A4"/>
          </a:solidFill>
          <a:ln xmlns:a="http://schemas.openxmlformats.org/drawingml/2006/main" w="11430">
            <a:solidFill>
              <a:srgbClr val="D39B12"/>
            </a:solidFill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65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65000"/>
                </a:solidFill>
                <a:latin typeface="Microsoft YaHei"/>
                <a:ea typeface="Microsoft YaHei"/>
                <a:cs typeface="Microsoft YaHei"/>
              </a:rPr>
              <a:t>候选内容 ≠ 金融事实</a:t>
            </a:r>
          </a:p>
        </p:txBody>
      </p:sp>
      <p:sp>
        <p:nvSpPr>
          <p:cNvPr id="17" name="arrow-left-to-firewall">
            <a:extLst xmlns:a="http://schemas.openxmlformats.org/drawingml/2006/main">
              <a:ext uri="{FF2B5EF4-FFF2-40B4-BE49-F238E27FC236}">
                <a16:creationId xmlns:a16="http://schemas.microsoft.com/office/drawing/2014/main" id="{E00F7ECE-3558-404E-A57F-3B310AF4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9087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arrow-firewall-to-decision">
            <a:extLst xmlns:a="http://schemas.openxmlformats.org/drawingml/2006/main">
              <a:ext uri="{FF2B5EF4-FFF2-40B4-BE49-F238E27FC236}">
                <a16:creationId xmlns:a16="http://schemas.microsoft.com/office/drawing/2014/main" id="{BC2F5AF5-C3FC-4CCC-855F-867B46F3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19087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checkpoint-1-surface">
            <a:extLst xmlns:a="http://schemas.openxmlformats.org/drawingml/2006/main">
              <a:ext uri="{FF2B5EF4-FFF2-40B4-BE49-F238E27FC236}">
                <a16:creationId xmlns:a16="http://schemas.microsoft.com/office/drawing/2014/main" id="{90492D8B-AF76-4120-A224-7BA49A7C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8600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11430">
            <a:solidFill>
              <a:srgbClr val="D68117"/>
            </a:solidFill>
          </a:ln>
        </p:spPr>
      </p:sp>
      <p:sp>
        <p:nvSpPr>
          <p:cNvPr id="20" name="checkpoint-1-number">
            <a:extLst xmlns:a="http://schemas.openxmlformats.org/drawingml/2006/main">
              <a:ext uri="{FF2B5EF4-FFF2-40B4-BE49-F238E27FC236}">
                <a16:creationId xmlns:a16="http://schemas.microsoft.com/office/drawing/2014/main" id="{778FAB87-02F4-4AC2-980E-C13D1940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09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1E23"/>
          </a:solidFill>
          <a:ln xmlns:a="http://schemas.openxmlformats.org/drawingml/2006/main" w="9525">
            <a:solidFill>
              <a:srgbClr val="AA1E23"/>
            </a:solidFill>
          </a:ln>
        </p:spPr>
        <p:txBody>
          <a:bodyPr xmlns:a="http://schemas.openxmlformats.org/drawingml/2006/main" wrap="square" lIns="47625" tIns="38100" rIns="47625" bIns="38100" anchor="ctr">
            <a:normAutofit fontScale="540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checkpoint-1-title">
            <a:extLst xmlns:a="http://schemas.openxmlformats.org/drawingml/2006/main">
              <a:ext uri="{FF2B5EF4-FFF2-40B4-BE49-F238E27FC236}">
                <a16:creationId xmlns:a16="http://schemas.microsoft.com/office/drawing/2014/main" id="{6CB9DE8A-5454-464B-88A2-F3ECBC6A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336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来源追溯</a:t>
            </a:r>
          </a:p>
        </p:txBody>
      </p:sp>
      <p:sp>
        <p:nvSpPr>
          <p:cNvPr id="22" name="checkpoint-1-subtitle">
            <a:extLst xmlns:a="http://schemas.openxmlformats.org/drawingml/2006/main">
              <a:ext uri="{FF2B5EF4-FFF2-40B4-BE49-F238E27FC236}">
                <a16:creationId xmlns:a16="http://schemas.microsoft.com/office/drawing/2014/main" id="{D46FC415-3096-462B-9738-4FD65995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原始出处可定位</a:t>
            </a:r>
          </a:p>
        </p:txBody>
      </p:sp>
      <p:sp>
        <p:nvSpPr>
          <p:cNvPr id="23" name="checkpoint-2-surface">
            <a:extLst xmlns:a="http://schemas.openxmlformats.org/drawingml/2006/main">
              <a:ext uri="{FF2B5EF4-FFF2-40B4-BE49-F238E27FC236}">
                <a16:creationId xmlns:a16="http://schemas.microsoft.com/office/drawing/2014/main" id="{9A0A26C5-1161-4283-B8F2-04E1AE86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8600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11430">
            <a:solidFill>
              <a:srgbClr val="D68117"/>
            </a:solidFill>
          </a:ln>
        </p:spPr>
      </p:sp>
      <p:sp>
        <p:nvSpPr>
          <p:cNvPr id="24" name="checkpoint-2-number">
            <a:extLst xmlns:a="http://schemas.openxmlformats.org/drawingml/2006/main">
              <a:ext uri="{FF2B5EF4-FFF2-40B4-BE49-F238E27FC236}">
                <a16:creationId xmlns:a16="http://schemas.microsoft.com/office/drawing/2014/main" id="{BF844076-49FD-4AEE-91C2-FE6FE450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09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1E23"/>
          </a:solidFill>
          <a:ln xmlns:a="http://schemas.openxmlformats.org/drawingml/2006/main" w="9525">
            <a:solidFill>
              <a:srgbClr val="AA1E23"/>
            </a:solidFill>
          </a:ln>
        </p:spPr>
        <p:txBody>
          <a:bodyPr xmlns:a="http://schemas.openxmlformats.org/drawingml/2006/main" wrap="square" lIns="47625" tIns="38100" rIns="47625" bIns="38100" anchor="ctr">
            <a:normAutofit fontScale="540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checkpoint-2-title">
            <a:extLst xmlns:a="http://schemas.openxmlformats.org/drawingml/2006/main">
              <a:ext uri="{FF2B5EF4-FFF2-40B4-BE49-F238E27FC236}">
                <a16:creationId xmlns:a16="http://schemas.microsoft.com/office/drawing/2014/main" id="{EC8DC152-1D46-4A3A-9F32-E8523082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336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独立来源去重</a:t>
            </a:r>
          </a:p>
        </p:txBody>
      </p:sp>
      <p:sp>
        <p:nvSpPr>
          <p:cNvPr id="26" name="checkpoint-2-subtitle">
            <a:extLst xmlns:a="http://schemas.openxmlformats.org/drawingml/2006/main">
              <a:ext uri="{FF2B5EF4-FFF2-40B4-BE49-F238E27FC236}">
                <a16:creationId xmlns:a16="http://schemas.microsoft.com/office/drawing/2014/main" id="{6F9B046F-185E-43AA-9680-9C6D9E1F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33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转载不重复计数</a:t>
            </a:r>
          </a:p>
        </p:txBody>
      </p:sp>
      <p:sp>
        <p:nvSpPr>
          <p:cNvPr id="27" name="checkpoint-3-surface">
            <a:extLst xmlns:a="http://schemas.openxmlformats.org/drawingml/2006/main">
              <a:ext uri="{FF2B5EF4-FFF2-40B4-BE49-F238E27FC236}">
                <a16:creationId xmlns:a16="http://schemas.microsoft.com/office/drawing/2014/main" id="{75A7C6E9-F919-4481-838A-8FAFA840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7660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11430">
            <a:solidFill>
              <a:srgbClr val="D68117"/>
            </a:solidFill>
          </a:ln>
        </p:spPr>
      </p:sp>
      <p:sp>
        <p:nvSpPr>
          <p:cNvPr id="28" name="checkpoint-3-number">
            <a:extLst xmlns:a="http://schemas.openxmlformats.org/drawingml/2006/main">
              <a:ext uri="{FF2B5EF4-FFF2-40B4-BE49-F238E27FC236}">
                <a16:creationId xmlns:a16="http://schemas.microsoft.com/office/drawing/2014/main" id="{F9A7BE69-2A2B-4FA7-8F8E-77006E7C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00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1E23"/>
          </a:solidFill>
          <a:ln xmlns:a="http://schemas.openxmlformats.org/drawingml/2006/main" w="9525">
            <a:solidFill>
              <a:srgbClr val="AA1E23"/>
            </a:solidFill>
          </a:ln>
        </p:spPr>
        <p:txBody>
          <a:bodyPr xmlns:a="http://schemas.openxmlformats.org/drawingml/2006/main" wrap="square" lIns="47625" tIns="38100" rIns="47625" bIns="38100" anchor="ctr">
            <a:normAutofit fontScale="540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checkpoint-3-title">
            <a:extLst xmlns:a="http://schemas.openxmlformats.org/drawingml/2006/main">
              <a:ext uri="{FF2B5EF4-FFF2-40B4-BE49-F238E27FC236}">
                <a16:creationId xmlns:a16="http://schemas.microsoft.com/office/drawing/2014/main" id="{F7E89AFC-E6CB-418A-A29E-3F602AF5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24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时效与冲突检查</a:t>
            </a:r>
          </a:p>
        </p:txBody>
      </p:sp>
      <p:sp>
        <p:nvSpPr>
          <p:cNvPr id="30" name="checkpoint-3-subtitle">
            <a:extLst xmlns:a="http://schemas.openxmlformats.org/drawingml/2006/main">
              <a:ext uri="{FF2B5EF4-FFF2-40B4-BE49-F238E27FC236}">
                <a16:creationId xmlns:a16="http://schemas.microsoft.com/office/drawing/2014/main" id="{16E2530A-013D-4378-B5FB-A89E56D7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24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过期或矛盾即复核</a:t>
            </a:r>
          </a:p>
        </p:txBody>
      </p:sp>
      <p:sp>
        <p:nvSpPr>
          <p:cNvPr id="31" name="checkpoint-4-surface">
            <a:extLst xmlns:a="http://schemas.openxmlformats.org/drawingml/2006/main">
              <a:ext uri="{FF2B5EF4-FFF2-40B4-BE49-F238E27FC236}">
                <a16:creationId xmlns:a16="http://schemas.microsoft.com/office/drawing/2014/main" id="{02D12D08-080D-4E5D-9AC3-962A70D6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7660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11430">
            <a:solidFill>
              <a:srgbClr val="D68117"/>
            </a:solidFill>
          </a:ln>
        </p:spPr>
      </p:sp>
      <p:sp>
        <p:nvSpPr>
          <p:cNvPr id="32" name="checkpoint-4-number">
            <a:extLst xmlns:a="http://schemas.openxmlformats.org/drawingml/2006/main">
              <a:ext uri="{FF2B5EF4-FFF2-40B4-BE49-F238E27FC236}">
                <a16:creationId xmlns:a16="http://schemas.microsoft.com/office/drawing/2014/main" id="{2780A34D-886C-4C7F-B612-401D7549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00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1E23"/>
          </a:solidFill>
          <a:ln xmlns:a="http://schemas.openxmlformats.org/drawingml/2006/main" w="9525">
            <a:solidFill>
              <a:srgbClr val="AA1E23"/>
            </a:solidFill>
          </a:ln>
        </p:spPr>
        <p:txBody>
          <a:bodyPr xmlns:a="http://schemas.openxmlformats.org/drawingml/2006/main" wrap="square" lIns="47625" tIns="38100" rIns="47625" bIns="38100" anchor="ctr">
            <a:normAutofit fontScale="540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checkpoint-4-title">
            <a:extLst xmlns:a="http://schemas.openxmlformats.org/drawingml/2006/main">
              <a:ext uri="{FF2B5EF4-FFF2-40B4-BE49-F238E27FC236}">
                <a16:creationId xmlns:a16="http://schemas.microsoft.com/office/drawing/2014/main" id="{29748F32-31D4-493C-A6C6-98182138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24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确定性计算</a:t>
            </a:r>
          </a:p>
        </p:txBody>
      </p:sp>
      <p:sp>
        <p:nvSpPr>
          <p:cNvPr id="34" name="checkpoint-4-subtitle">
            <a:extLst xmlns:a="http://schemas.openxmlformats.org/drawingml/2006/main">
              <a:ext uri="{FF2B5EF4-FFF2-40B4-BE49-F238E27FC236}">
                <a16:creationId xmlns:a16="http://schemas.microsoft.com/office/drawing/2014/main" id="{99F6EF29-4F85-4AA6-8B8F-276270DB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24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金额、暴露、HHI 由规则计算</a:t>
            </a:r>
          </a:p>
        </p:txBody>
      </p:sp>
      <p:sp>
        <p:nvSpPr>
          <p:cNvPr id="35" name="dual-gate">
            <a:extLst xmlns:a="http://schemas.openxmlformats.org/drawingml/2006/main">
              <a:ext uri="{FF2B5EF4-FFF2-40B4-BE49-F238E27FC236}">
                <a16:creationId xmlns:a16="http://schemas.microsoft.com/office/drawing/2014/main" id="{EA4F95AC-6E7F-4595-AD2E-49F7DEBE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76725"/>
            <a:ext cx="35337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E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风险闸门 ∧ 合规闸门</a:t>
            </a:r>
          </a:p>
        </p:txBody>
      </p:sp>
      <p:sp>
        <p:nvSpPr>
          <p:cNvPr id="36" name="pass-outcome">
            <a:extLst xmlns:a="http://schemas.openxmlformats.org/drawingml/2006/main">
              <a:ext uri="{FF2B5EF4-FFF2-40B4-BE49-F238E27FC236}">
                <a16:creationId xmlns:a16="http://schemas.microsoft.com/office/drawing/2014/main" id="{BB3DD058-4836-4E26-B060-F6BFFC0A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86000"/>
            <a:ext cx="24669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DF"/>
          </a:solidFill>
          <a:ln xmlns:a="http://schemas.openxmlformats.org/drawingml/2006/main" w="13335">
            <a:solidFill>
              <a:srgbClr val="349344"/>
            </a:solidFill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6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6D2E"/>
                </a:solidFill>
                <a:latin typeface="Microsoft YaHei"/>
                <a:ea typeface="Microsoft YaHei"/>
                <a:cs typeface="Microsoft YaHei"/>
              </a:rPr>
              <a:t>PASS ∧ PASS</a:t>
            </a:r>
          </a:p>
          <a:p xmlns:a="http://schemas.openxmlformats.org/drawingml/2006/main">
            <a:pPr algn="ctr">
              <a:defRPr sz="1275" b="1">
                <a:solidFill>
                  <a:srgbClr val="1E6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6D2E"/>
                </a:solidFill>
                <a:latin typeface="Microsoft YaHei"/>
                <a:ea typeface="Microsoft YaHei"/>
                <a:cs typeface="Microsoft YaHei"/>
              </a:rPr>
              <a:t>正式建议 + DecisionReceipt</a:t>
            </a:r>
          </a:p>
        </p:txBody>
      </p:sp>
      <p:sp>
        <p:nvSpPr>
          <p:cNvPr id="37" name="review-outcome">
            <a:extLst xmlns:a="http://schemas.openxmlformats.org/drawingml/2006/main">
              <a:ext uri="{FF2B5EF4-FFF2-40B4-BE49-F238E27FC236}">
                <a16:creationId xmlns:a16="http://schemas.microsoft.com/office/drawing/2014/main" id="{E86D300F-B0D0-4392-84E4-BE548244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000375"/>
            <a:ext cx="24669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A4"/>
          </a:solidFill>
          <a:ln xmlns:a="http://schemas.openxmlformats.org/drawingml/2006/main" w="13335">
            <a:solidFill>
              <a:srgbClr val="D5A00E"/>
            </a:solidFill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35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35000"/>
                </a:solidFill>
                <a:latin typeface="Microsoft YaHei"/>
                <a:ea typeface="Microsoft YaHei"/>
                <a:cs typeface="Microsoft YaHei"/>
              </a:rPr>
              <a:t>REVIEW_REQUIRED</a:t>
            </a:r>
          </a:p>
          <a:p xmlns:a="http://schemas.openxmlformats.org/drawingml/2006/main">
            <a:pPr algn="ctr">
              <a:defRPr sz="1200" b="1">
                <a:solidFill>
                  <a:srgbClr val="735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35000"/>
                </a:solidFill>
                <a:latin typeface="Microsoft YaHei"/>
                <a:ea typeface="Microsoft YaHei"/>
                <a:cs typeface="Microsoft YaHei"/>
              </a:rPr>
              <a:t>返回缺失项与冲突来源</a:t>
            </a:r>
          </a:p>
        </p:txBody>
      </p:sp>
      <p:sp>
        <p:nvSpPr>
          <p:cNvPr id="38" name="blocked-outcome">
            <a:extLst xmlns:a="http://schemas.openxmlformats.org/drawingml/2006/main">
              <a:ext uri="{FF2B5EF4-FFF2-40B4-BE49-F238E27FC236}">
                <a16:creationId xmlns:a16="http://schemas.microsoft.com/office/drawing/2014/main" id="{4D0818DF-C4BB-4090-9113-2E64919F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24275"/>
            <a:ext cx="24669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B"/>
          </a:solidFill>
          <a:ln xmlns:a="http://schemas.openxmlformats.org/drawingml/2006/main" w="13335">
            <a:solidFill>
              <a:srgbClr val="B51F24"/>
            </a:solidFill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  <a:p xmlns:a="http://schemas.openxmlformats.org/drawingml/2006/main">
            <a:pPr algn="ctr">
              <a:defRPr sz="127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终止正式建议生成</a:t>
            </a:r>
          </a:p>
        </p:txBody>
      </p:sp>
      <p:sp>
        <p:nvSpPr>
          <p:cNvPr id="39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DB55CA20-6E3F-4D95-A6B8-5C7E632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38775"/>
            <a:ext cx="1064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E23"/>
          </a:solidFill>
          <a:ln xmlns:a="http://schemas.openxmlformats.org/drawingml/2006/main" w="0">
            <a:noFill/>
          </a:ln>
        </p:spPr>
      </p:sp>
      <p:sp>
        <p:nvSpPr>
          <p:cNvPr id="40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C48A47FC-BCC2-4149-A23F-C7E89F1E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34025"/>
            <a:ext cx="1064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F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F171B"/>
                </a:solidFill>
                <a:latin typeface="Microsoft YaHei"/>
                <a:ea typeface="Microsoft YaHei"/>
                <a:cs typeface="Microsoft YaHei"/>
              </a:rPr>
              <a:t>PRISM 不承诺模型永不产生幻觉，但保证未经验证的内容无法进入正式投资建议</a:t>
            </a:r>
          </a:p>
        </p:txBody>
      </p:sp>
      <p:sp>
        <p:nvSpPr>
          <p:cNvPr id="41" name="bottom-metric">
            <a:extLst xmlns:a="http://schemas.openxmlformats.org/drawingml/2006/main">
              <a:ext uri="{FF2B5EF4-FFF2-40B4-BE49-F238E27FC236}">
                <a16:creationId xmlns:a16="http://schemas.microsoft.com/office/drawing/2014/main" id="{896263B3-D21B-4917-BC48-4893E8B7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1200"/>
            <a:ext cx="1064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6906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无证据建议生成率目标：0</a:t>
            </a:r>
          </a:p>
        </p:txBody>
      </p:sp>
    </p:spTree>
    <p:extLst>
      <p:ext uri="{BB962C8B-B14F-4D97-AF65-F5344CB8AC3E}">
        <p14:creationId xmlns:p14="http://schemas.microsoft.com/office/powerpoint/2010/main" val="1456235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2026-09-19T08:28:48.0700000Z</dcterms:created>
  <dcterms:modified xsi:type="dcterms:W3CDTF">2026-09-19T08:28:48.0700000Z</dcterms:modified>
</coreProperties>
</file>